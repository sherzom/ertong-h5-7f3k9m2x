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6" r:id="rId2"/>
    <p:sldId id="11734" r:id="rId3"/>
    <p:sldId id="11744" r:id="rId4"/>
    <p:sldId id="11746" r:id="rId5"/>
    <p:sldId id="11748" r:id="rId6"/>
    <p:sldId id="11745" r:id="rId7"/>
    <p:sldId id="11737" r:id="rId8"/>
    <p:sldId id="11738" r:id="rId9"/>
    <p:sldId id="11739" r:id="rId10"/>
    <p:sldId id="11749" r:id="rId11"/>
    <p:sldId id="11741" r:id="rId12"/>
    <p:sldId id="11742" r:id="rId13"/>
    <p:sldId id="11743" r:id="rId14"/>
    <p:sldId id="11752" r:id="rId15"/>
    <p:sldId id="11747" r:id="rId16"/>
    <p:sldId id="11736" r:id="rId17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CCD85-940C-CB42-AFA2-2C1D1D59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716" y="3222130"/>
            <a:ext cx="5048993" cy="18070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D2AF7A-43D1-1F4F-89AF-FD41C977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DB5C45-E535-4E4C-BA63-CB9EABE8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683B85-B72C-7940-AD4B-0A62C2FF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87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造旺计划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869675A-6A1B-9542-A582-E42B98658A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标题 10">
            <a:extLst>
              <a:ext uri="{FF2B5EF4-FFF2-40B4-BE49-F238E27FC236}">
                <a16:creationId xmlns:a16="http://schemas.microsoft.com/office/drawing/2014/main" id="{20B5BCF8-6276-9B48-9AD8-94B5AB680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485" y="219983"/>
            <a:ext cx="3385457" cy="1013732"/>
          </a:xfrm>
        </p:spPr>
        <p:txBody>
          <a:bodyPr>
            <a:normAutofit/>
          </a:bodyPr>
          <a:lstStyle>
            <a:lvl1pPr>
              <a:defRPr sz="2400" b="1"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</a:lstStyle>
          <a:p>
            <a:r>
              <a:rPr kumimoji="1" lang="zh-CN" altLang="en-US"/>
              <a:t>造旺计划介绍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EEE7E19-06D4-234C-A173-84E0FA935B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1995" y="3094944"/>
            <a:ext cx="5500234" cy="940027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</a:lstStyle>
          <a:p>
            <a:r>
              <a:rPr kumimoji="1" lang="zh-CN" altLang="en-US"/>
              <a:t>造旺计划介绍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FAF7D5DE-B703-A24E-A3C1-9DB066678B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4792" y="2959665"/>
            <a:ext cx="1581150" cy="12105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600" b="1"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</a:lstStyle>
          <a:p>
            <a:r>
              <a:rPr kumimoji="1" lang="en-US" altLang="zh-CN"/>
              <a:t>01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CE68466C-4F74-0446-9F30-142392718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971" y="304801"/>
            <a:ext cx="3327401" cy="812800"/>
          </a:xfrm>
          <a:ln>
            <a:noFill/>
          </a:ln>
        </p:spPr>
        <p:txBody>
          <a:bodyPr>
            <a:normAutofit/>
          </a:bodyPr>
          <a:lstStyle>
            <a:lvl1pPr>
              <a:defRPr sz="2400" b="1">
                <a:latin typeface="PingFang SC" panose="020B0400000000000000" pitchFamily="34" charset="-122"/>
                <a:ea typeface="PingFang SC" panose="020B0400000000000000" pitchFamily="34" charset="-122"/>
              </a:defRPr>
            </a:lvl1pPr>
          </a:lstStyle>
          <a:p>
            <a:r>
              <a:rPr kumimoji="1" lang="zh-CN" altLang="en-US"/>
              <a:t>造旺计划介绍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0D4A15-27F7-D046-8910-B42CE2C72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5EC715-5C5B-684D-95C8-DB50F359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B29259-7A82-FA42-B1CA-DED539279A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6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BBEFBF2-AA20-4B43-8EA6-94A30DAD94E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1832" y="3429000"/>
            <a:ext cx="3005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销售预估提报流程培训指南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9301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E553D7-2C03-8A48-BC43-067A58D001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sz="4000" dirty="0"/>
              <a:t>销售预估提报规则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E0D37-62BD-7449-9361-807CB071A8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4792" y="3564957"/>
            <a:ext cx="1581150" cy="121058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01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467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877F-C058-1206-2F18-7F1A3565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13485-0932-BA3A-6E30-39127DCE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常态需求提报规则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5AFE07-44FF-81AD-2189-653D15D36B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9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C4C7054C-B434-2DBD-A978-F1031E9CD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0CA89C34-73A6-39C9-901D-2E22CCAD8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07377496-EF02-B991-34E0-AF6F00DC9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FFD4F1B6-B547-EB90-9DEB-61508F05C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C5F7A7C3-8AD2-E013-C9D2-CC751734F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05A20BDD-CCE4-231D-7E52-C052BDD6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88953C80-21A8-9468-519D-C4C8EB4F3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8FD87814-B5D0-161E-FC26-49DFEF7E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6C18D574-ACA5-0DD3-56CF-B3EC34AD2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97466F8B-0C90-AD8E-75E7-FFC9497A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E5960783-D863-51EB-5D20-F883EF5D4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AAC1F843-811C-380D-0742-43B61F838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B2947AFF-42FE-6CED-D941-96F371DC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D2A60B33-4995-33D9-2EAA-6DD581AFA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E0D68135-A185-41C1-EE40-0A158E8CC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41ADF870-F8E1-E4EE-7D18-AE85181F7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26CB82BD-D755-B1D6-4A4D-B225DD80F7A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2F86E8AB-ADDD-19E1-69FF-BE624591C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7440606E-8000-DD78-ADEC-3FFBA5797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F6DFCF-C610-D5A0-B6D4-71A17CF9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525" y="1196869"/>
            <a:ext cx="9607650" cy="5331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提报时间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/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zh-CN" altLang="zh-CN" dirty="0"/>
              <a:t>⚠️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每月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1～15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号提报M+1月销售需求</a:t>
            </a:r>
            <a:r>
              <a:rPr lang="zh-CN" altLang="zh-CN" dirty="0"/>
              <a:t>⚠️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其中： 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=1~9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号系统提报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大区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=10~11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总督导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=12~13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</a:t>
            </a:r>
            <a:r>
              <a:rPr lang="en-US" altLang="zh-CN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=14~15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6062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二、提报期别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期提报：生产时间为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21~27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，供货时间为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1~10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跨月批次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期提报</a:t>
            </a:r>
            <a:r>
              <a:rPr lang="zh-CN" altLang="en-US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：生产时间为</a:t>
            </a:r>
            <a:r>
              <a:rPr lang="en-US" altLang="zh-CN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28~4</a:t>
            </a:r>
            <a:r>
              <a:rPr lang="zh-CN" altLang="en-US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号，供货时间为</a:t>
            </a:r>
            <a:r>
              <a:rPr lang="en-US" altLang="zh-CN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11~20</a:t>
            </a:r>
            <a:r>
              <a:rPr lang="zh-CN" altLang="en-US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号</a:t>
            </a:r>
            <a:r>
              <a:rPr lang="en-US" altLang="zh-CN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当月批次</a:t>
            </a:r>
            <a:r>
              <a:rPr lang="en-US" altLang="zh-CN" sz="2000" dirty="0">
                <a:solidFill>
                  <a:srgbClr val="606266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期提报：生产时间为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5~15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号，供货时间为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21~30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当月批次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期提报：生产时间为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16~20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号，供货时间为月底前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当月批次</a:t>
            </a:r>
            <a:r>
              <a:rPr lang="en-US" altLang="zh-CN" sz="2000" strike="sngStrike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2ED3EC-014F-5669-B678-E3C2AD0A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449" y="685799"/>
            <a:ext cx="2328622" cy="231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6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AFB5-E716-56E4-7376-65958732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6AB73-D3B3-F6F3-5E04-D25DC5EC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紧急追加提报规则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E645BF-F14D-38C5-3C3E-AB789EBEC5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9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DB10CAD7-F223-987B-C368-BC22481F0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D48249DE-6A8F-55BE-73DC-0915D6FA7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F4A8F9FB-BDC7-C68E-0C92-26631B515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9B64EE00-5A21-690F-75A8-DB055319D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2658AC05-347E-D7A3-DEF2-72650A55C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12E37911-27E5-4B0C-5BCA-967CA969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CFD75B62-2787-C066-09AF-FC74CA353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43F225E2-E046-C432-A478-9C4927B08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83756C2C-55B3-FC94-A712-309509351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CF1966D6-FF99-B16D-F640-0DEC88A8B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649D2615-E6DD-592B-8026-0B8175E0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8CFC4895-7778-8BD1-38C7-119B30D5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413BF2C2-7702-9E79-E4A2-85397DB4B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917AA3E1-89B9-02FA-2075-25C471F99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D92AD93F-14EB-360E-81F9-E4F2E706F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05DE7061-3631-7BBB-44F0-65D7D37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C676EBAE-2BFA-615F-95DA-358CFE642D1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5B7768E9-C329-04FC-F085-E317F1CFD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7AAA7531-EF44-7846-50A4-81DC6546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0EF7AC-FDE6-0C74-0E29-718DFBBC4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09" y="1227148"/>
            <a:ext cx="9515581" cy="5239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追加时间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每月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1～10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日，追加提报当月需求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其中： 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=1~4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号系统提报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大区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=5~6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总督导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=7~8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</a:t>
            </a:r>
            <a:r>
              <a:rPr lang="en-US" altLang="zh-CN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=9~10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号系统调整</a:t>
            </a:r>
            <a:r>
              <a:rPr lang="en-US" altLang="zh-CN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000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</a:t>
            </a:r>
            <a:endParaRPr lang="en-US" altLang="zh-CN" sz="2000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二、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供货时间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&amp;1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期生产，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当月月底前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备注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：1、每月11号产销拉取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进行生产沟通及业务反馈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告知具体生产时间及预计到货时间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  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、紧急追加单品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SKU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必需达到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最低MOQ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，不足部分需大区再次追加至MOQ，否则不生产</a:t>
            </a:r>
          </a:p>
        </p:txBody>
      </p:sp>
    </p:spTree>
    <p:extLst>
      <p:ext uri="{BB962C8B-B14F-4D97-AF65-F5344CB8AC3E}">
        <p14:creationId xmlns:p14="http://schemas.microsoft.com/office/powerpoint/2010/main" val="35933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C55C-0B39-64F2-5471-8F9DBA285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CCBF5-47BD-71AF-54C5-8F8856B7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预订单提报规则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3AE5B8-9A0C-0271-066A-CBB891EC88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9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87EDF6FE-3353-A990-C577-85CA3F9FE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6DD437DC-7029-5E15-5CC2-A33BA5913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22988D35-91E4-9850-04A8-20C7F5A85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F3AEF067-02CE-743A-99C1-DA9C5537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2D70B8C5-D78C-C83D-9DF4-21055146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5C8F095E-8D14-A37E-AEA0-EA37CC44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A8C77A75-DB69-AFDA-A0DC-9D17CB969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51209FAB-33DC-B23D-4AB0-670888105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CD19CE1A-9797-2425-8871-F455FA5A6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CFA5D721-45E4-71B1-AAAF-DF5B2461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DCA09525-1C40-89A6-480F-85C27EDC8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56C58570-C734-5DF8-1212-303E48C7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97B5761B-3643-277D-D7DD-8B57F5D65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451D6314-3D9C-6D47-37F8-EAB35951F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2AA3B8EF-AA9E-6933-E1DC-E681F021B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98376FCD-1961-9691-F164-936672EF4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9A12468D-DED0-80B8-F99F-1C29645AA26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BF394B95-2C1F-B6A1-51AD-87E9A7EF0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A15CEF77-6AA2-44EC-77F2-14590755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00D459-DEA3-0654-75C8-D9E37C1F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1741195"/>
            <a:ext cx="9732370" cy="3731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一、客户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下单时间：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每月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号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开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启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次月预订单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下单功能，这段时间客户可自行打款下单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二、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供货时间：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&amp;4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期生产，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月15～20号供货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备注：1、预订单只支持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部分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乳品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，休闲品暂不支持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儿童乳品组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旺旺乳品组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2、新品前三个月不参与预订单下订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08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F4C4-00C0-7367-9C2D-C9D9DC52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009051-4DFD-2F4C-7FA1-4A7145661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sz="4000" dirty="0"/>
              <a:t>销售预估提报流程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8D51EB-BDF7-1041-2AF8-C3D551D907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4792" y="3564957"/>
            <a:ext cx="1581150" cy="121058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02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3842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024F8-C82C-6345-85DA-24049EA1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常态提报流程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793BBA-96E8-D849-84A2-CEC1E77CCB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8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B08E244A-EB54-2045-7C53-D799568E9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157532EA-5DAD-22E5-A506-B8EA533C2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68018578-B4FE-5F1C-B990-81D54111C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2943970D-2827-EA59-D7F0-138DF06FB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D61552D2-DD90-FDE9-9EB3-D5AB7C1D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26972CD1-F602-E665-0CB1-51C5B464A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D89E1398-B93F-AF41-F4D1-EF937F157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89107D30-BF6E-1C42-A8ED-03AF547E6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07E31D4A-A7D8-9EF6-03FE-C2DF1BD2F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635D6A81-3968-6BB7-CE85-8CFB7F83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6EED1528-8EBC-7E6E-345F-BE210433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1A108E67-505E-32D0-8762-53702A010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16E5D99D-AC07-5A5C-3A46-ED46453A1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2303310A-2C14-EB58-6494-07EB0FC5F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7DDC38AA-BAE1-A1DF-0537-22AF60E29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8F3D75EC-E2F6-4ECF-28AF-D49CEAA64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419B0300-B5B4-C1A4-1C93-AFAE8683A3E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B1BD9D34-5F97-74BD-BEB5-1FEDE7AAF1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5ACF291F-3117-D331-65AC-586406028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文本框 2">
            <a:extLst>
              <a:ext uri="{FF2B5EF4-FFF2-40B4-BE49-F238E27FC236}">
                <a16:creationId xmlns:a16="http://schemas.microsoft.com/office/drawing/2014/main" id="{6507C72E-1F1F-1A4D-BF45-7904DA869B10}"/>
              </a:ext>
            </a:extLst>
          </p:cNvPr>
          <p:cNvSpPr txBox="1"/>
          <p:nvPr/>
        </p:nvSpPr>
        <p:spPr>
          <a:xfrm>
            <a:off x="2861921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平台运营</a:t>
            </a:r>
          </a:p>
        </p:txBody>
      </p:sp>
      <p:sp>
        <p:nvSpPr>
          <p:cNvPr id="53" name="文本框 3">
            <a:extLst>
              <a:ext uri="{FF2B5EF4-FFF2-40B4-BE49-F238E27FC236}">
                <a16:creationId xmlns:a16="http://schemas.microsoft.com/office/drawing/2014/main" id="{D8455903-93F5-7448-B565-CDF89D697BBC}"/>
              </a:ext>
            </a:extLst>
          </p:cNvPr>
          <p:cNvSpPr txBox="1"/>
          <p:nvPr/>
        </p:nvSpPr>
        <p:spPr>
          <a:xfrm>
            <a:off x="4614144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产销协调部</a:t>
            </a:r>
          </a:p>
        </p:txBody>
      </p:sp>
      <p:sp>
        <p:nvSpPr>
          <p:cNvPr id="54" name="文本框 4">
            <a:extLst>
              <a:ext uri="{FF2B5EF4-FFF2-40B4-BE49-F238E27FC236}">
                <a16:creationId xmlns:a16="http://schemas.microsoft.com/office/drawing/2014/main" id="{81BE338B-BBAB-D34F-A783-0ED5373CEF30}"/>
              </a:ext>
            </a:extLst>
          </p:cNvPr>
          <p:cNvSpPr txBox="1"/>
          <p:nvPr/>
        </p:nvSpPr>
        <p:spPr>
          <a:xfrm>
            <a:off x="6366367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分公司总监</a:t>
            </a:r>
          </a:p>
        </p:txBody>
      </p:sp>
      <p:sp>
        <p:nvSpPr>
          <p:cNvPr id="55" name="文本框 10">
            <a:extLst>
              <a:ext uri="{FF2B5EF4-FFF2-40B4-BE49-F238E27FC236}">
                <a16:creationId xmlns:a16="http://schemas.microsoft.com/office/drawing/2014/main" id="{5EAEF35B-5B76-B945-A23B-2C6B8028311C}"/>
              </a:ext>
            </a:extLst>
          </p:cNvPr>
          <p:cNvSpPr txBox="1"/>
          <p:nvPr/>
        </p:nvSpPr>
        <p:spPr>
          <a:xfrm>
            <a:off x="1109698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旺铺</a:t>
            </a:r>
            <a:r>
              <a:rPr lang="en-US" altLang="zh-CN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&amp;</a:t>
            </a:r>
            <a:r>
              <a:rPr lang="en" altLang="zh-CN" sz="105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SFA</a:t>
            </a:r>
            <a:endParaRPr lang="zh-CN" altLang="en-US" sz="1200" b="0" cap="none" spc="0"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6" name="文本框 56">
            <a:extLst>
              <a:ext uri="{FF2B5EF4-FFF2-40B4-BE49-F238E27FC236}">
                <a16:creationId xmlns:a16="http://schemas.microsoft.com/office/drawing/2014/main" id="{8D03F817-4E38-4E4E-A081-77361AC62AF7}"/>
              </a:ext>
            </a:extLst>
          </p:cNvPr>
          <p:cNvSpPr txBox="1"/>
          <p:nvPr/>
        </p:nvSpPr>
        <p:spPr>
          <a:xfrm>
            <a:off x="9870814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项目线（</a:t>
            </a:r>
            <a:r>
              <a:rPr lang="en-US" altLang="zh-CN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PM</a:t>
            </a:r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lang="en-US" altLang="zh-CN" sz="1100" b="0" cap="none" spc="0"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9" name="文本框 81">
            <a:extLst>
              <a:ext uri="{FF2B5EF4-FFF2-40B4-BE49-F238E27FC236}">
                <a16:creationId xmlns:a16="http://schemas.microsoft.com/office/drawing/2014/main" id="{9058717A-794F-8641-A662-CF2F349B43B1}"/>
              </a:ext>
            </a:extLst>
          </p:cNvPr>
          <p:cNvSpPr txBox="1"/>
          <p:nvPr/>
        </p:nvSpPr>
        <p:spPr>
          <a:xfrm>
            <a:off x="8118590" y="1697566"/>
            <a:ext cx="1260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大区总</a:t>
            </a:r>
          </a:p>
        </p:txBody>
      </p:sp>
      <p:sp>
        <p:nvSpPr>
          <p:cNvPr id="60" name="文本框 1">
            <a:extLst>
              <a:ext uri="{FF2B5EF4-FFF2-40B4-BE49-F238E27FC236}">
                <a16:creationId xmlns:a16="http://schemas.microsoft.com/office/drawing/2014/main" id="{39C54A3F-8301-3946-B573-1E6CD3542CF2}"/>
              </a:ext>
            </a:extLst>
          </p:cNvPr>
          <p:cNvSpPr txBox="1"/>
          <p:nvPr/>
        </p:nvSpPr>
        <p:spPr>
          <a:xfrm>
            <a:off x="2861921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、提供组别可提报品项相关数据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、旺铺后台，系统更新各组可销品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、开放次月预订单，并通知给到业务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文本框 6">
            <a:extLst>
              <a:ext uri="{FF2B5EF4-FFF2-40B4-BE49-F238E27FC236}">
                <a16:creationId xmlns:a16="http://schemas.microsoft.com/office/drawing/2014/main" id="{7F11F861-67B1-F843-B7A7-B7C277DF8130}"/>
              </a:ext>
            </a:extLst>
          </p:cNvPr>
          <p:cNvSpPr txBox="1"/>
          <p:nvPr/>
        </p:nvSpPr>
        <p:spPr>
          <a:xfrm>
            <a:off x="4614144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SFA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系统设置组别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/SKU/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提报期别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、通知给到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endParaRPr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文本框 7">
            <a:extLst>
              <a:ext uri="{FF2B5EF4-FFF2-40B4-BE49-F238E27FC236}">
                <a16:creationId xmlns:a16="http://schemas.microsoft.com/office/drawing/2014/main" id="{48BD023F-0C87-0F45-962D-7C844EAA901E}"/>
              </a:ext>
            </a:extLst>
          </p:cNvPr>
          <p:cNvSpPr txBox="1"/>
          <p:nvPr/>
        </p:nvSpPr>
        <p:spPr>
          <a:xfrm>
            <a:off x="6366367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分公司总监：业务在系统中，提报次月销售需求</a:t>
            </a:r>
          </a:p>
        </p:txBody>
      </p:sp>
      <p:sp>
        <p:nvSpPr>
          <p:cNvPr id="63" name="文本框 8">
            <a:extLst>
              <a:ext uri="{FF2B5EF4-FFF2-40B4-BE49-F238E27FC236}">
                <a16:creationId xmlns:a16="http://schemas.microsoft.com/office/drawing/2014/main" id="{E38FC506-4FC7-354B-AA68-FDB6CDB885F4}"/>
              </a:ext>
            </a:extLst>
          </p:cNvPr>
          <p:cNvSpPr txBox="1"/>
          <p:nvPr/>
        </p:nvSpPr>
        <p:spPr>
          <a:xfrm>
            <a:off x="4614144" y="4491276"/>
            <a:ext cx="1260000" cy="1313175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、货需收集、汇总、风险评估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、制定产销排产计划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、不足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MOQ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、同步生产安排、到货计划、供货比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、货需系统审核</a:t>
            </a:r>
          </a:p>
        </p:txBody>
      </p:sp>
      <p:sp>
        <p:nvSpPr>
          <p:cNvPr id="65" name="文本框 11">
            <a:extLst>
              <a:ext uri="{FF2B5EF4-FFF2-40B4-BE49-F238E27FC236}">
                <a16:creationId xmlns:a16="http://schemas.microsoft.com/office/drawing/2014/main" id="{21CD9B65-169F-FF42-9FFA-D72CC53C26BB}"/>
              </a:ext>
            </a:extLst>
          </p:cNvPr>
          <p:cNvSpPr txBox="1"/>
          <p:nvPr/>
        </p:nvSpPr>
        <p:spPr>
          <a:xfrm>
            <a:off x="1109698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旺铺：</a:t>
            </a:r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提报品项功能设置支持</a:t>
            </a:r>
            <a:endParaRPr lang="en-US" altLang="zh-CN" sz="10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SFA</a:t>
            </a:r>
            <a:r>
              <a:rPr lang="zh-CN" altLang="en-US" sz="10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组别设置</a:t>
            </a:r>
            <a:r>
              <a:rPr lang="en-US" altLang="zh-CN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业务提报功能支持</a:t>
            </a:r>
          </a:p>
        </p:txBody>
      </p:sp>
      <p:sp>
        <p:nvSpPr>
          <p:cNvPr id="66" name="文本框 38">
            <a:extLst>
              <a:ext uri="{FF2B5EF4-FFF2-40B4-BE49-F238E27FC236}">
                <a16:creationId xmlns:a16="http://schemas.microsoft.com/office/drawing/2014/main" id="{63B60452-2EF5-1545-B9BD-3F361774FF60}"/>
              </a:ext>
            </a:extLst>
          </p:cNvPr>
          <p:cNvSpPr txBox="1"/>
          <p:nvPr/>
        </p:nvSpPr>
        <p:spPr>
          <a:xfrm>
            <a:off x="8118590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大区总：</a:t>
            </a:r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、审核分公司总监提报的销售需求量</a:t>
            </a:r>
            <a:endParaRPr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、根据目标及市场需求调整分公司需求量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61B7338A-44EC-6646-A4EB-2671BF6AB5AE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874144" y="3360990"/>
            <a:ext cx="492223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5D83E679-8761-6549-85BE-2D7DD03FF2AE}"/>
              </a:ext>
            </a:extLst>
          </p:cNvPr>
          <p:cNvCxnSpPr>
            <a:stCxn id="65" idx="3"/>
            <a:endCxn id="60" idx="1"/>
          </p:cNvCxnSpPr>
          <p:nvPr/>
        </p:nvCxnSpPr>
        <p:spPr>
          <a:xfrm>
            <a:off x="2369698" y="3360990"/>
            <a:ext cx="492223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4374F505-98B9-8B46-9922-92A130FCC5DE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4121921" y="3360990"/>
            <a:ext cx="492223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57">
            <a:extLst>
              <a:ext uri="{FF2B5EF4-FFF2-40B4-BE49-F238E27FC236}">
                <a16:creationId xmlns:a16="http://schemas.microsoft.com/office/drawing/2014/main" id="{DB39422A-5DA2-1747-AA26-63F5F128936A}"/>
              </a:ext>
            </a:extLst>
          </p:cNvPr>
          <p:cNvSpPr txBox="1"/>
          <p:nvPr/>
        </p:nvSpPr>
        <p:spPr>
          <a:xfrm>
            <a:off x="9870814" y="2784990"/>
            <a:ext cx="1260000" cy="1152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负责审核</a:t>
            </a:r>
            <a:r>
              <a:rPr lang="zh-CN" altLang="en-US" sz="10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大区</a:t>
            </a:r>
            <a:r>
              <a:rPr lang="zh-CN" altLang="en-US" sz="10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提报货需合理性及货需调整</a:t>
            </a:r>
          </a:p>
        </p:txBody>
      </p:sp>
      <p:cxnSp>
        <p:nvCxnSpPr>
          <p:cNvPr id="74" name="肘形连接符 73">
            <a:extLst>
              <a:ext uri="{FF2B5EF4-FFF2-40B4-BE49-F238E27FC236}">
                <a16:creationId xmlns:a16="http://schemas.microsoft.com/office/drawing/2014/main" id="{1C0D7A63-2234-6E4D-8DE4-A6BD9F57C232}"/>
              </a:ext>
            </a:extLst>
          </p:cNvPr>
          <p:cNvCxnSpPr>
            <a:cxnSpLocks/>
            <a:stCxn id="71" idx="3"/>
            <a:endCxn id="63" idx="3"/>
          </p:cNvCxnSpPr>
          <p:nvPr/>
        </p:nvCxnSpPr>
        <p:spPr>
          <a:xfrm flipH="1">
            <a:off x="5874144" y="3360990"/>
            <a:ext cx="5256670" cy="1786874"/>
          </a:xfrm>
          <a:prstGeom prst="bentConnector3">
            <a:avLst>
              <a:gd name="adj1" fmla="val -4349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B961462A-FF17-2840-9C58-2FF6B712EC32}"/>
              </a:ext>
            </a:extLst>
          </p:cNvPr>
          <p:cNvCxnSpPr>
            <a:stCxn id="66" idx="3"/>
            <a:endCxn id="71" idx="1"/>
          </p:cNvCxnSpPr>
          <p:nvPr/>
        </p:nvCxnSpPr>
        <p:spPr>
          <a:xfrm>
            <a:off x="9378590" y="3360990"/>
            <a:ext cx="492224" cy="0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1B52EBD4-5F64-CCD0-12BC-C9F9E7B6C6BD}"/>
              </a:ext>
            </a:extLst>
          </p:cNvPr>
          <p:cNvSpPr txBox="1"/>
          <p:nvPr/>
        </p:nvSpPr>
        <p:spPr>
          <a:xfrm>
            <a:off x="363538" y="1120088"/>
            <a:ext cx="2705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提报时间：</a:t>
            </a: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  <a:r>
              <a:rPr lang="zh-CN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1-15</a:t>
            </a: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zh-CN" altLang="zh-CN" sz="1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zh-CN" altLang="en-US" sz="1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595BAED-CA1F-9A30-EB01-D593B91EC5FD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7626367" y="3360990"/>
            <a:ext cx="492223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4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098F-D336-53E0-BB45-AFF895B7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D00BB-587E-F639-413D-0A2E2377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追加提报流程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DB03902-6E94-E1E5-5DDD-5E10BEE0C8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8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B356E0C8-AE20-A43F-B179-2148487A5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186B1EF8-670C-2817-1A6A-DD94A0340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E20B1C7D-C10F-7651-7F8B-86955044F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B572C0C6-0D25-A584-DE75-5239D6592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FB33E268-08BB-0E36-08A1-87E0C67A4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B4007C52-4524-840D-B85F-B0036610D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08EAABA3-1E60-2BA2-A9F6-9821AEC10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89338CCA-9ACD-9185-AA23-1D13529ED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CB0BAA6E-D1AF-1D53-9A51-15D947B87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CC241425-4FE8-039E-4540-74A473802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97E881A9-8F9D-AA00-EB95-645AE6253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FF3389E5-EAD7-DC39-2F5F-170EE4F2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2A14AFCC-2792-0B53-10C0-C9443DC5D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FD3D9A6C-C593-FFF5-2627-3AEF163E2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2FFB89BA-B02B-14BB-1508-6B983D2E4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E32B3F82-4380-1013-7D10-4C147643A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368E53EB-87EF-5BEC-28A8-6EC058B15EF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07619D71-9A79-AD9E-DFA9-CC9CC6E4D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EE9F8920-A15B-367C-E226-D73A954D3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2BA83B5-C443-97D7-B217-8304009EFADB}"/>
              </a:ext>
            </a:extLst>
          </p:cNvPr>
          <p:cNvSpPr txBox="1"/>
          <p:nvPr/>
        </p:nvSpPr>
        <p:spPr>
          <a:xfrm>
            <a:off x="630238" y="1120088"/>
            <a:ext cx="2705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提报时间：</a:t>
            </a: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  <a:r>
              <a:rPr lang="zh-CN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1-10</a:t>
            </a: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zh-CN" altLang="zh-CN" sz="1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zh-CN" altLang="en-US" sz="1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8">
            <a:extLst>
              <a:ext uri="{FF2B5EF4-FFF2-40B4-BE49-F238E27FC236}">
                <a16:creationId xmlns:a16="http://schemas.microsoft.com/office/drawing/2014/main" id="{F7357AE0-F408-C842-AD3E-325C1D2E154B}"/>
              </a:ext>
            </a:extLst>
          </p:cNvPr>
          <p:cNvSpPr txBox="1"/>
          <p:nvPr/>
        </p:nvSpPr>
        <p:spPr>
          <a:xfrm>
            <a:off x="1238739" y="2966696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旺铺：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提报品项功能设置支持</a:t>
            </a:r>
            <a:endParaRPr lang="en-US" altLang="zh-CN" sz="11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1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SFA</a:t>
            </a:r>
            <a:r>
              <a:rPr lang="zh-CN" altLang="en-US" sz="11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组别设置</a:t>
            </a:r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业务提报功能支持</a:t>
            </a:r>
          </a:p>
        </p:txBody>
      </p:sp>
      <p:sp>
        <p:nvSpPr>
          <p:cNvPr id="16" name="文本框 19">
            <a:extLst>
              <a:ext uri="{FF2B5EF4-FFF2-40B4-BE49-F238E27FC236}">
                <a16:creationId xmlns:a16="http://schemas.microsoft.com/office/drawing/2014/main" id="{AE240728-8012-C743-A11A-1CBF4A24E093}"/>
              </a:ext>
            </a:extLst>
          </p:cNvPr>
          <p:cNvSpPr txBox="1"/>
          <p:nvPr/>
        </p:nvSpPr>
        <p:spPr>
          <a:xfrm>
            <a:off x="3308788" y="2966696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SFA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系统后台设置开放提报</a:t>
            </a:r>
            <a:endParaRPr lang="en-US" altLang="zh-CN" sz="11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、通知给到业务</a:t>
            </a:r>
          </a:p>
        </p:txBody>
      </p:sp>
      <p:sp>
        <p:nvSpPr>
          <p:cNvPr id="17" name="文本框 20">
            <a:extLst>
              <a:ext uri="{FF2B5EF4-FFF2-40B4-BE49-F238E27FC236}">
                <a16:creationId xmlns:a16="http://schemas.microsoft.com/office/drawing/2014/main" id="{FBA102D8-B232-564F-8EA8-C28CB6BB2266}"/>
              </a:ext>
            </a:extLst>
          </p:cNvPr>
          <p:cNvSpPr txBox="1"/>
          <p:nvPr/>
        </p:nvSpPr>
        <p:spPr>
          <a:xfrm>
            <a:off x="5378837" y="2966696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业务在系统提报当月追加需求</a:t>
            </a:r>
          </a:p>
        </p:txBody>
      </p:sp>
      <p:sp>
        <p:nvSpPr>
          <p:cNvPr id="18" name="文本框 21">
            <a:extLst>
              <a:ext uri="{FF2B5EF4-FFF2-40B4-BE49-F238E27FC236}">
                <a16:creationId xmlns:a16="http://schemas.microsoft.com/office/drawing/2014/main" id="{0C1DD00F-4901-554F-9D32-6839F4EA43D5}"/>
              </a:ext>
            </a:extLst>
          </p:cNvPr>
          <p:cNvSpPr txBox="1"/>
          <p:nvPr/>
        </p:nvSpPr>
        <p:spPr>
          <a:xfrm>
            <a:off x="1238739" y="2086300"/>
            <a:ext cx="1404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旺铺</a:t>
            </a:r>
            <a:r>
              <a:rPr lang="en-US" altLang="zh-CN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&amp;</a:t>
            </a:r>
            <a:r>
              <a:rPr lang="en" altLang="zh-CN" sz="105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SFA</a:t>
            </a:r>
            <a:endParaRPr lang="zh-CN" altLang="en-US" sz="1200" b="0" cap="none" spc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" name="文本框 22">
            <a:extLst>
              <a:ext uri="{FF2B5EF4-FFF2-40B4-BE49-F238E27FC236}">
                <a16:creationId xmlns:a16="http://schemas.microsoft.com/office/drawing/2014/main" id="{90D7A14A-DB7F-DE4D-9173-6FB9A8C26D03}"/>
              </a:ext>
            </a:extLst>
          </p:cNvPr>
          <p:cNvSpPr txBox="1"/>
          <p:nvPr/>
        </p:nvSpPr>
        <p:spPr>
          <a:xfrm>
            <a:off x="3308788" y="2086300"/>
            <a:ext cx="1404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产销协调部</a:t>
            </a:r>
          </a:p>
        </p:txBody>
      </p:sp>
      <p:sp>
        <p:nvSpPr>
          <p:cNvPr id="20" name="文本框 23">
            <a:extLst>
              <a:ext uri="{FF2B5EF4-FFF2-40B4-BE49-F238E27FC236}">
                <a16:creationId xmlns:a16="http://schemas.microsoft.com/office/drawing/2014/main" id="{FDFC732C-DD48-4E43-AF46-D0FD9E223413}"/>
              </a:ext>
            </a:extLst>
          </p:cNvPr>
          <p:cNvSpPr txBox="1"/>
          <p:nvPr/>
        </p:nvSpPr>
        <p:spPr>
          <a:xfrm>
            <a:off x="5378837" y="2086300"/>
            <a:ext cx="1404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分公司总监</a:t>
            </a: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2C8D5D59-85CD-914F-80E8-513893DC4B52}"/>
              </a:ext>
            </a:extLst>
          </p:cNvPr>
          <p:cNvSpPr txBox="1"/>
          <p:nvPr/>
        </p:nvSpPr>
        <p:spPr>
          <a:xfrm>
            <a:off x="7448886" y="4409398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大区再次确认是否追加或减少</a:t>
            </a:r>
            <a:endParaRPr lang="en-US" altLang="zh-CN" sz="11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、追加至</a:t>
            </a:r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moq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</a:t>
            </a:r>
            <a:endParaRPr lang="en-US" altLang="zh-CN" sz="11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、取消追加需求量</a:t>
            </a: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4AC023B-054B-DF47-8BE6-6A586EEA823A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642739" y="3470696"/>
            <a:ext cx="666049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1DF6C983-9077-014B-B658-6BAD66D983BB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4712788" y="3470696"/>
            <a:ext cx="666049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C47D327-0EBD-AD48-A9F6-A8AA0064FDA5}"/>
              </a:ext>
            </a:extLst>
          </p:cNvPr>
          <p:cNvCxnSpPr>
            <a:stCxn id="17" idx="3"/>
            <a:endCxn id="69" idx="1"/>
          </p:cNvCxnSpPr>
          <p:nvPr/>
        </p:nvCxnSpPr>
        <p:spPr>
          <a:xfrm>
            <a:off x="6782837" y="3470696"/>
            <a:ext cx="666049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CB23CA8F-5BBD-DE4B-9007-6656DCF287B8}"/>
              </a:ext>
            </a:extLst>
          </p:cNvPr>
          <p:cNvCxnSpPr>
            <a:cxnSpLocks/>
            <a:stCxn id="73" idx="3"/>
            <a:endCxn id="21" idx="1"/>
          </p:cNvCxnSpPr>
          <p:nvPr/>
        </p:nvCxnSpPr>
        <p:spPr>
          <a:xfrm>
            <a:off x="4712788" y="4913398"/>
            <a:ext cx="2736098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79">
            <a:extLst>
              <a:ext uri="{FF2B5EF4-FFF2-40B4-BE49-F238E27FC236}">
                <a16:creationId xmlns:a16="http://schemas.microsoft.com/office/drawing/2014/main" id="{49034BEA-7635-2444-993E-431BB2378A50}"/>
              </a:ext>
            </a:extLst>
          </p:cNvPr>
          <p:cNvSpPr txBox="1"/>
          <p:nvPr/>
        </p:nvSpPr>
        <p:spPr>
          <a:xfrm>
            <a:off x="9518934" y="2086300"/>
            <a:ext cx="1404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线别负责人</a:t>
            </a:r>
            <a:endParaRPr lang="en-US" altLang="zh-CN" sz="1100" b="0" cap="none" spc="0"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indent="0" algn="ctr"/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lang="en-US" altLang="zh-CN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PM</a:t>
            </a:r>
            <a:r>
              <a:rPr lang="zh-CN" altLang="en-US" sz="1100" b="0" cap="none" spc="0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lang="en-US" altLang="zh-CN" sz="1100" b="0" cap="none" spc="0"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5" name="文本框 80">
            <a:extLst>
              <a:ext uri="{FF2B5EF4-FFF2-40B4-BE49-F238E27FC236}">
                <a16:creationId xmlns:a16="http://schemas.microsoft.com/office/drawing/2014/main" id="{10E75EC4-630B-F343-85C5-361B96C284FC}"/>
              </a:ext>
            </a:extLst>
          </p:cNvPr>
          <p:cNvSpPr txBox="1"/>
          <p:nvPr/>
        </p:nvSpPr>
        <p:spPr>
          <a:xfrm>
            <a:off x="9518934" y="2966696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负责审核大区追加提报需求量</a:t>
            </a:r>
            <a:endParaRPr lang="en-US" altLang="zh-CN" sz="11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文本框 96">
            <a:extLst>
              <a:ext uri="{FF2B5EF4-FFF2-40B4-BE49-F238E27FC236}">
                <a16:creationId xmlns:a16="http://schemas.microsoft.com/office/drawing/2014/main" id="{9AD58515-28BF-604A-9495-1C6ED43C8843}"/>
              </a:ext>
            </a:extLst>
          </p:cNvPr>
          <p:cNvSpPr txBox="1"/>
          <p:nvPr/>
        </p:nvSpPr>
        <p:spPr>
          <a:xfrm>
            <a:off x="7448886" y="2966696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大区总审核分公司追加需求量</a:t>
            </a:r>
          </a:p>
        </p:txBody>
      </p:sp>
      <p:sp>
        <p:nvSpPr>
          <p:cNvPr id="70" name="文本框 97">
            <a:extLst>
              <a:ext uri="{FF2B5EF4-FFF2-40B4-BE49-F238E27FC236}">
                <a16:creationId xmlns:a16="http://schemas.microsoft.com/office/drawing/2014/main" id="{94BC03BE-D0FD-D548-8FAC-3047C2553FB5}"/>
              </a:ext>
            </a:extLst>
          </p:cNvPr>
          <p:cNvSpPr txBox="1"/>
          <p:nvPr/>
        </p:nvSpPr>
        <p:spPr>
          <a:xfrm>
            <a:off x="7448886" y="2086300"/>
            <a:ext cx="14040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zh-CN" altLang="en-US" sz="1100" b="0" cap="none" spc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大区总</a:t>
            </a:r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403A0E3C-B085-DE44-BE1C-711169CE51F8}"/>
              </a:ext>
            </a:extLst>
          </p:cNvPr>
          <p:cNvCxnSpPr>
            <a:stCxn id="69" idx="3"/>
            <a:endCxn id="65" idx="1"/>
          </p:cNvCxnSpPr>
          <p:nvPr/>
        </p:nvCxnSpPr>
        <p:spPr>
          <a:xfrm>
            <a:off x="8852886" y="3470696"/>
            <a:ext cx="666048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连接符 71">
            <a:extLst>
              <a:ext uri="{FF2B5EF4-FFF2-40B4-BE49-F238E27FC236}">
                <a16:creationId xmlns:a16="http://schemas.microsoft.com/office/drawing/2014/main" id="{E3240B71-E916-4E40-8A09-2246293E7D0F}"/>
              </a:ext>
            </a:extLst>
          </p:cNvPr>
          <p:cNvCxnSpPr>
            <a:cxnSpLocks/>
            <a:stCxn id="65" idx="3"/>
            <a:endCxn id="73" idx="2"/>
          </p:cNvCxnSpPr>
          <p:nvPr/>
        </p:nvCxnSpPr>
        <p:spPr>
          <a:xfrm flipH="1">
            <a:off x="4010788" y="3470696"/>
            <a:ext cx="6912146" cy="1946702"/>
          </a:xfrm>
          <a:prstGeom prst="bentConnector4">
            <a:avLst>
              <a:gd name="adj1" fmla="val -3307"/>
              <a:gd name="adj2" fmla="val 111743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24">
            <a:extLst>
              <a:ext uri="{FF2B5EF4-FFF2-40B4-BE49-F238E27FC236}">
                <a16:creationId xmlns:a16="http://schemas.microsoft.com/office/drawing/2014/main" id="{C387AB7A-38BA-3A41-B884-3188EFD07469}"/>
              </a:ext>
            </a:extLst>
          </p:cNvPr>
          <p:cNvSpPr txBox="1"/>
          <p:nvPr/>
        </p:nvSpPr>
        <p:spPr>
          <a:xfrm>
            <a:off x="3308788" y="4409398"/>
            <a:ext cx="1404000" cy="10080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、收集、汇总，沟通排产，反馈供货时间</a:t>
            </a:r>
            <a:endParaRPr lang="en-US" altLang="zh-CN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、反馈业务不足</a:t>
            </a:r>
            <a:r>
              <a:rPr lang="en-US" altLang="zh-CN" sz="11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moq</a:t>
            </a:r>
            <a:r>
              <a:rPr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及系统调整</a:t>
            </a:r>
            <a:endParaRPr lang="en-US" altLang="zh-CN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、货需系统审核</a:t>
            </a:r>
            <a:endParaRPr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460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6E59-0601-CCBD-D511-CC5B1D58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F7082A-A665-6474-F3FC-95DB43778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91994" y="3094944"/>
            <a:ext cx="6436405" cy="940027"/>
          </a:xfrm>
        </p:spPr>
        <p:txBody>
          <a:bodyPr/>
          <a:lstStyle/>
          <a:p>
            <a:r>
              <a:rPr kumimoji="1" lang="zh-CN" altLang="en-US" sz="4000" dirty="0"/>
              <a:t>销售预估提报系统操作说明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C798D-0979-97AB-1555-138F51F69F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4792" y="3564957"/>
            <a:ext cx="1581150" cy="121058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03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59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F441-BBD1-8B1A-8B97-CD26E896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A3CE8-C85B-1B52-13CF-8778A226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销售预估提报</a:t>
            </a:r>
            <a:r>
              <a:rPr kumimoji="1"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138144FE-B0E4-2693-2099-3A758CF94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C1A3A9F5-0D37-5FB5-6A20-1F5CB64A5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4721D4CA-EBC9-EA2A-70BA-3A986DDCD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3B36E6FF-8018-4C10-7871-F6D573B7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D15A3256-ECC5-B351-5BA5-DFE393F7D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A361E1A9-9C9D-8563-7DF4-A9112C37C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6AD13DCF-9DE5-2240-4EFC-41B3A5367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EDDE4525-CF9F-5ED2-8802-51437EBA9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6F0B7105-45F3-7FB9-DDB3-53D1FDC74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A858C339-9044-8B59-A84E-11FA460D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14F19869-49CF-72EA-FA27-B81E0CAB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29A6A19F-E93E-F0F1-1AEA-90E06258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CBEE0B97-BFCF-E629-A6FB-C77EE7F6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C4AB57FD-44E5-1AD4-882A-2525596F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74972F2B-7169-F511-B206-B6C11EDBE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526AF025-1998-F208-08D1-FF440577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EF643E22-B6ED-545D-7D64-89D98350E20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65F20E16-5201-81FD-2EB7-29F48C170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CE399679-390B-6DE9-523D-520CE0911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C9729C-9B56-059D-B4A0-D4D1C92008CF}"/>
              </a:ext>
            </a:extLst>
          </p:cNvPr>
          <p:cNvSpPr txBox="1"/>
          <p:nvPr/>
        </p:nvSpPr>
        <p:spPr>
          <a:xfrm>
            <a:off x="553588" y="1212112"/>
            <a:ext cx="2380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2.1-1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分公司提报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2BF7A8-EDA1-EFD6-3382-C9EA38731071}"/>
              </a:ext>
            </a:extLst>
          </p:cNvPr>
          <p:cNvSpPr txBox="1"/>
          <p:nvPr/>
        </p:nvSpPr>
        <p:spPr>
          <a:xfrm>
            <a:off x="553588" y="1714500"/>
            <a:ext cx="9962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 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SFA→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选择对应的产品组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销售管理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货需管理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提报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（选择对应组织）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58EF109-C123-F670-772C-946D77377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97" y="2022277"/>
            <a:ext cx="10596835" cy="461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2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683D-3C85-0CDC-788E-C9C66E51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58B35-86D2-ADF5-83D5-95DD4E66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销售预估提报</a:t>
            </a:r>
            <a:r>
              <a:rPr kumimoji="1"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B3BCD016-2C1F-6B29-33A9-BC8685BED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3FD0E36B-84D3-877D-9580-1E594C506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7F06CACA-10E0-F597-F650-AC734CD5D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7C6BCA4C-78D4-3B4F-DF9E-49D885ACD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5CFE2478-57BA-8233-EF8B-E130D4610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329D3F4A-02BD-30BA-F762-5CF982874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B877E0D0-9EC1-C611-E742-731DC79F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07A10039-0A76-4C46-0DCA-83BA5E9E5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D3C1277B-E034-CC7D-7599-DC9AB1BC9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133F0AB2-BE86-80F1-3525-CD089C801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FB2FCDA9-312B-FEAB-2177-CD6BF5578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DA42B86F-3446-C4EE-F125-0675E250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5A7447D6-4CEC-C912-ED4B-CA1CB524E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FB6EC1E7-41E0-BC4F-5CF3-3BDE604A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AC697D80-34FC-914A-C00B-5179C2669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5A5C1A8F-7A5F-9C1A-9DC6-72E753CD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14126129-9FCA-6C21-1773-061C993AA95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7E142F50-7CFD-B2D1-C1A8-4EB587BE9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665B3F64-33EC-7435-25D8-FB048E125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6894FB-45CA-068F-A362-C54B15904E46}"/>
              </a:ext>
            </a:extLst>
          </p:cNvPr>
          <p:cNvSpPr txBox="1"/>
          <p:nvPr/>
        </p:nvSpPr>
        <p:spPr>
          <a:xfrm>
            <a:off x="566288" y="1212112"/>
            <a:ext cx="2380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2.1-2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分公司提报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E6AAEA-1B44-B7CB-205A-720AE40180F1}"/>
              </a:ext>
            </a:extLst>
          </p:cNvPr>
          <p:cNvSpPr txBox="1"/>
          <p:nvPr/>
        </p:nvSpPr>
        <p:spPr>
          <a:xfrm>
            <a:off x="566288" y="1714500"/>
            <a:ext cx="9873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提报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”后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：填写本次提报箱，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确认无误后，再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提交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endParaRPr lang="zh-CN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C1D618-32D6-35A5-F466-4D46114C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2133600"/>
            <a:ext cx="100188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24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5620-7359-25AE-8DE9-24A8BC7E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88E36-381B-D73B-0901-EAAB2CA6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销售预估提报</a:t>
            </a:r>
            <a:r>
              <a:rPr kumimoji="1"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6CDD8304-F943-84C1-453C-0A92ABA5E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48863872-39ED-2478-6133-9B7E4CDEF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7313CEEF-27DF-C65E-F186-EC6981494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5C19C1B3-8299-E898-0CB7-8ED52209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30E59D23-3325-5BB8-22CB-228C820F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38C37A91-6C0F-36AA-CF61-8D71E8850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FD53E67D-3098-82C2-787F-6E654DF79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0470CC06-6469-00F9-C4E0-B01FE0C6D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EE5F1DF8-4BC7-5295-2018-D83A49B26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8B77B284-8900-C3AE-C1B4-64B4A3B30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DA0D9FF2-E409-6DF8-86D1-1DDDEB97A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741E5C56-7FD1-14B8-BD10-9F09C0FC1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9F67286E-BB13-C55B-9770-238B97E6E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3FA65D0F-410D-7B5C-BFCB-C71D0CE35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273D85DD-E447-8106-FD6F-972439360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E014CB5E-4C35-1A13-C857-8A5281691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11687632-4285-F3FB-E733-DFCA7BD2FF5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AC0DA390-B2AB-7F7A-FF65-8AD441D31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91F20AF0-DA74-0CDA-177A-656D6B78A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4D641D-119B-8574-6A4E-2527F3D0500F}"/>
              </a:ext>
            </a:extLst>
          </p:cNvPr>
          <p:cNvSpPr txBox="1"/>
          <p:nvPr/>
        </p:nvSpPr>
        <p:spPr>
          <a:xfrm>
            <a:off x="490088" y="1212112"/>
            <a:ext cx="2380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2.2-1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大区审核确认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9B1337-9ABF-2012-0615-286BFA2EA277}"/>
              </a:ext>
            </a:extLst>
          </p:cNvPr>
          <p:cNvSpPr txBox="1"/>
          <p:nvPr/>
        </p:nvSpPr>
        <p:spPr>
          <a:xfrm>
            <a:off x="490088" y="1658746"/>
            <a:ext cx="10266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SFA→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选择对应的产品组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销售管理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货需管理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大区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组织查询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21F9DB-1C53-D7B8-3D7F-E5088B08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2053055"/>
            <a:ext cx="8609307" cy="46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1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C22A-9B2B-3E1C-895E-73CB7A9E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D3595-C719-FCA8-FC71-DEEF2DC3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销售预估提报</a:t>
            </a:r>
            <a:r>
              <a:rPr kumimoji="1"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518F0392-69F3-2F51-84D1-960ABAF48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795762D2-D818-AA85-13BB-D79C6647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B80CB729-9324-E378-BB5B-3B86E1EB9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E37F36D1-DF94-424B-1D30-8F808F83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382372FD-F0B2-DC70-EB11-85CF9B1E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4C1827AE-B68B-E5BF-A212-9CB030C9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8A3EF23B-DB64-AD22-E58F-F30947C1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2A711A58-8A15-E9D0-7F61-559DB73CB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81F674B9-6558-E18E-5C9B-D4878E046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D77BFDB7-E6DC-BECA-2ADC-6C082185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98998D95-0668-384F-B7C9-59983981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4342C2CD-C54E-B9EF-5FC3-0733EB31D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B05C6863-EF95-65FC-1FF1-EF3877B01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3B2F369F-7EF0-2CF0-447E-B293767CF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B91E318C-A206-5B16-3E66-EAEC49DD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B28B9087-5737-D1D5-124F-2714F36CD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390FDBF4-7794-5EAA-E419-EC9F7795197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60359A5D-AC63-E96B-601A-2993BB350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76F5E1F0-16C6-6F1B-01EE-42C97EC5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33B524-77E4-AF95-E903-F547F3083D38}"/>
              </a:ext>
            </a:extLst>
          </p:cNvPr>
          <p:cNvSpPr txBox="1"/>
          <p:nvPr/>
        </p:nvSpPr>
        <p:spPr>
          <a:xfrm>
            <a:off x="578988" y="1212112"/>
            <a:ext cx="2380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2.2-2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大区审核确认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8C19F6-432B-F5AD-CE16-17D6AF43C024}"/>
              </a:ext>
            </a:extLst>
          </p:cNvPr>
          <p:cNvSpPr txBox="1"/>
          <p:nvPr/>
        </p:nvSpPr>
        <p:spPr>
          <a:xfrm>
            <a:off x="578988" y="1714501"/>
            <a:ext cx="9860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操作步骤：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点击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审核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：核对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调整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确认箱数，点击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同意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驳回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通知分公司重新修改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154654-DB09-403E-D6EC-E74BAF20A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2066882"/>
            <a:ext cx="8901292" cy="463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9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268A-F684-DE12-195D-759C74F2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D82B32-9305-9FA6-ADCD-B675220BB2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91994" y="3094944"/>
            <a:ext cx="6436405" cy="940027"/>
          </a:xfrm>
        </p:spPr>
        <p:txBody>
          <a:bodyPr/>
          <a:lstStyle/>
          <a:p>
            <a:r>
              <a:rPr kumimoji="1" lang="zh-CN" altLang="en-US" sz="4000" dirty="0"/>
              <a:t>产销供货说明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0AD407-EEB3-E108-CC81-917FE03699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4792" y="3564957"/>
            <a:ext cx="1581150" cy="121058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04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011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C55C-0B39-64F2-5471-8F9DBA285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CCBF5-47BD-71AF-54C5-8F8856B7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71" y="495299"/>
            <a:ext cx="3394529" cy="38100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产销备货</a:t>
            </a:r>
            <a:r>
              <a:rPr kumimoji="1" lang="en-US" altLang="zh-CN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供货规则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3AE5B8-9A0C-0271-066A-CBB891EC88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49"/>
            <a:ext cx="3048000" cy="2047851"/>
          </a:xfrm>
          <a:prstGeom prst="rect">
            <a:avLst/>
          </a:prstGeom>
        </p:spPr>
      </p:pic>
      <p:sp>
        <p:nvSpPr>
          <p:cNvPr id="29" name="Rectangle 19">
            <a:extLst>
              <a:ext uri="{FF2B5EF4-FFF2-40B4-BE49-F238E27FC236}">
                <a16:creationId xmlns:a16="http://schemas.microsoft.com/office/drawing/2014/main" id="{87EDF6FE-3353-A990-C577-85CA3F9FE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矩形 7">
            <a:extLst>
              <a:ext uri="{FF2B5EF4-FFF2-40B4-BE49-F238E27FC236}">
                <a16:creationId xmlns:a16="http://schemas.microsoft.com/office/drawing/2014/main" id="{6DD437DC-7029-5E15-5CC2-A33BA5913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7713" y="9024938"/>
            <a:ext cx="17711737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市场部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矩形 8">
            <a:extLst>
              <a:ext uri="{FF2B5EF4-FFF2-40B4-BE49-F238E27FC236}">
                <a16:creationId xmlns:a16="http://schemas.microsoft.com/office/drawing/2014/main" id="{22988D35-91E4-9850-04A8-20C7F5A85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938" y="17592675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产销协调部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F3AEF067-02CE-743A-99C1-DA9C5537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3450" y="26160413"/>
            <a:ext cx="17711738" cy="8567737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952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销售战略部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矩形 10">
            <a:extLst>
              <a:ext uri="{FF2B5EF4-FFF2-40B4-BE49-F238E27FC236}">
                <a16:creationId xmlns:a16="http://schemas.microsoft.com/office/drawing/2014/main" id="{2D70B8C5-D78C-C83D-9DF4-210551465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8088" y="34728150"/>
            <a:ext cx="17711737" cy="8567738"/>
          </a:xfrm>
          <a:prstGeom prst="rect">
            <a:avLst/>
          </a:prstGeom>
          <a:gradFill rotWithShape="1">
            <a:gsLst>
              <a:gs pos="0">
                <a:srgbClr val="6083CB"/>
              </a:gs>
              <a:gs pos="50000">
                <a:srgbClr val="3E70CA"/>
              </a:gs>
              <a:gs pos="100000">
                <a:srgbClr val="2E61BA"/>
              </a:gs>
            </a:gsLst>
            <a:lin ang="5400000"/>
          </a:gra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大区督导&amp;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分公司总监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矩形 12">
            <a:extLst>
              <a:ext uri="{FF2B5EF4-FFF2-40B4-BE49-F238E27FC236}">
                <a16:creationId xmlns:a16="http://schemas.microsoft.com/office/drawing/2014/main" id="{5C8F095E-8D14-A37E-AEA0-EA37CC44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23000"/>
            <a:ext cx="19656425" cy="16713200"/>
          </a:xfrm>
          <a:prstGeom prst="rect">
            <a:avLst/>
          </a:prstGeom>
          <a:solidFill>
            <a:srgbClr val="F2F2F2"/>
          </a:solidFill>
          <a:ln w="15875" cap="rnd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1.旺铺产品：销售预估品项功能设置支持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2.SFA产品：销售预估组别&amp;业务提报功能支持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矩形 13">
            <a:extLst>
              <a:ext uri="{FF2B5EF4-FFF2-40B4-BE49-F238E27FC236}">
                <a16:creationId xmlns:a16="http://schemas.microsoft.com/office/drawing/2014/main" id="{A8C77A75-DB69-AFDA-A0DC-9D17CB969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8" y="73920350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2E74B5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1.旺铺后台更新个组可销产品数据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2.纸本提供给到产销相关数据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矩形 14">
            <a:extLst>
              <a:ext uri="{FF2B5EF4-FFF2-40B4-BE49-F238E27FC236}">
                <a16:creationId xmlns:a16="http://schemas.microsoft.com/office/drawing/2014/main" id="{51209FAB-33DC-B23D-4AB0-670888105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90633550"/>
            <a:ext cx="19658013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 SFA系统后台设置开放提报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矩形 15">
            <a:extLst>
              <a:ext uri="{FF2B5EF4-FFF2-40B4-BE49-F238E27FC236}">
                <a16:creationId xmlns:a16="http://schemas.microsoft.com/office/drawing/2014/main" id="{CD19CE1A-9797-2425-8871-F455FA5A6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0400" y="1073467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1.开放次月预定单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2.通知给到业务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CFA5D721-45E4-71B1-AAAF-DF5B2461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24059950"/>
            <a:ext cx="19656425" cy="1671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矩形 18">
            <a:extLst>
              <a:ext uri="{FF2B5EF4-FFF2-40B4-BE49-F238E27FC236}">
                <a16:creationId xmlns:a16="http://schemas.microsoft.com/office/drawing/2014/main" id="{DCA09525-1C40-89A6-480F-85C27EDC8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338" y="162086925"/>
            <a:ext cx="19656425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配合系统调整预估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1.追加至MOQ生产量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2.调整至可生产量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矩形 19">
            <a:extLst>
              <a:ext uri="{FF2B5EF4-FFF2-40B4-BE49-F238E27FC236}">
                <a16:creationId xmlns:a16="http://schemas.microsoft.com/office/drawing/2014/main" id="{56C58570-C734-5DF8-1212-303E48C7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75" y="178800125"/>
            <a:ext cx="19658013" cy="16713200"/>
          </a:xfrm>
          <a:prstGeom prst="rect">
            <a:avLst/>
          </a:prstGeom>
          <a:solidFill>
            <a:srgbClr val="F2F2F2"/>
          </a:solidFill>
          <a:ln w="15875">
            <a:solidFill>
              <a:srgbClr val="4472C4"/>
            </a:solidFill>
            <a:round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>
                <a:ln>
                  <a:noFill/>
                </a:ln>
                <a:solidFill>
                  <a:srgbClr val="2E74B5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业务系统提报次月销售需求和预定单需求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右箭头 22">
            <a:extLst>
              <a:ext uri="{FF2B5EF4-FFF2-40B4-BE49-F238E27FC236}">
                <a16:creationId xmlns:a16="http://schemas.microsoft.com/office/drawing/2014/main" id="{97B5761B-3643-277D-D7DD-8B57F5D65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9600" y="181933850"/>
            <a:ext cx="2573338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右箭头 23">
            <a:extLst>
              <a:ext uri="{FF2B5EF4-FFF2-40B4-BE49-F238E27FC236}">
                <a16:creationId xmlns:a16="http://schemas.microsoft.com/office/drawing/2014/main" id="{451D6314-3D9C-6D47-37F8-EAB35951F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5" y="183570563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右箭头 25">
            <a:extLst>
              <a:ext uri="{FF2B5EF4-FFF2-40B4-BE49-F238E27FC236}">
                <a16:creationId xmlns:a16="http://schemas.microsoft.com/office/drawing/2014/main" id="{2AA3B8EF-AA9E-6933-E1DC-E681F021B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063" y="185207275"/>
            <a:ext cx="2573337" cy="1636713"/>
          </a:xfrm>
          <a:prstGeom prst="rightArrow">
            <a:avLst>
              <a:gd name="adj1" fmla="val 50000"/>
              <a:gd name="adj2" fmla="val 49992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右箭头 27">
            <a:extLst>
              <a:ext uri="{FF2B5EF4-FFF2-40B4-BE49-F238E27FC236}">
                <a16:creationId xmlns:a16="http://schemas.microsoft.com/office/drawing/2014/main" id="{98376FCD-1961-9691-F164-936672EF4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1588" y="186843988"/>
            <a:ext cx="2571750" cy="1636712"/>
          </a:xfrm>
          <a:prstGeom prst="rightArrow">
            <a:avLst>
              <a:gd name="adj1" fmla="val 50000"/>
              <a:gd name="adj2" fmla="val 49961"/>
            </a:avLst>
          </a:prstGeom>
          <a:noFill/>
          <a:ln w="12700">
            <a:solidFill>
              <a:srgbClr val="4472C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肘形连接符 11">
            <a:extLst>
              <a:ext uri="{FF2B5EF4-FFF2-40B4-BE49-F238E27FC236}">
                <a16:creationId xmlns:a16="http://schemas.microsoft.com/office/drawing/2014/main" id="{9A12468D-DED0-80B8-F99F-1C29645AA26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539475" y="177026888"/>
            <a:ext cx="4549775" cy="45431075"/>
          </a:xfrm>
          <a:prstGeom prst="bentConnector3">
            <a:avLst>
              <a:gd name="adj1" fmla="val 50727"/>
            </a:avLst>
          </a:prstGeom>
          <a:noFill/>
          <a:ln w="25400" cap="rnd">
            <a:solidFill>
              <a:srgbClr val="4472C4"/>
            </a:solidFill>
            <a:prstDash val="lgDash"/>
            <a:round/>
            <a:headEnd/>
            <a:tailEnd type="triangle" w="med" len="med"/>
          </a:ln>
          <a:effectLst>
            <a:outerShdw dist="38100" dir="5400000" algn="t" rotWithShape="0">
              <a:srgbClr val="D5DCE4">
                <a:alpha val="5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直线箭头连接符 32">
            <a:extLst>
              <a:ext uri="{FF2B5EF4-FFF2-40B4-BE49-F238E27FC236}">
                <a16:creationId xmlns:a16="http://schemas.microsoft.com/office/drawing/2014/main" id="{BF394B95-2C1F-B6A1-51AD-87E9A7EF0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27063" y="214601425"/>
            <a:ext cx="24711025" cy="0"/>
          </a:xfrm>
          <a:prstGeom prst="straightConnector1">
            <a:avLst/>
          </a:prstGeom>
          <a:noFill/>
          <a:ln w="28575">
            <a:solidFill>
              <a:srgbClr val="4472C4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A15CEF77-6AA2-44EC-77F2-14590755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71384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提报时间：当月1-15日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F74C71-938B-C8A6-14A2-6E313BD43B98}"/>
              </a:ext>
            </a:extLst>
          </p:cNvPr>
          <p:cNvSpPr txBox="1"/>
          <p:nvPr/>
        </p:nvSpPr>
        <p:spPr>
          <a:xfrm>
            <a:off x="1039504" y="948690"/>
            <a:ext cx="108585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产销备货：</a:t>
            </a:r>
            <a:endParaRPr lang="en-US" altLang="zh-CN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不滚货需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（主推品）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产销备货：乳品=常态提报数量+次月预订单量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     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预订单=订单明细数量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      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货需分配：当月批次供货=大区提报数量*100%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滚货需：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产销备货：（常态提报数量-上月预估结余库存）&amp;（近30天滚动日均*30天），两者取小值。</a:t>
            </a:r>
            <a:b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  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货需分配：当月批次供货=大区提报数量*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供货比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产销排产量/销售提报总量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*100%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三、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下市产品：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汰换产品或计划下市产品【产销不生产或消耗现有包材，不再备原料】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rgbClr val="6062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产销供货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预订单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直营渠道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流通客户</a:t>
            </a:r>
            <a:endParaRPr lang="en-US" altLang="zh-CN" b="1" dirty="0">
              <a:solidFill>
                <a:schemeClr val="bg2">
                  <a:lumMod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6062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293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62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25060</TotalTime>
  <Words>2421</Words>
  <Application>Microsoft Macintosh PowerPoint</Application>
  <PresentationFormat>宽屏</PresentationFormat>
  <Paragraphs>319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DengXian</vt:lpstr>
      <vt:lpstr>微软雅黑</vt:lpstr>
      <vt:lpstr>微软雅黑</vt:lpstr>
      <vt:lpstr>PingFang SC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常态需求提报规则</vt:lpstr>
      <vt:lpstr>紧急追加提报规则</vt:lpstr>
      <vt:lpstr>预订单提报规则</vt:lpstr>
      <vt:lpstr>PowerPoint 演示文稿</vt:lpstr>
      <vt:lpstr>常态提报流程</vt:lpstr>
      <vt:lpstr>追加提报流程</vt:lpstr>
      <vt:lpstr>PowerPoint 演示文稿</vt:lpstr>
      <vt:lpstr>销售预估提报&amp;审核</vt:lpstr>
      <vt:lpstr>销售预估提报&amp;审核</vt:lpstr>
      <vt:lpstr>销售预估提报&amp;审核</vt:lpstr>
      <vt:lpstr>销售预估提报&amp;审核</vt:lpstr>
      <vt:lpstr>PowerPoint 演示文稿</vt:lpstr>
      <vt:lpstr>产销备货&amp;供货规则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00317595</dc:creator>
  <cp:lastModifiedBy>翁丽佳</cp:lastModifiedBy>
  <cp:revision>278</cp:revision>
  <dcterms:created xsi:type="dcterms:W3CDTF">2021-08-23T10:13:33Z</dcterms:created>
  <dcterms:modified xsi:type="dcterms:W3CDTF">2026-09-29T03:42:22Z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2052-3.6.0.5672</vt:lpwstr>
  </property>
</Properties>
</file>