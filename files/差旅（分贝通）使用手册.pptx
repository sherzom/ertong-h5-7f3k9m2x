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324" r:id="rId2"/>
    <p:sldId id="342" r:id="rId3"/>
    <p:sldId id="336" r:id="rId4"/>
    <p:sldId id="347" r:id="rId5"/>
    <p:sldId id="350" r:id="rId6"/>
    <p:sldId id="327" r:id="rId7"/>
    <p:sldId id="352" r:id="rId8"/>
    <p:sldId id="356" r:id="rId9"/>
    <p:sldId id="353" r:id="rId10"/>
    <p:sldId id="335" r:id="rId11"/>
    <p:sldId id="337" r:id="rId12"/>
    <p:sldId id="338" r:id="rId13"/>
    <p:sldId id="339" r:id="rId14"/>
    <p:sldId id="348" r:id="rId15"/>
    <p:sldId id="340" r:id="rId16"/>
    <p:sldId id="349" r:id="rId17"/>
    <p:sldId id="415" r:id="rId18"/>
    <p:sldId id="416" r:id="rId19"/>
    <p:sldId id="417" r:id="rId20"/>
    <p:sldId id="418" r:id="rId21"/>
    <p:sldId id="419" r:id="rId22"/>
    <p:sldId id="420" r:id="rId23"/>
    <p:sldId id="421" r:id="rId24"/>
    <p:sldId id="422" r:id="rId25"/>
    <p:sldId id="423" r:id="rId26"/>
    <p:sldId id="357" r:id="rId27"/>
    <p:sldId id="329" r:id="rId28"/>
    <p:sldId id="330" r:id="rId29"/>
    <p:sldId id="331" r:id="rId30"/>
    <p:sldId id="355" r:id="rId31"/>
    <p:sldId id="359" r:id="rId32"/>
    <p:sldId id="360" r:id="rId33"/>
    <p:sldId id="361" r:id="rId34"/>
    <p:sldId id="362" r:id="rId35"/>
    <p:sldId id="363" r:id="rId36"/>
    <p:sldId id="358" r:id="rId37"/>
    <p:sldId id="351" r:id="rId38"/>
    <p:sldId id="354" r:id="rId39"/>
    <p:sldId id="426" r:id="rId40"/>
    <p:sldId id="427" r:id="rId41"/>
    <p:sldId id="428" r:id="rId42"/>
    <p:sldId id="413" r:id="rId43"/>
    <p:sldId id="424" r:id="rId44"/>
    <p:sldId id="425" r:id="rId45"/>
    <p:sldId id="429" r:id="rId46"/>
    <p:sldId id="341" r:id="rId47"/>
    <p:sldId id="332" r:id="rId48"/>
    <p:sldId id="414" r:id="rId49"/>
    <p:sldId id="364" r:id="rId50"/>
    <p:sldId id="365" r:id="rId51"/>
    <p:sldId id="334" r:id="rId52"/>
    <p:sldId id="343" r:id="rId53"/>
    <p:sldId id="325" r:id="rId5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E7F7"/>
    <a:srgbClr val="F8C7F7"/>
    <a:srgbClr val="76D6FF"/>
    <a:srgbClr val="227CF7"/>
    <a:srgbClr val="00E1EF"/>
    <a:srgbClr val="60A0F9"/>
    <a:srgbClr val="5898FA"/>
    <a:srgbClr val="76A5F9"/>
    <a:srgbClr val="4E8C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91" autoAdjust="0"/>
    <p:restoredTop sz="94660"/>
  </p:normalViewPr>
  <p:slideViewPr>
    <p:cSldViewPr snapToGrid="0">
      <p:cViewPr varScale="1">
        <p:scale>
          <a:sx n="115" d="100"/>
          <a:sy n="115" d="100"/>
        </p:scale>
        <p:origin x="232"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2026/9/1</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430762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4CCD85-940C-CB42-AFA2-2C1D1D59F231}"/>
              </a:ext>
            </a:extLst>
          </p:cNvPr>
          <p:cNvSpPr>
            <a:spLocks noGrp="1"/>
          </p:cNvSpPr>
          <p:nvPr>
            <p:ph type="title"/>
          </p:nvPr>
        </p:nvSpPr>
        <p:spPr>
          <a:xfrm>
            <a:off x="1836716" y="3222130"/>
            <a:ext cx="5048993" cy="1807070"/>
          </a:xfrm>
        </p:spPr>
        <p:txBody>
          <a:bodyPr/>
          <a:lstStyle>
            <a:lvl1pPr>
              <a:defRPr>
                <a:solidFill>
                  <a:schemeClr val="bg1"/>
                </a:solidFill>
              </a:defRPr>
            </a:lvl1pPr>
          </a:lstStyle>
          <a:p>
            <a:r>
              <a:rPr kumimoji="1" lang="zh-CN" altLang="en-US"/>
              <a:t>单击此处编辑母版标题样式</a:t>
            </a:r>
          </a:p>
        </p:txBody>
      </p:sp>
      <p:sp>
        <p:nvSpPr>
          <p:cNvPr id="3" name="日期占位符 2">
            <a:extLst>
              <a:ext uri="{FF2B5EF4-FFF2-40B4-BE49-F238E27FC236}">
                <a16:creationId xmlns:a16="http://schemas.microsoft.com/office/drawing/2014/main" id="{D2D2AF7A-43D1-1F4F-89AF-FD41C9771535}"/>
              </a:ext>
            </a:extLst>
          </p:cNvPr>
          <p:cNvSpPr>
            <a:spLocks noGrp="1"/>
          </p:cNvSpPr>
          <p:nvPr>
            <p:ph type="dt" sz="half" idx="10"/>
          </p:nvPr>
        </p:nvSpPr>
        <p:spPr/>
        <p:txBody>
          <a:bodyPr/>
          <a:lstStyle/>
          <a:p>
            <a:fld id="{82F288E0-7875-42C4-84C8-98DBBD3BF4D2}" type="datetimeFigureOut">
              <a:rPr lang="zh-CN" altLang="en-US" smtClean="0"/>
              <a:t>2026/9/1</a:t>
            </a:fld>
            <a:endParaRPr lang="zh-CN" altLang="en-US"/>
          </a:p>
        </p:txBody>
      </p:sp>
      <p:sp>
        <p:nvSpPr>
          <p:cNvPr id="4" name="页脚占位符 3">
            <a:extLst>
              <a:ext uri="{FF2B5EF4-FFF2-40B4-BE49-F238E27FC236}">
                <a16:creationId xmlns:a16="http://schemas.microsoft.com/office/drawing/2014/main" id="{ADDB5C45-E535-4E4C-BA63-CB9EABE814E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A683B85-B72C-7940-AD4B-0A62C2FFD6A5}"/>
              </a:ext>
            </a:extLst>
          </p:cNvPr>
          <p:cNvSpPr>
            <a:spLocks noGrp="1"/>
          </p:cNvSpPr>
          <p:nvPr>
            <p:ph type="sldNum" sz="quarter" idx="12"/>
          </p:nvPr>
        </p:nvSpPr>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4291876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造旺计划标题页">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869675A-6A1B-9542-A582-E42B98658A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标题 10">
            <a:extLst>
              <a:ext uri="{FF2B5EF4-FFF2-40B4-BE49-F238E27FC236}">
                <a16:creationId xmlns:a16="http://schemas.microsoft.com/office/drawing/2014/main" id="{20B5BCF8-6276-9B48-9AD8-94B5AB680B6B}"/>
              </a:ext>
            </a:extLst>
          </p:cNvPr>
          <p:cNvSpPr>
            <a:spLocks noGrp="1"/>
          </p:cNvSpPr>
          <p:nvPr>
            <p:ph type="title" hasCustomPrompt="1"/>
          </p:nvPr>
        </p:nvSpPr>
        <p:spPr>
          <a:xfrm>
            <a:off x="620485" y="219983"/>
            <a:ext cx="3385457" cy="1013732"/>
          </a:xfrm>
        </p:spPr>
        <p:txBody>
          <a:bodyPr>
            <a:normAutofit/>
          </a:bodyPr>
          <a:lstStyle>
            <a:lvl1pPr>
              <a:defRPr sz="2400" b="1">
                <a:latin typeface="PingFang SC" panose="020B0400000000000000" pitchFamily="34" charset="-122"/>
                <a:ea typeface="PingFang SC" panose="020B0400000000000000" pitchFamily="34" charset="-122"/>
              </a:defRPr>
            </a:lvl1pPr>
          </a:lstStyle>
          <a:p>
            <a:r>
              <a:rPr kumimoji="1" lang="zh-CN" altLang="en-US"/>
              <a:t>造旺计划介绍</a:t>
            </a:r>
          </a:p>
        </p:txBody>
      </p:sp>
      <p:sp>
        <p:nvSpPr>
          <p:cNvPr id="13" name="文本占位符 12">
            <a:extLst>
              <a:ext uri="{FF2B5EF4-FFF2-40B4-BE49-F238E27FC236}">
                <a16:creationId xmlns:a16="http://schemas.microsoft.com/office/drawing/2014/main" id="{3EEE7E19-06D4-234C-A173-84E0FA935B8B}"/>
              </a:ext>
            </a:extLst>
          </p:cNvPr>
          <p:cNvSpPr>
            <a:spLocks noGrp="1"/>
          </p:cNvSpPr>
          <p:nvPr>
            <p:ph type="body" sz="quarter" idx="10" hasCustomPrompt="1"/>
          </p:nvPr>
        </p:nvSpPr>
        <p:spPr>
          <a:xfrm>
            <a:off x="4891995" y="3094944"/>
            <a:ext cx="5500234" cy="940027"/>
          </a:xfrm>
        </p:spPr>
        <p:txBody>
          <a:bodyPr>
            <a:noAutofit/>
          </a:bodyPr>
          <a:lstStyle>
            <a:lvl1pPr marL="0" indent="0">
              <a:buNone/>
              <a:defRPr sz="6000" b="1">
                <a:solidFill>
                  <a:schemeClr val="bg1"/>
                </a:solidFill>
                <a:latin typeface="PingFang SC" panose="020B0400000000000000" pitchFamily="34" charset="-122"/>
                <a:ea typeface="PingFang SC" panose="020B0400000000000000" pitchFamily="34" charset="-122"/>
              </a:defRPr>
            </a:lvl1pPr>
          </a:lstStyle>
          <a:p>
            <a:r>
              <a:rPr kumimoji="1" lang="zh-CN" altLang="en-US"/>
              <a:t>造旺计划介绍</a:t>
            </a:r>
          </a:p>
        </p:txBody>
      </p:sp>
      <p:sp>
        <p:nvSpPr>
          <p:cNvPr id="15" name="文本占位符 14">
            <a:extLst>
              <a:ext uri="{FF2B5EF4-FFF2-40B4-BE49-F238E27FC236}">
                <a16:creationId xmlns:a16="http://schemas.microsoft.com/office/drawing/2014/main" id="{FAF7D5DE-B703-A24E-A3C1-9DB066678B2B}"/>
              </a:ext>
            </a:extLst>
          </p:cNvPr>
          <p:cNvSpPr>
            <a:spLocks noGrp="1"/>
          </p:cNvSpPr>
          <p:nvPr>
            <p:ph type="body" sz="quarter" idx="11" hasCustomPrompt="1"/>
          </p:nvPr>
        </p:nvSpPr>
        <p:spPr>
          <a:xfrm>
            <a:off x="2424792" y="2959665"/>
            <a:ext cx="1581150" cy="1210583"/>
          </a:xfrm>
        </p:spPr>
        <p:txBody>
          <a:bodyPr anchor="ctr">
            <a:normAutofit/>
          </a:bodyPr>
          <a:lstStyle>
            <a:lvl1pPr marL="0" indent="0" algn="ctr">
              <a:buNone/>
              <a:defRPr sz="9600" b="1">
                <a:latin typeface="PingFang SC" panose="020B0400000000000000" pitchFamily="34" charset="-122"/>
                <a:ea typeface="PingFang SC" panose="020B0400000000000000" pitchFamily="34" charset="-122"/>
              </a:defRPr>
            </a:lvl1pPr>
          </a:lstStyle>
          <a:p>
            <a:r>
              <a:rPr kumimoji="1" lang="en-US" altLang="zh-CN"/>
              <a:t>01</a:t>
            </a:r>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CE68466C-4F74-0446-9F30-142392718E67}"/>
              </a:ext>
            </a:extLst>
          </p:cNvPr>
          <p:cNvSpPr>
            <a:spLocks noGrp="1"/>
          </p:cNvSpPr>
          <p:nvPr>
            <p:ph type="title" hasCustomPrompt="1"/>
          </p:nvPr>
        </p:nvSpPr>
        <p:spPr>
          <a:xfrm>
            <a:off x="605971" y="304801"/>
            <a:ext cx="3327401" cy="812800"/>
          </a:xfrm>
          <a:ln>
            <a:noFill/>
          </a:ln>
        </p:spPr>
        <p:txBody>
          <a:bodyPr>
            <a:normAutofit/>
          </a:bodyPr>
          <a:lstStyle>
            <a:lvl1pPr>
              <a:defRPr sz="2400" b="1">
                <a:latin typeface="PingFang SC" panose="020B0400000000000000" pitchFamily="34" charset="-122"/>
                <a:ea typeface="PingFang SC" panose="020B0400000000000000" pitchFamily="34" charset="-122"/>
              </a:defRPr>
            </a:lvl1pPr>
          </a:lstStyle>
          <a:p>
            <a:r>
              <a:rPr kumimoji="1" lang="zh-CN" altLang="en-US"/>
              <a:t>造旺计划介绍</a:t>
            </a:r>
          </a:p>
        </p:txBody>
      </p:sp>
      <p:pic>
        <p:nvPicPr>
          <p:cNvPr id="3" name="图片 2">
            <a:extLst>
              <a:ext uri="{FF2B5EF4-FFF2-40B4-BE49-F238E27FC236}">
                <a16:creationId xmlns:a16="http://schemas.microsoft.com/office/drawing/2014/main" id="{460D4A15-27F7-D046-8910-B42CE2C728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9E5EC715-5C5B-684D-95C8-DB50F359284C}"/>
              </a:ext>
            </a:extLst>
          </p:cNvPr>
          <p:cNvSpPr>
            <a:spLocks noGrp="1"/>
          </p:cNvSpPr>
          <p:nvPr>
            <p:ph type="sldNum" sz="quarter" idx="12"/>
          </p:nvPr>
        </p:nvSpPr>
        <p:spPr/>
        <p:txBody>
          <a:bodyPr/>
          <a:lstStyle/>
          <a:p>
            <a:fld id="{7D9BB5D0-35E4-459D-AEF3-FE4D7C45CC19}" type="slidenum">
              <a:rPr lang="zh-CN" altLang="en-US" smtClean="0"/>
              <a:t>‹#›</a:t>
            </a:fld>
            <a:endParaRPr lang="zh-CN" altLang="en-US"/>
          </a:p>
        </p:txBody>
      </p:sp>
      <p:pic>
        <p:nvPicPr>
          <p:cNvPr id="8" name="图片 7">
            <a:extLst>
              <a:ext uri="{FF2B5EF4-FFF2-40B4-BE49-F238E27FC236}">
                <a16:creationId xmlns:a16="http://schemas.microsoft.com/office/drawing/2014/main" id="{13B29259-7A82-FA42-B1CA-DED539279A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91761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1_标题和内容">
    <p:spTree>
      <p:nvGrpSpPr>
        <p:cNvPr id="1" name=""/>
        <p:cNvGrpSpPr/>
        <p:nvPr/>
      </p:nvGrpSpPr>
      <p:grpSpPr>
        <a:xfrm>
          <a:off x="0" y="0"/>
          <a:ext cx="0" cy="0"/>
          <a:chOff x="0" y="0"/>
          <a:chExt cx="0" cy="0"/>
        </a:xfrm>
      </p:grpSpPr>
      <p:pic>
        <p:nvPicPr>
          <p:cNvPr id="107" name="图片 7" descr="图片 7"/>
          <p:cNvPicPr>
            <a:picLocks noChangeAspect="1"/>
          </p:cNvPicPr>
          <p:nvPr/>
        </p:nvPicPr>
        <p:blipFill>
          <a:blip r:embed="rId2"/>
          <a:stretch>
            <a:fillRect/>
          </a:stretch>
        </p:blipFill>
        <p:spPr>
          <a:xfrm>
            <a:off x="6350" y="0"/>
            <a:ext cx="12179300" cy="6858000"/>
          </a:xfrm>
          <a:prstGeom prst="rect">
            <a:avLst/>
          </a:prstGeom>
          <a:ln w="12700">
            <a:miter lim="400000"/>
            <a:headEnd/>
            <a:tailEnd/>
          </a:ln>
        </p:spPr>
      </p:pic>
      <p:sp>
        <p:nvSpPr>
          <p:cNvPr id="108" name="幻灯片编号"/>
          <p:cNvSpPr txBox="1">
            <a:spLocks noGrp="1"/>
          </p:cNvSpPr>
          <p:nvPr>
            <p:ph type="sldNum" sz="quarter" idx="2"/>
          </p:nvPr>
        </p:nvSpPr>
        <p:spPr>
          <a:xfrm>
            <a:off x="8478981" y="6232199"/>
            <a:ext cx="258621" cy="248302"/>
          </a:xfrm>
          <a:prstGeom prst="rect">
            <a:avLst/>
          </a:prstGeom>
        </p:spPr>
        <p:txBody>
          <a:bodyPr/>
          <a:lstStyle>
            <a:lvl1pPr>
              <a:defRPr>
                <a:solidFill>
                  <a:srgbClr val="000000"/>
                </a:solidFill>
              </a:defRPr>
            </a:lvl1pPr>
          </a:lstStyle>
          <a:p>
            <a:fld id="{86CB4B4D-7CA3-9044-876B-883B54F8677D}" type="slidenum">
              <a:rPr/>
              <a:t>‹#›</a:t>
            </a:fld>
            <a:endParaRPr/>
          </a:p>
        </p:txBody>
      </p:sp>
    </p:spTree>
    <p:extLst>
      <p:ext uri="{BB962C8B-B14F-4D97-AF65-F5344CB8AC3E}">
        <p14:creationId xmlns:p14="http://schemas.microsoft.com/office/powerpoint/2010/main" val="306330948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8DC40-0A4A-D543-9563-D0E6012E037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833FFCA-B54E-E14F-BCE3-B83178D8D449}"/>
              </a:ext>
            </a:extLst>
          </p:cNvPr>
          <p:cNvSpPr>
            <a:spLocks noGrp="1"/>
          </p:cNvSpPr>
          <p:nvPr>
            <p:ph idx="1"/>
          </p:nvPr>
        </p:nvSpPr>
        <p:spPr/>
        <p:txBody>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EDE04339-6232-AA4D-8FDC-920BA6B7DB20}"/>
              </a:ext>
            </a:extLst>
          </p:cNvPr>
          <p:cNvSpPr>
            <a:spLocks noGrp="1"/>
          </p:cNvSpPr>
          <p:nvPr>
            <p:ph type="dt" sz="half" idx="10"/>
          </p:nvPr>
        </p:nvSpPr>
        <p:spPr/>
        <p:txBody>
          <a:bodyPr/>
          <a:lstStyle/>
          <a:p>
            <a:fld id="{38550438-5576-F941-82E6-6614406B676F}" type="datetime1">
              <a:rPr kumimoji="1" lang="zh-CN" altLang="en-US" smtClean="0"/>
              <a:t>2026/9/1</a:t>
            </a:fld>
            <a:endParaRPr kumimoji="1" lang="zh-CN" altLang="en-US"/>
          </a:p>
        </p:txBody>
      </p:sp>
      <p:sp>
        <p:nvSpPr>
          <p:cNvPr id="5" name="页脚占位符 4">
            <a:extLst>
              <a:ext uri="{FF2B5EF4-FFF2-40B4-BE49-F238E27FC236}">
                <a16:creationId xmlns:a16="http://schemas.microsoft.com/office/drawing/2014/main" id="{941FDDA3-0306-BF46-823A-0501D336C28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3CE3855-8CB9-2C49-874C-A0311117778C}"/>
              </a:ext>
            </a:extLst>
          </p:cNvPr>
          <p:cNvSpPr>
            <a:spLocks noGrp="1"/>
          </p:cNvSpPr>
          <p:nvPr>
            <p:ph type="sldNum" sz="quarter" idx="12"/>
          </p:nvPr>
        </p:nvSpPr>
        <p:spPr>
          <a:xfrm>
            <a:off x="11397339" y="6356350"/>
            <a:ext cx="707571" cy="365125"/>
          </a:xfrm>
        </p:spPr>
        <p:txBody>
          <a:bodyPr/>
          <a:lstStyle/>
          <a:p>
            <a:fld id="{A8665799-D26D-D845-9057-CC0C3DD59A89}" type="slidenum">
              <a:rPr kumimoji="1" lang="zh-CN" altLang="en-US" smtClean="0"/>
              <a:t>‹#›</a:t>
            </a:fld>
            <a:endParaRPr kumimoji="1" lang="zh-CN" altLang="en-US"/>
          </a:p>
        </p:txBody>
      </p:sp>
    </p:spTree>
    <p:extLst>
      <p:ext uri="{BB962C8B-B14F-4D97-AF65-F5344CB8AC3E}">
        <p14:creationId xmlns:p14="http://schemas.microsoft.com/office/powerpoint/2010/main" val="96044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2026/9/1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pic>
        <p:nvPicPr>
          <p:cNvPr id="8" name="图片 7">
            <a:extLst>
              <a:ext uri="{FF2B5EF4-FFF2-40B4-BE49-F238E27FC236}">
                <a16:creationId xmlns:a16="http://schemas.microsoft.com/office/drawing/2014/main" id="{7BBEFBF2-AA20-4B43-8EA6-94A30DAD94E9}"/>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49" r:id="rId2"/>
    <p:sldLayoutId id="2147483650" r:id="rId3"/>
    <p:sldLayoutId id="2147483651"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8.jpeg"/><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tags" Target="../tags/tag3.xml"/><Relationship Id="rId7" Type="http://schemas.openxmlformats.org/officeDocument/2006/relationships/image" Target="../media/image19.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9.png"/><Relationship Id="rId5" Type="http://schemas.openxmlformats.org/officeDocument/2006/relationships/slideLayout" Target="../slideLayouts/slideLayout5.xml"/><Relationship Id="rId4"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43.jpg"/><Relationship Id="rId4" Type="http://schemas.openxmlformats.org/officeDocument/2006/relationships/image" Target="../media/image42.jp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54.jpe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58.jpeg"/><Relationship Id="rId5" Type="http://schemas.openxmlformats.org/officeDocument/2006/relationships/image" Target="../media/image57.png"/><Relationship Id="rId4" Type="http://schemas.openxmlformats.org/officeDocument/2006/relationships/image" Target="../media/image56.jpe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61.jpeg"/><Relationship Id="rId4" Type="http://schemas.openxmlformats.org/officeDocument/2006/relationships/image" Target="../media/image60.jpeg"/></Relationships>
</file>

<file path=ppt/slides/_rels/slide32.xml.rels><?xml version="1.0" encoding="UTF-8" standalone="yes"?>
<Relationships xmlns="http://schemas.openxmlformats.org/package/2006/relationships"><Relationship Id="rId3" Type="http://schemas.openxmlformats.org/officeDocument/2006/relationships/image" Target="../media/image62.tiff"/><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63.tiff"/></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jpeg"/></Relationships>
</file>

<file path=ppt/slides/_rels/slide3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69.jpeg"/><Relationship Id="rId4" Type="http://schemas.openxmlformats.org/officeDocument/2006/relationships/image" Target="../media/image68.jpeg"/></Relationships>
</file>

<file path=ppt/slides/_rels/slide3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72.jpeg"/><Relationship Id="rId4" Type="http://schemas.openxmlformats.org/officeDocument/2006/relationships/image" Target="../media/image71.jpeg"/></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jpe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77.jpeg"/><Relationship Id="rId5" Type="http://schemas.openxmlformats.org/officeDocument/2006/relationships/image" Target="../media/image75.png"/><Relationship Id="rId4" Type="http://schemas.openxmlformats.org/officeDocument/2006/relationships/image" Target="../media/image74.jpeg"/></Relationships>
</file>

<file path=ppt/slides/_rels/slide3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19.jpeg"/></Relationships>
</file>

<file path=ppt/slides/_rels/slide3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4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85.png"/></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86.png"/></Relationships>
</file>

<file path=ppt/slides/_rels/slide4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88.png"/></Relationships>
</file>

<file path=ppt/slides/_rels/slide4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93.jpeg"/><Relationship Id="rId4" Type="http://schemas.openxmlformats.org/officeDocument/2006/relationships/image" Target="../media/image92.jpeg"/></Relationships>
</file>

<file path=ppt/slides/_rels/slide5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96.png"/><Relationship Id="rId4" Type="http://schemas.openxmlformats.org/officeDocument/2006/relationships/image" Target="../media/image95.png"/></Relationships>
</file>

<file path=ppt/slides/_rels/slide51.xml.rels><?xml version="1.0" encoding="UTF-8" standalone="yes"?>
<Relationships xmlns="http://schemas.openxmlformats.org/package/2006/relationships"><Relationship Id="rId3" Type="http://schemas.openxmlformats.org/officeDocument/2006/relationships/image" Target="../media/image97.png"/><Relationship Id="rId7"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00.png"/><Relationship Id="rId5" Type="http://schemas.openxmlformats.org/officeDocument/2006/relationships/image" Target="../media/image99.jpg"/><Relationship Id="rId4" Type="http://schemas.openxmlformats.org/officeDocument/2006/relationships/image" Target="../media/image98.png"/></Relationships>
</file>

<file path=ppt/slides/_rels/slide52.xml.rels><?xml version="1.0" encoding="UTF-8" standalone="yes"?>
<Relationships xmlns="http://schemas.openxmlformats.org/package/2006/relationships"><Relationship Id="rId3" Type="http://schemas.openxmlformats.org/officeDocument/2006/relationships/hyperlink" Target="http://www.hotkidceo.com/ceo/map/" TargetMode="External"/><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hyperlink" Target="https://app.fenbeitong.com/" TargetMode="External"/><Relationship Id="rId4" Type="http://schemas.openxmlformats.org/officeDocument/2006/relationships/hyperlink" Target="https://i.want-want.com/"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6.xml"/><Relationship Id="rId4" Type="http://schemas.openxmlformats.org/officeDocument/2006/relationships/image" Target="../media/image10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FCF2B-27A7-D379-EA8F-6D8723276141}"/>
              </a:ext>
            </a:extLst>
          </p:cNvPr>
          <p:cNvSpPr>
            <a:spLocks noGrp="1"/>
          </p:cNvSpPr>
          <p:nvPr>
            <p:ph type="title"/>
          </p:nvPr>
        </p:nvSpPr>
        <p:spPr/>
        <p:txBody>
          <a:bodyPr/>
          <a:lstStyle/>
          <a:p>
            <a:endParaRPr kumimoji="1" lang="zh-CN" altLang="en-US" dirty="0"/>
          </a:p>
        </p:txBody>
      </p:sp>
      <p:pic>
        <p:nvPicPr>
          <p:cNvPr id="6" name="内容占位符 5">
            <a:extLst>
              <a:ext uri="{FF2B5EF4-FFF2-40B4-BE49-F238E27FC236}">
                <a16:creationId xmlns:a16="http://schemas.microsoft.com/office/drawing/2014/main" id="{4DD4D268-7A78-3644-AE13-CCC46FB1FD27}"/>
              </a:ext>
            </a:extLst>
          </p:cNvPr>
          <p:cNvPicPr>
            <a:picLocks noGrp="1" noChangeAspect="1"/>
          </p:cNvPicPr>
          <p:nvPr>
            <p:ph idx="1"/>
          </p:nvPr>
        </p:nvPicPr>
        <p:blipFill>
          <a:blip r:embed="rId3"/>
          <a:stretch>
            <a:fillRect/>
          </a:stretch>
        </p:blipFill>
        <p:spPr>
          <a:xfrm>
            <a:off x="-1" y="0"/>
            <a:ext cx="12192001" cy="6858000"/>
          </a:xfrm>
        </p:spPr>
      </p:pic>
      <p:sp>
        <p:nvSpPr>
          <p:cNvPr id="4" name="灯片编号占位符 3">
            <a:extLst>
              <a:ext uri="{FF2B5EF4-FFF2-40B4-BE49-F238E27FC236}">
                <a16:creationId xmlns:a16="http://schemas.microsoft.com/office/drawing/2014/main" id="{66EE5CE8-52D8-4677-A7F5-35E2DCADF65A}"/>
              </a:ext>
            </a:extLst>
          </p:cNvPr>
          <p:cNvSpPr>
            <a:spLocks noGrp="1"/>
          </p:cNvSpPr>
          <p:nvPr>
            <p:ph type="sldNum" sz="quarter" idx="12"/>
          </p:nvPr>
        </p:nvSpPr>
        <p:spPr/>
        <p:txBody>
          <a:bodyPr/>
          <a:lstStyle/>
          <a:p>
            <a:fld id="{A8665799-D26D-D845-9057-CC0C3DD59A89}" type="slidenum">
              <a:rPr kumimoji="1" lang="zh-CN" altLang="en-US" smtClean="0"/>
              <a:t>1</a:t>
            </a:fld>
            <a:endParaRPr kumimoji="1" lang="zh-CN" altLang="en-US"/>
          </a:p>
        </p:txBody>
      </p:sp>
      <p:sp>
        <p:nvSpPr>
          <p:cNvPr id="3" name="造旺试岗人员学习流程图及操作方法">
            <a:extLst>
              <a:ext uri="{FF2B5EF4-FFF2-40B4-BE49-F238E27FC236}">
                <a16:creationId xmlns:a16="http://schemas.microsoft.com/office/drawing/2014/main" id="{A8F9E218-6922-4712-218B-0A9F7AA50638}"/>
              </a:ext>
            </a:extLst>
          </p:cNvPr>
          <p:cNvSpPr txBox="1"/>
          <p:nvPr/>
        </p:nvSpPr>
        <p:spPr>
          <a:xfrm>
            <a:off x="711946" y="2609562"/>
            <a:ext cx="7017302" cy="10156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a:solidFill>
                  <a:srgbClr val="FFFFFF"/>
                </a:solidFill>
                <a:latin typeface="Arial"/>
                <a:ea typeface="Arial"/>
                <a:cs typeface="Arial"/>
                <a:sym typeface="Arial"/>
              </a:defRPr>
            </a:pPr>
            <a:r>
              <a:rPr kumimoji="0" lang="zh-CN" altLang="en-US" sz="6000"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Arial"/>
                <a:sym typeface="Arial"/>
              </a:rPr>
              <a:t>差旅流程及注意事项</a:t>
            </a:r>
          </a:p>
        </p:txBody>
      </p:sp>
      <p:pic>
        <p:nvPicPr>
          <p:cNvPr id="13" name="图片 12">
            <a:extLst>
              <a:ext uri="{FF2B5EF4-FFF2-40B4-BE49-F238E27FC236}">
                <a16:creationId xmlns:a16="http://schemas.microsoft.com/office/drawing/2014/main" id="{DDEAAAD6-B5E7-0987-3E53-6CB30754F848}"/>
              </a:ext>
            </a:extLst>
          </p:cNvPr>
          <p:cNvPicPr>
            <a:picLocks noChangeAspect="1"/>
          </p:cNvPicPr>
          <p:nvPr/>
        </p:nvPicPr>
        <p:blipFill>
          <a:blip r:embed="rId4"/>
          <a:stretch>
            <a:fillRect/>
          </a:stretch>
        </p:blipFill>
        <p:spPr>
          <a:xfrm>
            <a:off x="838200" y="363770"/>
            <a:ext cx="1606550" cy="320251"/>
          </a:xfrm>
          <a:prstGeom prst="rect">
            <a:avLst/>
          </a:prstGeom>
        </p:spPr>
      </p:pic>
      <p:pic>
        <p:nvPicPr>
          <p:cNvPr id="7" name="图片 6">
            <a:extLst>
              <a:ext uri="{FF2B5EF4-FFF2-40B4-BE49-F238E27FC236}">
                <a16:creationId xmlns:a16="http://schemas.microsoft.com/office/drawing/2014/main" id="{4C02E1F9-3AD2-EDF3-10F4-706634B53F64}"/>
              </a:ext>
            </a:extLst>
          </p:cNvPr>
          <p:cNvPicPr>
            <a:picLocks noChangeAspect="1"/>
          </p:cNvPicPr>
          <p:nvPr/>
        </p:nvPicPr>
        <p:blipFill>
          <a:blip r:embed="rId5"/>
          <a:stretch>
            <a:fillRect/>
          </a:stretch>
        </p:blipFill>
        <p:spPr>
          <a:xfrm>
            <a:off x="7449104" y="1445762"/>
            <a:ext cx="3140923" cy="4672318"/>
          </a:xfrm>
          <a:prstGeom prst="rect">
            <a:avLst/>
          </a:prstGeom>
        </p:spPr>
      </p:pic>
    </p:spTree>
    <p:extLst>
      <p:ext uri="{BB962C8B-B14F-4D97-AF65-F5344CB8AC3E}">
        <p14:creationId xmlns:p14="http://schemas.microsoft.com/office/powerpoint/2010/main" val="3413936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ED32-FB5A-F89E-AC9C-53074ED2C897}"/>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EA71B9FB-9BBD-61CF-2637-F53E1DFDCAF4}"/>
              </a:ext>
            </a:extLst>
          </p:cNvPr>
          <p:cNvPicPr>
            <a:picLocks noChangeAspect="1"/>
          </p:cNvPicPr>
          <p:nvPr/>
        </p:nvPicPr>
        <p:blipFill>
          <a:blip r:embed="rId2"/>
          <a:stretch>
            <a:fillRect/>
          </a:stretch>
        </p:blipFill>
        <p:spPr>
          <a:xfrm>
            <a:off x="359311" y="5901212"/>
            <a:ext cx="1308100" cy="469900"/>
          </a:xfrm>
          <a:prstGeom prst="rect">
            <a:avLst/>
          </a:prstGeom>
        </p:spPr>
      </p:pic>
      <p:sp>
        <p:nvSpPr>
          <p:cNvPr id="8" name="任意形状 7">
            <a:extLst>
              <a:ext uri="{FF2B5EF4-FFF2-40B4-BE49-F238E27FC236}">
                <a16:creationId xmlns:a16="http://schemas.microsoft.com/office/drawing/2014/main" id="{28060B8F-CEB4-FB28-6103-58739D86448E}"/>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员工差旅所需软件</a:t>
            </a:r>
          </a:p>
        </p:txBody>
      </p:sp>
      <p:graphicFrame>
        <p:nvGraphicFramePr>
          <p:cNvPr id="4" name="表格 3">
            <a:extLst>
              <a:ext uri="{FF2B5EF4-FFF2-40B4-BE49-F238E27FC236}">
                <a16:creationId xmlns:a16="http://schemas.microsoft.com/office/drawing/2014/main" id="{05C977DC-710E-2D5B-E9A7-4E46068D14BC}"/>
              </a:ext>
            </a:extLst>
          </p:cNvPr>
          <p:cNvGraphicFramePr>
            <a:graphicFrameLocks noGrp="1"/>
          </p:cNvGraphicFramePr>
          <p:nvPr>
            <p:extLst>
              <p:ext uri="{D42A27DB-BD31-4B8C-83A1-F6EECF244321}">
                <p14:modId xmlns:p14="http://schemas.microsoft.com/office/powerpoint/2010/main" val="316890582"/>
              </p:ext>
            </p:extLst>
          </p:nvPr>
        </p:nvGraphicFramePr>
        <p:xfrm>
          <a:off x="4796649" y="982640"/>
          <a:ext cx="7016532" cy="4918576"/>
        </p:xfrm>
        <a:graphic>
          <a:graphicData uri="http://schemas.openxmlformats.org/drawingml/2006/table">
            <a:tbl>
              <a:tblPr/>
              <a:tblGrid>
                <a:gridCol w="1003650">
                  <a:extLst>
                    <a:ext uri="{9D8B030D-6E8A-4147-A177-3AD203B41FA5}">
                      <a16:colId xmlns:a16="http://schemas.microsoft.com/office/drawing/2014/main" val="822724929"/>
                    </a:ext>
                  </a:extLst>
                </a:gridCol>
                <a:gridCol w="3414953">
                  <a:extLst>
                    <a:ext uri="{9D8B030D-6E8A-4147-A177-3AD203B41FA5}">
                      <a16:colId xmlns:a16="http://schemas.microsoft.com/office/drawing/2014/main" val="192238236"/>
                    </a:ext>
                  </a:extLst>
                </a:gridCol>
                <a:gridCol w="2597929">
                  <a:extLst>
                    <a:ext uri="{9D8B030D-6E8A-4147-A177-3AD203B41FA5}">
                      <a16:colId xmlns:a16="http://schemas.microsoft.com/office/drawing/2014/main" val="2753806277"/>
                    </a:ext>
                  </a:extLst>
                </a:gridCol>
              </a:tblGrid>
              <a:tr h="614822">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员工签约类型</a:t>
                      </a:r>
                    </a:p>
                  </a:txBody>
                  <a:tcPr marL="6799" marR="6799" marT="6799"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报销内容</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所需软件</a:t>
                      </a: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515184957"/>
                  </a:ext>
                </a:extLst>
              </a:tr>
              <a:tr h="614822">
                <a:tc rowSpan="7">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所有员工</a:t>
                      </a:r>
                    </a:p>
                  </a:txBody>
                  <a:tcPr marL="6799" marR="6799" marT="6799"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差旅住宿</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分贝通</a:t>
                      </a: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55810760"/>
                  </a:ext>
                </a:extLst>
              </a:tr>
              <a:tr h="614822">
                <a:tc vMerge="1">
                  <a:txBody>
                    <a:bodyPr/>
                    <a:lstStyle/>
                    <a:p>
                      <a:endParaRPr lang="zh-CN" altLang="en-US"/>
                    </a:p>
                  </a:txBody>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差旅公共交通</a:t>
                      </a:r>
                      <a:b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（客轮</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高铁</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火车</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出租车</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网约车</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飞机）</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分贝通</a:t>
                      </a: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4219076674"/>
                  </a:ext>
                </a:extLst>
              </a:tr>
              <a:tr h="614822">
                <a:tc vMerge="1">
                  <a:txBody>
                    <a:bodyPr/>
                    <a:lstStyle/>
                    <a:p>
                      <a:endParaRPr lang="zh-CN" altLang="en-US"/>
                    </a:p>
                  </a:txBody>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会议住宿</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分贝通</a:t>
                      </a: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73534454"/>
                  </a:ext>
                </a:extLst>
              </a:tr>
              <a:tr h="614822">
                <a:tc vMerge="1">
                  <a:txBody>
                    <a:bodyPr/>
                    <a:lstStyle/>
                    <a:p>
                      <a:endParaRPr lang="zh-CN" altLang="en-US"/>
                    </a:p>
                  </a:txBody>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会议公共交通</a:t>
                      </a:r>
                      <a:b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（客轮</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高铁</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火车</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出租车</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网约车</a:t>
                      </a: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飞机）</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分贝通</a:t>
                      </a: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98345551"/>
                  </a:ext>
                </a:extLst>
              </a:tr>
              <a:tr h="614822">
                <a:tc vMerge="1">
                  <a:txBody>
                    <a:bodyPr/>
                    <a:lstStyle/>
                    <a:p>
                      <a:endParaRPr lang="zh-CN" altLang="en-US"/>
                    </a:p>
                  </a:txBody>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会议聚餐</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s-419" sz="1000" b="0" i="0" u="none" strike="noStrike" dirty="0">
                          <a:solidFill>
                            <a:srgbClr val="000000"/>
                          </a:solidFill>
                          <a:effectLst/>
                          <a:latin typeface="微软雅黑" panose="020B0503020204020204" pitchFamily="34" charset="-122"/>
                          <a:ea typeface="微软雅黑" panose="020B0503020204020204" pitchFamily="34" charset="-122"/>
                        </a:rPr>
                        <a:t>SFA</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516334067"/>
                  </a:ext>
                </a:extLst>
              </a:tr>
              <a:tr h="614822">
                <a:tc vMerge="1">
                  <a:txBody>
                    <a:bodyPr/>
                    <a:lstStyle/>
                    <a:p>
                      <a:endParaRPr lang="zh-CN" altLang="en-US"/>
                    </a:p>
                  </a:txBody>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自驾油补</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无需报销</a:t>
                      </a:r>
                      <a:br>
                        <a:rPr lang="zh-CN" altLang="en-US" sz="10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根据各组别油补额度随薪资固定发放</a:t>
                      </a: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27533704"/>
                  </a:ext>
                </a:extLst>
              </a:tr>
              <a:tr h="614822">
                <a:tc vMerge="1">
                  <a:txBody>
                    <a:bodyPr/>
                    <a:lstStyle/>
                    <a:p>
                      <a:endParaRPr lang="zh-CN" altLang="en-US"/>
                    </a:p>
                  </a:txBody>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差旅餐补</a:t>
                      </a:r>
                    </a:p>
                  </a:txBody>
                  <a:tcPr marL="6799" marR="6799" marT="6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无需报销</a:t>
                      </a:r>
                      <a:b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根据各组别餐补额度随薪资固定发放</a:t>
                      </a:r>
                    </a:p>
                  </a:txBody>
                  <a:tcPr marL="6799" marR="6799" marT="679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45125443"/>
                  </a:ext>
                </a:extLst>
              </a:tr>
            </a:tbl>
          </a:graphicData>
        </a:graphic>
      </p:graphicFrame>
      <p:sp>
        <p:nvSpPr>
          <p:cNvPr id="5" name="文本框 4">
            <a:extLst>
              <a:ext uri="{FF2B5EF4-FFF2-40B4-BE49-F238E27FC236}">
                <a16:creationId xmlns:a16="http://schemas.microsoft.com/office/drawing/2014/main" id="{B9EEF090-7D0F-C432-C6E4-D2A0871FF299}"/>
              </a:ext>
            </a:extLst>
          </p:cNvPr>
          <p:cNvSpPr txBox="1"/>
          <p:nvPr/>
        </p:nvSpPr>
        <p:spPr>
          <a:xfrm>
            <a:off x="183577" y="2173728"/>
            <a:ext cx="4429496" cy="2536400"/>
          </a:xfrm>
          <a:prstGeom prst="rect">
            <a:avLst/>
          </a:prstGeom>
          <a:noFill/>
        </p:spPr>
        <p:txBody>
          <a:bodyPr wrap="square" rtlCol="0">
            <a:spAutoFit/>
          </a:bodyPr>
          <a:lstStyle/>
          <a:p>
            <a:pPr>
              <a:lnSpc>
                <a:spcPct val="150000"/>
              </a:lnSpc>
            </a:pPr>
            <a:r>
              <a:rPr kumimoji="1" lang="zh-CN" altLang="en-US" b="1" dirty="0">
                <a:latin typeface="Microsoft YaHei" panose="020B0503020204020204" pitchFamily="34" charset="-122"/>
                <a:ea typeface="Microsoft YaHei" panose="020B0503020204020204" pitchFamily="34" charset="-122"/>
              </a:rPr>
              <a:t>差旅所需软件为：</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en-US" altLang="zh-CN" b="1" dirty="0">
                <a:solidFill>
                  <a:srgbClr val="FF0000"/>
                </a:solidFill>
                <a:latin typeface="Microsoft YaHei" panose="020B0503020204020204" pitchFamily="34" charset="-122"/>
                <a:ea typeface="Microsoft YaHei" panose="020B0503020204020204" pitchFamily="34" charset="-122"/>
              </a:rPr>
              <a:t>SFA</a:t>
            </a:r>
            <a:r>
              <a:rPr kumimoji="1" lang="zh-CN" altLang="en-US" b="1" dirty="0">
                <a:solidFill>
                  <a:srgbClr val="FF0000"/>
                </a:solidFill>
                <a:latin typeface="Microsoft YaHei" panose="020B0503020204020204" pitchFamily="34" charset="-122"/>
                <a:ea typeface="Microsoft YaHei" panose="020B0503020204020204" pitchFamily="34" charset="-122"/>
              </a:rPr>
              <a:t>、分贝通</a:t>
            </a:r>
            <a:endParaRPr kumimoji="1" lang="en-US" altLang="zh-CN"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请务必在入职后第一时间下载</a:t>
            </a:r>
            <a:r>
              <a:rPr kumimoji="1" lang="en-US" altLang="zh-CN" b="1" dirty="0">
                <a:latin typeface="Microsoft YaHei" panose="020B0503020204020204" pitchFamily="34" charset="-122"/>
                <a:ea typeface="Microsoft YaHei" panose="020B0503020204020204" pitchFamily="34" charset="-122"/>
              </a:rPr>
              <a:t>APP</a:t>
            </a:r>
            <a:r>
              <a:rPr kumimoji="1" lang="zh-CN" altLang="en-US" b="1" dirty="0">
                <a:latin typeface="Microsoft YaHei" panose="020B0503020204020204" pitchFamily="34" charset="-122"/>
                <a:ea typeface="Microsoft YaHei" panose="020B0503020204020204" pitchFamily="34" charset="-122"/>
              </a:rPr>
              <a:t>或收藏网址，方便业务后续提交出差申请</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下载二维码、网址详见</a:t>
            </a:r>
            <a:r>
              <a:rPr kumimoji="1" lang="zh-CN" altLang="en-US" b="1" dirty="0">
                <a:solidFill>
                  <a:srgbClr val="FF0000"/>
                </a:solidFill>
                <a:latin typeface="Microsoft YaHei" panose="020B0503020204020204" pitchFamily="34" charset="-122"/>
                <a:ea typeface="Microsoft YaHei" panose="020B0503020204020204" pitchFamily="34" charset="-122"/>
              </a:rPr>
              <a:t>此</a:t>
            </a:r>
            <a:r>
              <a:rPr kumimoji="1" lang="en-US" altLang="zh-CN" b="1" dirty="0">
                <a:solidFill>
                  <a:srgbClr val="FF0000"/>
                </a:solidFill>
                <a:latin typeface="Microsoft YaHei" panose="020B0503020204020204" pitchFamily="34" charset="-122"/>
                <a:ea typeface="Microsoft YaHei" panose="020B0503020204020204" pitchFamily="34" charset="-122"/>
              </a:rPr>
              <a:t>PPT</a:t>
            </a:r>
            <a:r>
              <a:rPr kumimoji="1" lang="zh-CN" altLang="en-US" b="1" dirty="0">
                <a:solidFill>
                  <a:srgbClr val="FF0000"/>
                </a:solidFill>
                <a:latin typeface="Microsoft YaHei" panose="020B0503020204020204" pitchFamily="34" charset="-122"/>
                <a:ea typeface="Microsoft YaHei" panose="020B0503020204020204" pitchFamily="34" charset="-122"/>
              </a:rPr>
              <a:t>第 </a:t>
            </a:r>
            <a:r>
              <a:rPr kumimoji="1" lang="en-US" altLang="zh-CN" b="1" dirty="0">
                <a:solidFill>
                  <a:srgbClr val="FF0000"/>
                </a:solidFill>
                <a:latin typeface="Microsoft YaHei" panose="020B0503020204020204" pitchFamily="34" charset="-122"/>
                <a:ea typeface="Microsoft YaHei" panose="020B0503020204020204" pitchFamily="34" charset="-122"/>
              </a:rPr>
              <a:t>35</a:t>
            </a:r>
            <a:r>
              <a:rPr kumimoji="1" lang="zh-CN" altLang="en-US" b="1" dirty="0">
                <a:solidFill>
                  <a:srgbClr val="FF0000"/>
                </a:solidFill>
                <a:latin typeface="Microsoft YaHei" panose="020B0503020204020204" pitchFamily="34" charset="-122"/>
                <a:ea typeface="Microsoft YaHei" panose="020B0503020204020204" pitchFamily="34" charset="-122"/>
              </a:rPr>
              <a:t>、</a:t>
            </a:r>
            <a:r>
              <a:rPr kumimoji="1" lang="en-US" altLang="zh-CN" b="1" dirty="0">
                <a:solidFill>
                  <a:srgbClr val="FF0000"/>
                </a:solidFill>
                <a:latin typeface="Microsoft YaHei" panose="020B0503020204020204" pitchFamily="34" charset="-122"/>
                <a:ea typeface="Microsoft YaHei" panose="020B0503020204020204" pitchFamily="34" charset="-122"/>
              </a:rPr>
              <a:t>36</a:t>
            </a:r>
            <a:r>
              <a:rPr kumimoji="1" lang="zh-CN" altLang="en-US" b="1" dirty="0">
                <a:solidFill>
                  <a:srgbClr val="FF0000"/>
                </a:solidFill>
                <a:latin typeface="Microsoft YaHei" panose="020B0503020204020204" pitchFamily="34" charset="-122"/>
                <a:ea typeface="Microsoft YaHei" panose="020B0503020204020204" pitchFamily="34" charset="-122"/>
              </a:rPr>
              <a:t>页</a:t>
            </a:r>
            <a:r>
              <a:rPr kumimoji="1" lang="zh-CN" altLang="en-US" b="1"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422758283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lumMod val="5000"/>
                <a:lumOff val="95000"/>
              </a:schemeClr>
            </a:gs>
            <a:gs pos="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0C67040A-D15A-642C-9D3B-99EBCEDEF28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4670C22F-45C1-C028-B879-9037F55990ED}"/>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BAA2CDF2-4736-B26A-2D87-C8F304B25B2D}"/>
              </a:ext>
            </a:extLst>
          </p:cNvPr>
          <p:cNvSpPr>
            <a:spLocks/>
          </p:cNvSpPr>
          <p:nvPr/>
        </p:nvSpPr>
        <p:spPr>
          <a:xfrm>
            <a:off x="0" y="351690"/>
            <a:ext cx="5327530"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差旅流程：出差</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公出</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会议（个人垫资线下报销）</a:t>
            </a:r>
          </a:p>
        </p:txBody>
      </p:sp>
      <p:sp>
        <p:nvSpPr>
          <p:cNvPr id="5" name="梯形 4">
            <a:extLst>
              <a:ext uri="{FF2B5EF4-FFF2-40B4-BE49-F238E27FC236}">
                <a16:creationId xmlns:a16="http://schemas.microsoft.com/office/drawing/2014/main" id="{06FFA7EE-861F-54EC-8EDD-64D9735E7882}"/>
              </a:ext>
            </a:extLst>
          </p:cNvPr>
          <p:cNvSpPr/>
          <p:nvPr/>
        </p:nvSpPr>
        <p:spPr>
          <a:xfrm rot="5400000">
            <a:off x="71252" y="4013861"/>
            <a:ext cx="2921328" cy="570015"/>
          </a:xfrm>
          <a:prstGeom prst="trapezoid">
            <a:avLst>
              <a:gd name="adj" fmla="val 68781"/>
            </a:avLst>
          </a:prstGeom>
          <a:gradFill flip="none" rotWithShape="1">
            <a:gsLst>
              <a:gs pos="100000">
                <a:schemeClr val="accent2">
                  <a:lumMod val="5000"/>
                  <a:lumOff val="95000"/>
                </a:schemeClr>
              </a:gs>
              <a:gs pos="0">
                <a:schemeClr val="accent2">
                  <a:lumMod val="45000"/>
                  <a:lumOff val="55000"/>
                </a:schemeClr>
              </a:gs>
              <a:gs pos="100000">
                <a:schemeClr val="accent2">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梯形 6">
            <a:extLst>
              <a:ext uri="{FF2B5EF4-FFF2-40B4-BE49-F238E27FC236}">
                <a16:creationId xmlns:a16="http://schemas.microsoft.com/office/drawing/2014/main" id="{39722049-05E2-408E-95AD-3893CDA7697E}"/>
              </a:ext>
            </a:extLst>
          </p:cNvPr>
          <p:cNvSpPr/>
          <p:nvPr/>
        </p:nvSpPr>
        <p:spPr>
          <a:xfrm rot="5400000">
            <a:off x="2461885" y="4013861"/>
            <a:ext cx="2921328" cy="570015"/>
          </a:xfrm>
          <a:prstGeom prst="trapezoid">
            <a:avLst>
              <a:gd name="adj" fmla="val 68781"/>
            </a:avLst>
          </a:prstGeom>
          <a:gradFill flip="none" rotWithShape="1">
            <a:gsLst>
              <a:gs pos="100000">
                <a:schemeClr val="accent2">
                  <a:lumMod val="5000"/>
                  <a:lumOff val="95000"/>
                </a:schemeClr>
              </a:gs>
              <a:gs pos="0">
                <a:schemeClr val="accent2">
                  <a:lumMod val="45000"/>
                  <a:lumOff val="55000"/>
                </a:schemeClr>
              </a:gs>
              <a:gs pos="100000">
                <a:schemeClr val="accent2">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梯形 9">
            <a:extLst>
              <a:ext uri="{FF2B5EF4-FFF2-40B4-BE49-F238E27FC236}">
                <a16:creationId xmlns:a16="http://schemas.microsoft.com/office/drawing/2014/main" id="{6F79A997-0359-0250-9619-554059C6B6DE}"/>
              </a:ext>
            </a:extLst>
          </p:cNvPr>
          <p:cNvSpPr/>
          <p:nvPr/>
        </p:nvSpPr>
        <p:spPr>
          <a:xfrm rot="5400000">
            <a:off x="4852517" y="4013861"/>
            <a:ext cx="2921328" cy="570015"/>
          </a:xfrm>
          <a:prstGeom prst="trapezoid">
            <a:avLst>
              <a:gd name="adj" fmla="val 68781"/>
            </a:avLst>
          </a:prstGeom>
          <a:gradFill flip="none" rotWithShape="1">
            <a:gsLst>
              <a:gs pos="100000">
                <a:schemeClr val="accent2">
                  <a:lumMod val="5000"/>
                  <a:lumOff val="95000"/>
                </a:schemeClr>
              </a:gs>
              <a:gs pos="0">
                <a:schemeClr val="accent2">
                  <a:lumMod val="45000"/>
                  <a:lumOff val="55000"/>
                </a:schemeClr>
              </a:gs>
              <a:gs pos="100000">
                <a:schemeClr val="accent2">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梯形 11">
            <a:extLst>
              <a:ext uri="{FF2B5EF4-FFF2-40B4-BE49-F238E27FC236}">
                <a16:creationId xmlns:a16="http://schemas.microsoft.com/office/drawing/2014/main" id="{6B6BCBB6-7533-BEA9-63F3-D3E84930E565}"/>
              </a:ext>
            </a:extLst>
          </p:cNvPr>
          <p:cNvSpPr/>
          <p:nvPr/>
        </p:nvSpPr>
        <p:spPr>
          <a:xfrm rot="5400000">
            <a:off x="7238984" y="4013861"/>
            <a:ext cx="2921328" cy="570015"/>
          </a:xfrm>
          <a:prstGeom prst="trapezoid">
            <a:avLst>
              <a:gd name="adj" fmla="val 68781"/>
            </a:avLst>
          </a:prstGeom>
          <a:gradFill flip="none" rotWithShape="1">
            <a:gsLst>
              <a:gs pos="100000">
                <a:schemeClr val="accent2">
                  <a:lumMod val="5000"/>
                  <a:lumOff val="95000"/>
                </a:schemeClr>
              </a:gs>
              <a:gs pos="0">
                <a:schemeClr val="accent2">
                  <a:lumMod val="45000"/>
                  <a:lumOff val="55000"/>
                </a:schemeClr>
              </a:gs>
              <a:gs pos="100000">
                <a:schemeClr val="accent2">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梯形 13">
            <a:extLst>
              <a:ext uri="{FF2B5EF4-FFF2-40B4-BE49-F238E27FC236}">
                <a16:creationId xmlns:a16="http://schemas.microsoft.com/office/drawing/2014/main" id="{F341ED1D-90AF-F611-AA28-AEE9F9DDE35C}"/>
              </a:ext>
            </a:extLst>
          </p:cNvPr>
          <p:cNvSpPr/>
          <p:nvPr/>
        </p:nvSpPr>
        <p:spPr>
          <a:xfrm rot="5400000">
            <a:off x="9756079" y="4013860"/>
            <a:ext cx="2921328" cy="570015"/>
          </a:xfrm>
          <a:prstGeom prst="trapezoid">
            <a:avLst>
              <a:gd name="adj" fmla="val 68781"/>
            </a:avLst>
          </a:prstGeom>
          <a:gradFill flip="none" rotWithShape="1">
            <a:gsLst>
              <a:gs pos="100000">
                <a:schemeClr val="accent2">
                  <a:lumMod val="5000"/>
                  <a:lumOff val="95000"/>
                </a:schemeClr>
              </a:gs>
              <a:gs pos="0">
                <a:schemeClr val="accent2">
                  <a:lumMod val="45000"/>
                  <a:lumOff val="55000"/>
                </a:schemeClr>
              </a:gs>
              <a:gs pos="100000">
                <a:schemeClr val="accent2">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右箭头 14">
            <a:extLst>
              <a:ext uri="{FF2B5EF4-FFF2-40B4-BE49-F238E27FC236}">
                <a16:creationId xmlns:a16="http://schemas.microsoft.com/office/drawing/2014/main" id="{E3256213-A58E-0CB8-609C-FFDE9ABBE58E}"/>
              </a:ext>
            </a:extLst>
          </p:cNvPr>
          <p:cNvSpPr/>
          <p:nvPr/>
        </p:nvSpPr>
        <p:spPr>
          <a:xfrm>
            <a:off x="218364" y="4026090"/>
            <a:ext cx="11805314" cy="368489"/>
          </a:xfrm>
          <a:prstGeom prst="rightArrow">
            <a:avLst/>
          </a:prstGeom>
          <a:solidFill>
            <a:srgbClr val="F8C7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2269F28C-2946-BACC-C8A7-E3785DE7AF83}"/>
              </a:ext>
            </a:extLst>
          </p:cNvPr>
          <p:cNvSpPr/>
          <p:nvPr/>
        </p:nvSpPr>
        <p:spPr>
          <a:xfrm>
            <a:off x="546265" y="2838203"/>
            <a:ext cx="700644" cy="2921329"/>
          </a:xfrm>
          <a:prstGeom prst="rect">
            <a:avLst/>
          </a:prstGeom>
          <a:gradFill>
            <a:gsLst>
              <a:gs pos="100000">
                <a:schemeClr val="accent2">
                  <a:lumMod val="5000"/>
                  <a:lumOff val="95000"/>
                </a:schemeClr>
              </a:gs>
              <a:gs pos="0">
                <a:schemeClr val="accent2">
                  <a:lumMod val="45000"/>
                  <a:lumOff val="55000"/>
                </a:schemeClr>
              </a:gs>
              <a:gs pos="100000">
                <a:schemeClr val="accent2">
                  <a:lumMod val="30000"/>
                  <a:lumOff val="7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分贝通申请</a:t>
            </a:r>
          </a:p>
        </p:txBody>
      </p:sp>
      <p:sp>
        <p:nvSpPr>
          <p:cNvPr id="6" name="矩形 5">
            <a:extLst>
              <a:ext uri="{FF2B5EF4-FFF2-40B4-BE49-F238E27FC236}">
                <a16:creationId xmlns:a16="http://schemas.microsoft.com/office/drawing/2014/main" id="{05F1264D-D524-2A81-152A-4482A0297F44}"/>
              </a:ext>
            </a:extLst>
          </p:cNvPr>
          <p:cNvSpPr/>
          <p:nvPr/>
        </p:nvSpPr>
        <p:spPr>
          <a:xfrm>
            <a:off x="2936898" y="2838203"/>
            <a:ext cx="700644" cy="2921329"/>
          </a:xfrm>
          <a:prstGeom prst="rect">
            <a:avLst/>
          </a:prstGeom>
          <a:gradFill>
            <a:gsLst>
              <a:gs pos="100000">
                <a:schemeClr val="accent2">
                  <a:lumMod val="5000"/>
                  <a:lumOff val="95000"/>
                </a:schemeClr>
              </a:gs>
              <a:gs pos="0">
                <a:schemeClr val="accent2">
                  <a:lumMod val="45000"/>
                  <a:lumOff val="55000"/>
                </a:schemeClr>
              </a:gs>
              <a:gs pos="100000">
                <a:schemeClr val="accent2">
                  <a:lumMod val="30000"/>
                  <a:lumOff val="7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预订差旅行程</a:t>
            </a:r>
          </a:p>
        </p:txBody>
      </p:sp>
      <p:sp>
        <p:nvSpPr>
          <p:cNvPr id="9" name="矩形 8">
            <a:extLst>
              <a:ext uri="{FF2B5EF4-FFF2-40B4-BE49-F238E27FC236}">
                <a16:creationId xmlns:a16="http://schemas.microsoft.com/office/drawing/2014/main" id="{5F55A332-141A-BBDA-3EA4-0BA135985433}"/>
              </a:ext>
            </a:extLst>
          </p:cNvPr>
          <p:cNvSpPr/>
          <p:nvPr/>
        </p:nvSpPr>
        <p:spPr>
          <a:xfrm>
            <a:off x="5327530" y="2838203"/>
            <a:ext cx="700644" cy="2921329"/>
          </a:xfrm>
          <a:prstGeom prst="rect">
            <a:avLst/>
          </a:prstGeom>
          <a:gradFill>
            <a:gsLst>
              <a:gs pos="100000">
                <a:schemeClr val="accent2">
                  <a:lumMod val="5000"/>
                  <a:lumOff val="95000"/>
                </a:schemeClr>
              </a:gs>
              <a:gs pos="0">
                <a:schemeClr val="accent2">
                  <a:lumMod val="45000"/>
                  <a:lumOff val="55000"/>
                </a:schemeClr>
              </a:gs>
              <a:gs pos="100000">
                <a:schemeClr val="accent2">
                  <a:lumMod val="30000"/>
                  <a:lumOff val="7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线下汇总明细</a:t>
            </a:r>
          </a:p>
        </p:txBody>
      </p:sp>
      <p:sp>
        <p:nvSpPr>
          <p:cNvPr id="11" name="矩形 10">
            <a:extLst>
              <a:ext uri="{FF2B5EF4-FFF2-40B4-BE49-F238E27FC236}">
                <a16:creationId xmlns:a16="http://schemas.microsoft.com/office/drawing/2014/main" id="{A59144E9-53FA-7945-596A-893283C87F5E}"/>
              </a:ext>
            </a:extLst>
          </p:cNvPr>
          <p:cNvSpPr/>
          <p:nvPr/>
        </p:nvSpPr>
        <p:spPr>
          <a:xfrm>
            <a:off x="7713997" y="2838203"/>
            <a:ext cx="700644" cy="2921329"/>
          </a:xfrm>
          <a:prstGeom prst="rect">
            <a:avLst/>
          </a:prstGeom>
          <a:gradFill>
            <a:gsLst>
              <a:gs pos="100000">
                <a:schemeClr val="accent2">
                  <a:lumMod val="5000"/>
                  <a:lumOff val="95000"/>
                </a:schemeClr>
              </a:gs>
              <a:gs pos="0">
                <a:schemeClr val="accent2">
                  <a:lumMod val="45000"/>
                  <a:lumOff val="55000"/>
                </a:schemeClr>
              </a:gs>
              <a:gs pos="100000">
                <a:schemeClr val="accent2">
                  <a:lumMod val="30000"/>
                  <a:lumOff val="7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核对报销费用及发票</a:t>
            </a:r>
          </a:p>
        </p:txBody>
      </p:sp>
      <p:sp>
        <p:nvSpPr>
          <p:cNvPr id="13" name="矩形 12">
            <a:extLst>
              <a:ext uri="{FF2B5EF4-FFF2-40B4-BE49-F238E27FC236}">
                <a16:creationId xmlns:a16="http://schemas.microsoft.com/office/drawing/2014/main" id="{31346A15-BC9F-8834-262B-B7DFED988DEF}"/>
              </a:ext>
            </a:extLst>
          </p:cNvPr>
          <p:cNvSpPr/>
          <p:nvPr/>
        </p:nvSpPr>
        <p:spPr>
          <a:xfrm>
            <a:off x="10231092" y="2838202"/>
            <a:ext cx="700644" cy="2921329"/>
          </a:xfrm>
          <a:prstGeom prst="rect">
            <a:avLst/>
          </a:prstGeom>
          <a:gradFill>
            <a:gsLst>
              <a:gs pos="100000">
                <a:schemeClr val="accent2">
                  <a:lumMod val="5000"/>
                  <a:lumOff val="95000"/>
                </a:schemeClr>
              </a:gs>
              <a:gs pos="0">
                <a:schemeClr val="accent2">
                  <a:lumMod val="45000"/>
                  <a:lumOff val="55000"/>
                </a:schemeClr>
              </a:gs>
              <a:gs pos="100000">
                <a:schemeClr val="accent2">
                  <a:lumMod val="30000"/>
                  <a:lumOff val="7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老板审批及费用发放</a:t>
            </a:r>
          </a:p>
        </p:txBody>
      </p:sp>
      <p:sp>
        <p:nvSpPr>
          <p:cNvPr id="17" name="文本框 16">
            <a:extLst>
              <a:ext uri="{FF2B5EF4-FFF2-40B4-BE49-F238E27FC236}">
                <a16:creationId xmlns:a16="http://schemas.microsoft.com/office/drawing/2014/main" id="{3BF78576-774B-1B22-9FDF-70548B6E4CB9}"/>
              </a:ext>
            </a:extLst>
          </p:cNvPr>
          <p:cNvSpPr txBox="1"/>
          <p:nvPr/>
        </p:nvSpPr>
        <p:spPr>
          <a:xfrm>
            <a:off x="359311" y="1604676"/>
            <a:ext cx="1619614" cy="646331"/>
          </a:xfrm>
          <a:prstGeom prst="rect">
            <a:avLst/>
          </a:prstGeom>
          <a:noFill/>
        </p:spPr>
        <p:txBody>
          <a:bodyPr wrap="square" rtlCol="0">
            <a:spAutoFit/>
          </a:bodyPr>
          <a:lstStyle/>
          <a:p>
            <a:r>
              <a:rPr kumimoji="1" lang="zh-CN" altLang="en-US" sz="1800" b="1" dirty="0">
                <a:solidFill>
                  <a:schemeClr val="tx1"/>
                </a:solidFill>
                <a:latin typeface="Microsoft YaHei" panose="020B0503020204020204" pitchFamily="34" charset="-122"/>
                <a:ea typeface="Microsoft YaHei" panose="020B0503020204020204" pitchFamily="34" charset="-122"/>
              </a:rPr>
              <a:t>分贝通提交出差申请</a:t>
            </a:r>
          </a:p>
        </p:txBody>
      </p:sp>
      <p:sp>
        <p:nvSpPr>
          <p:cNvPr id="18" name="文本框 17">
            <a:extLst>
              <a:ext uri="{FF2B5EF4-FFF2-40B4-BE49-F238E27FC236}">
                <a16:creationId xmlns:a16="http://schemas.microsoft.com/office/drawing/2014/main" id="{C5BA89D0-A32F-8751-7591-03EF9714FB8E}"/>
              </a:ext>
            </a:extLst>
          </p:cNvPr>
          <p:cNvSpPr txBox="1"/>
          <p:nvPr/>
        </p:nvSpPr>
        <p:spPr>
          <a:xfrm>
            <a:off x="2476626" y="1631581"/>
            <a:ext cx="2068906" cy="1200329"/>
          </a:xfrm>
          <a:prstGeom prst="rect">
            <a:avLst/>
          </a:prstGeom>
          <a:noFill/>
        </p:spPr>
        <p:txBody>
          <a:bodyPr wrap="square" rtlCol="0">
            <a:spAutoFit/>
          </a:bodyPr>
          <a:lstStyle/>
          <a:p>
            <a:r>
              <a:rPr kumimoji="1" lang="zh-CN" altLang="en-US" sz="1800" b="1" dirty="0">
                <a:solidFill>
                  <a:schemeClr val="tx1"/>
                </a:solidFill>
                <a:latin typeface="Microsoft YaHei" panose="020B0503020204020204" pitchFamily="34" charset="-122"/>
                <a:ea typeface="Microsoft YaHei" panose="020B0503020204020204" pitchFamily="34" charset="-122"/>
              </a:rPr>
              <a:t>出差单审批通过后分贝通上预订差旅行程</a:t>
            </a:r>
            <a:endParaRPr kumimoji="1" lang="zh-CN" altLang="en-US" b="1" dirty="0">
              <a:solidFill>
                <a:schemeClr val="tx1"/>
              </a:solidFill>
            </a:endParaRPr>
          </a:p>
          <a:p>
            <a:endParaRPr kumimoji="1" lang="zh-CN" altLang="en-US" dirty="0"/>
          </a:p>
        </p:txBody>
      </p:sp>
      <p:sp>
        <p:nvSpPr>
          <p:cNvPr id="19" name="文本框 18">
            <a:extLst>
              <a:ext uri="{FF2B5EF4-FFF2-40B4-BE49-F238E27FC236}">
                <a16:creationId xmlns:a16="http://schemas.microsoft.com/office/drawing/2014/main" id="{B9F63BF4-C42B-80EE-CFB6-CB4395280B97}"/>
              </a:ext>
            </a:extLst>
          </p:cNvPr>
          <p:cNvSpPr txBox="1"/>
          <p:nvPr/>
        </p:nvSpPr>
        <p:spPr>
          <a:xfrm>
            <a:off x="5099547" y="1631581"/>
            <a:ext cx="2361949" cy="923330"/>
          </a:xfrm>
          <a:prstGeom prst="rect">
            <a:avLst/>
          </a:prstGeom>
          <a:noFill/>
        </p:spPr>
        <p:txBody>
          <a:bodyPr wrap="square" rtlCol="0">
            <a:spAutoFit/>
          </a:bodyPr>
          <a:lstStyle/>
          <a:p>
            <a:r>
              <a:rPr kumimoji="1" lang="zh-CN" altLang="en-US" b="1" dirty="0">
                <a:solidFill>
                  <a:schemeClr val="tx1"/>
                </a:solidFill>
                <a:latin typeface="Microsoft YaHei" panose="020B0503020204020204" pitchFamily="34" charset="-122"/>
                <a:ea typeface="Microsoft YaHei" panose="020B0503020204020204" pitchFamily="34" charset="-122"/>
              </a:rPr>
              <a:t>下月初填写差旅报销明细及发票</a:t>
            </a:r>
            <a:r>
              <a:rPr kumimoji="1" lang="zh-CN" altLang="en-US" sz="1800" b="1" dirty="0">
                <a:solidFill>
                  <a:srgbClr val="FF0000"/>
                </a:solidFill>
                <a:latin typeface="Microsoft YaHei" panose="020B0503020204020204" pitchFamily="34" charset="-122"/>
                <a:ea typeface="Microsoft YaHei" panose="020B0503020204020204" pitchFamily="34" charset="-122"/>
              </a:rPr>
              <a:t>（仅垫资部分）</a:t>
            </a:r>
            <a:endParaRPr kumimoji="1" lang="zh-CN" altLang="en-US" b="1" dirty="0"/>
          </a:p>
        </p:txBody>
      </p:sp>
      <p:sp>
        <p:nvSpPr>
          <p:cNvPr id="21" name="文本框 20">
            <a:extLst>
              <a:ext uri="{FF2B5EF4-FFF2-40B4-BE49-F238E27FC236}">
                <a16:creationId xmlns:a16="http://schemas.microsoft.com/office/drawing/2014/main" id="{1196DE54-C039-0D40-3A80-11649990EA73}"/>
              </a:ext>
            </a:extLst>
          </p:cNvPr>
          <p:cNvSpPr txBox="1"/>
          <p:nvPr/>
        </p:nvSpPr>
        <p:spPr>
          <a:xfrm>
            <a:off x="9828037" y="1645955"/>
            <a:ext cx="2195641" cy="1200329"/>
          </a:xfrm>
          <a:prstGeom prst="rect">
            <a:avLst/>
          </a:prstGeom>
          <a:noFill/>
        </p:spPr>
        <p:txBody>
          <a:bodyPr wrap="square" rtlCol="0">
            <a:spAutoFit/>
          </a:bodyPr>
          <a:lstStyle/>
          <a:p>
            <a:pPr algn="ctr"/>
            <a:r>
              <a:rPr kumimoji="1" lang="zh-CN" altLang="en-US" sz="1800" b="1" dirty="0">
                <a:solidFill>
                  <a:schemeClr val="tx1"/>
                </a:solidFill>
                <a:latin typeface="Microsoft YaHei" panose="020B0503020204020204" pitchFamily="34" charset="-122"/>
                <a:ea typeface="Microsoft YaHei" panose="020B0503020204020204" pitchFamily="34" charset="-122"/>
              </a:rPr>
              <a:t>待老板</a:t>
            </a:r>
            <a:r>
              <a:rPr kumimoji="1" lang="en-US" altLang="zh-CN" sz="1800" b="1" dirty="0">
                <a:solidFill>
                  <a:schemeClr val="tx1"/>
                </a:solidFill>
                <a:latin typeface="Microsoft YaHei" panose="020B0503020204020204" pitchFamily="34" charset="-122"/>
                <a:ea typeface="Microsoft YaHei" panose="020B0503020204020204" pitchFamily="34" charset="-122"/>
              </a:rPr>
              <a:t>《</a:t>
            </a:r>
            <a:r>
              <a:rPr kumimoji="1" lang="zh-CN" altLang="en-US" sz="1800" b="1" dirty="0">
                <a:solidFill>
                  <a:schemeClr val="tx1"/>
                </a:solidFill>
                <a:latin typeface="Microsoft YaHei" panose="020B0503020204020204" pitchFamily="34" charset="-122"/>
                <a:ea typeface="Microsoft YaHei" panose="020B0503020204020204" pitchFamily="34" charset="-122"/>
              </a:rPr>
              <a:t>差旅报销明细</a:t>
            </a:r>
            <a:r>
              <a:rPr kumimoji="1" lang="en-US" altLang="zh-CN" sz="1800" b="1" dirty="0">
                <a:solidFill>
                  <a:schemeClr val="tx1"/>
                </a:solidFill>
                <a:latin typeface="Microsoft YaHei" panose="020B0503020204020204" pitchFamily="34" charset="-122"/>
                <a:ea typeface="Microsoft YaHei" panose="020B0503020204020204" pitchFamily="34" charset="-122"/>
              </a:rPr>
              <a:t>》</a:t>
            </a:r>
            <a:r>
              <a:rPr kumimoji="1" lang="zh-CN" altLang="en-US" sz="1800" b="1" dirty="0">
                <a:solidFill>
                  <a:schemeClr val="tx1"/>
                </a:solidFill>
                <a:latin typeface="Microsoft YaHei" panose="020B0503020204020204" pitchFamily="34" charset="-122"/>
                <a:ea typeface="Microsoft YaHei" panose="020B0503020204020204" pitchFamily="34" charset="-122"/>
              </a:rPr>
              <a:t>签字后，发放报销费用（</a:t>
            </a:r>
            <a:r>
              <a:rPr kumimoji="1" lang="en-US" altLang="zh-CN" sz="1800" b="1" dirty="0">
                <a:solidFill>
                  <a:srgbClr val="FF0000"/>
                </a:solidFill>
                <a:latin typeface="Microsoft YaHei" panose="020B0503020204020204" pitchFamily="34" charset="-122"/>
                <a:ea typeface="Microsoft YaHei" panose="020B0503020204020204" pitchFamily="34" charset="-122"/>
              </a:rPr>
              <a:t>M+2</a:t>
            </a:r>
            <a:r>
              <a:rPr kumimoji="1" lang="zh-CN" altLang="en-US" sz="1800" b="1" dirty="0">
                <a:solidFill>
                  <a:srgbClr val="FF0000"/>
                </a:solidFill>
                <a:latin typeface="Microsoft YaHei" panose="020B0503020204020204" pitchFamily="34" charset="-122"/>
                <a:ea typeface="Microsoft YaHei" panose="020B0503020204020204" pitchFamily="34" charset="-122"/>
              </a:rPr>
              <a:t>月随薪资发放</a:t>
            </a:r>
            <a:r>
              <a:rPr kumimoji="1" lang="zh-CN" altLang="en-US" sz="1800" b="1" dirty="0">
                <a:solidFill>
                  <a:schemeClr val="tx1"/>
                </a:solidFill>
                <a:latin typeface="Microsoft YaHei" panose="020B0503020204020204" pitchFamily="34" charset="-122"/>
                <a:ea typeface="Microsoft YaHei" panose="020B0503020204020204" pitchFamily="34" charset="-122"/>
              </a:rPr>
              <a:t>）</a:t>
            </a:r>
            <a:endParaRPr kumimoji="1" lang="zh-CN" altLang="en-US" b="1" dirty="0">
              <a:solidFill>
                <a:schemeClr val="tx1"/>
              </a:solidFill>
            </a:endParaRPr>
          </a:p>
        </p:txBody>
      </p:sp>
      <p:sp>
        <p:nvSpPr>
          <p:cNvPr id="22" name="文本框 21">
            <a:extLst>
              <a:ext uri="{FF2B5EF4-FFF2-40B4-BE49-F238E27FC236}">
                <a16:creationId xmlns:a16="http://schemas.microsoft.com/office/drawing/2014/main" id="{92F90DEF-A75B-1DED-B3BC-6B3F045DD027}"/>
              </a:ext>
            </a:extLst>
          </p:cNvPr>
          <p:cNvSpPr txBox="1"/>
          <p:nvPr/>
        </p:nvSpPr>
        <p:spPr>
          <a:xfrm>
            <a:off x="7624487" y="1653116"/>
            <a:ext cx="1937888" cy="646331"/>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核对费用明细及发票后提交</a:t>
            </a:r>
          </a:p>
        </p:txBody>
      </p:sp>
    </p:spTree>
    <p:extLst>
      <p:ext uri="{BB962C8B-B14F-4D97-AF65-F5344CB8AC3E}">
        <p14:creationId xmlns:p14="http://schemas.microsoft.com/office/powerpoint/2010/main" val="252594178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lumMod val="5000"/>
                <a:lumOff val="95000"/>
              </a:schemeClr>
            </a:gs>
            <a:gs pos="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086D4795-5DA0-3EB2-4413-9ACF3B43D015}"/>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9B31A1D6-AA00-E12D-E851-5D9E53E17141}"/>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B13B2BD6-6CD7-EDE9-1451-0E7EFF6A44C5}"/>
              </a:ext>
            </a:extLst>
          </p:cNvPr>
          <p:cNvSpPr>
            <a:spLocks/>
          </p:cNvSpPr>
          <p:nvPr/>
        </p:nvSpPr>
        <p:spPr>
          <a:xfrm>
            <a:off x="0" y="351690"/>
            <a:ext cx="5353396"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差旅流程：员工内部聚餐（个人垫资线下报销）</a:t>
            </a:r>
          </a:p>
        </p:txBody>
      </p:sp>
      <p:sp>
        <p:nvSpPr>
          <p:cNvPr id="5" name="梯形 4">
            <a:extLst>
              <a:ext uri="{FF2B5EF4-FFF2-40B4-BE49-F238E27FC236}">
                <a16:creationId xmlns:a16="http://schemas.microsoft.com/office/drawing/2014/main" id="{5A43388F-F71B-C3CA-4E44-9180568B2D1B}"/>
              </a:ext>
            </a:extLst>
          </p:cNvPr>
          <p:cNvSpPr/>
          <p:nvPr/>
        </p:nvSpPr>
        <p:spPr>
          <a:xfrm rot="5400000">
            <a:off x="64170" y="4023426"/>
            <a:ext cx="2921328" cy="570015"/>
          </a:xfrm>
          <a:prstGeom prst="trapezoid">
            <a:avLst>
              <a:gd name="adj" fmla="val 68781"/>
            </a:avLst>
          </a:prstGeom>
          <a:gradFill flip="none" rotWithShape="1">
            <a:gsLst>
              <a:gs pos="90000">
                <a:schemeClr val="accent6">
                  <a:lumMod val="0"/>
                  <a:lumOff val="100000"/>
                </a:schemeClr>
              </a:gs>
              <a:gs pos="0">
                <a:schemeClr val="accent6">
                  <a:lumMod val="10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梯形 6">
            <a:extLst>
              <a:ext uri="{FF2B5EF4-FFF2-40B4-BE49-F238E27FC236}">
                <a16:creationId xmlns:a16="http://schemas.microsoft.com/office/drawing/2014/main" id="{F02E72C2-0D3D-AE77-9034-ACF2676D571C}"/>
              </a:ext>
            </a:extLst>
          </p:cNvPr>
          <p:cNvSpPr/>
          <p:nvPr/>
        </p:nvSpPr>
        <p:spPr>
          <a:xfrm rot="5400000">
            <a:off x="1921945" y="4013859"/>
            <a:ext cx="2921328" cy="570015"/>
          </a:xfrm>
          <a:prstGeom prst="trapezoid">
            <a:avLst>
              <a:gd name="adj" fmla="val 68781"/>
            </a:avLst>
          </a:prstGeom>
          <a:gradFill flip="none" rotWithShape="1">
            <a:gsLst>
              <a:gs pos="90000">
                <a:schemeClr val="accent6">
                  <a:lumMod val="0"/>
                  <a:lumOff val="100000"/>
                </a:schemeClr>
              </a:gs>
              <a:gs pos="0">
                <a:schemeClr val="accent6">
                  <a:lumMod val="10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梯形 9">
            <a:extLst>
              <a:ext uri="{FF2B5EF4-FFF2-40B4-BE49-F238E27FC236}">
                <a16:creationId xmlns:a16="http://schemas.microsoft.com/office/drawing/2014/main" id="{002728AD-47CD-01C7-1F91-C8D39BA491E6}"/>
              </a:ext>
            </a:extLst>
          </p:cNvPr>
          <p:cNvSpPr/>
          <p:nvPr/>
        </p:nvSpPr>
        <p:spPr>
          <a:xfrm rot="5400000">
            <a:off x="5653568" y="4013860"/>
            <a:ext cx="2921328" cy="570015"/>
          </a:xfrm>
          <a:prstGeom prst="trapezoid">
            <a:avLst>
              <a:gd name="adj" fmla="val 68781"/>
            </a:avLst>
          </a:prstGeom>
          <a:gradFill flip="none" rotWithShape="1">
            <a:gsLst>
              <a:gs pos="90000">
                <a:schemeClr val="accent6">
                  <a:lumMod val="0"/>
                  <a:lumOff val="100000"/>
                </a:schemeClr>
              </a:gs>
              <a:gs pos="0">
                <a:schemeClr val="accent6">
                  <a:lumMod val="10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梯形 11">
            <a:extLst>
              <a:ext uri="{FF2B5EF4-FFF2-40B4-BE49-F238E27FC236}">
                <a16:creationId xmlns:a16="http://schemas.microsoft.com/office/drawing/2014/main" id="{D2BB0199-C88B-37AC-C3B4-098A75E1574E}"/>
              </a:ext>
            </a:extLst>
          </p:cNvPr>
          <p:cNvSpPr/>
          <p:nvPr/>
        </p:nvSpPr>
        <p:spPr>
          <a:xfrm rot="5400000">
            <a:off x="7517002" y="3994631"/>
            <a:ext cx="2921328" cy="570015"/>
          </a:xfrm>
          <a:prstGeom prst="trapezoid">
            <a:avLst>
              <a:gd name="adj" fmla="val 68781"/>
            </a:avLst>
          </a:prstGeom>
          <a:gradFill flip="none" rotWithShape="1">
            <a:gsLst>
              <a:gs pos="90000">
                <a:schemeClr val="accent6">
                  <a:lumMod val="0"/>
                  <a:lumOff val="100000"/>
                </a:schemeClr>
              </a:gs>
              <a:gs pos="0">
                <a:schemeClr val="accent6">
                  <a:lumMod val="10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梯形 13">
            <a:extLst>
              <a:ext uri="{FF2B5EF4-FFF2-40B4-BE49-F238E27FC236}">
                <a16:creationId xmlns:a16="http://schemas.microsoft.com/office/drawing/2014/main" id="{CA955C6A-A907-45FF-8C65-1A39F17D7132}"/>
              </a:ext>
            </a:extLst>
          </p:cNvPr>
          <p:cNvSpPr/>
          <p:nvPr/>
        </p:nvSpPr>
        <p:spPr>
          <a:xfrm rot="5400000">
            <a:off x="9379410" y="4023426"/>
            <a:ext cx="2921328" cy="570015"/>
          </a:xfrm>
          <a:prstGeom prst="trapezoid">
            <a:avLst>
              <a:gd name="adj" fmla="val 68781"/>
            </a:avLst>
          </a:prstGeom>
          <a:gradFill flip="none" rotWithShape="1">
            <a:gsLst>
              <a:gs pos="100000">
                <a:srgbClr val="83B860">
                  <a:lumMod val="0"/>
                  <a:lumOff val="100000"/>
                </a:srgbClr>
              </a:gs>
              <a:gs pos="0">
                <a:schemeClr val="accent6">
                  <a:lumMod val="10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右箭头 14">
            <a:extLst>
              <a:ext uri="{FF2B5EF4-FFF2-40B4-BE49-F238E27FC236}">
                <a16:creationId xmlns:a16="http://schemas.microsoft.com/office/drawing/2014/main" id="{208F4EC8-B948-3590-320E-C693014CB7AA}"/>
              </a:ext>
            </a:extLst>
          </p:cNvPr>
          <p:cNvSpPr/>
          <p:nvPr/>
        </p:nvSpPr>
        <p:spPr>
          <a:xfrm>
            <a:off x="218364" y="4026090"/>
            <a:ext cx="11805314" cy="368489"/>
          </a:xfrm>
          <a:prstGeom prst="rightArrow">
            <a:avLst/>
          </a:prstGeom>
          <a:solidFill>
            <a:srgbClr val="AFE7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911B77D5-2C4A-BFA7-E53D-AE9A1D0CB946}"/>
              </a:ext>
            </a:extLst>
          </p:cNvPr>
          <p:cNvSpPr/>
          <p:nvPr/>
        </p:nvSpPr>
        <p:spPr>
          <a:xfrm>
            <a:off x="546265" y="2838203"/>
            <a:ext cx="700644" cy="2921329"/>
          </a:xfrm>
          <a:prstGeom prst="rect">
            <a:avLst/>
          </a:prstGeom>
          <a:gradFill flip="none" rotWithShape="1">
            <a:gsLst>
              <a:gs pos="0">
                <a:schemeClr val="accent6">
                  <a:lumMod val="45000"/>
                  <a:lumOff val="55000"/>
                </a:schemeClr>
              </a:gs>
              <a:gs pos="68000">
                <a:schemeClr val="accent6">
                  <a:lumMod val="10000"/>
                  <a:lumOff val="9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en-US" altLang="zh-CN" b="1" dirty="0">
                <a:solidFill>
                  <a:schemeClr val="tx1"/>
                </a:solidFill>
                <a:latin typeface="Microsoft YaHei" panose="020B0503020204020204" pitchFamily="34" charset="-122"/>
                <a:ea typeface="Microsoft YaHei" panose="020B0503020204020204" pitchFamily="34" charset="-122"/>
              </a:rPr>
              <a:t>SFA</a:t>
            </a:r>
            <a:r>
              <a:rPr kumimoji="1" lang="zh-CN" altLang="en-US" b="1" dirty="0">
                <a:solidFill>
                  <a:schemeClr val="tx1"/>
                </a:solidFill>
                <a:latin typeface="Microsoft YaHei" panose="020B0503020204020204" pitchFamily="34" charset="-122"/>
                <a:ea typeface="Microsoft YaHei" panose="020B0503020204020204" pitchFamily="34" charset="-122"/>
              </a:rPr>
              <a:t>召开聚餐会议</a:t>
            </a:r>
          </a:p>
        </p:txBody>
      </p:sp>
      <p:sp>
        <p:nvSpPr>
          <p:cNvPr id="6" name="矩形 5">
            <a:extLst>
              <a:ext uri="{FF2B5EF4-FFF2-40B4-BE49-F238E27FC236}">
                <a16:creationId xmlns:a16="http://schemas.microsoft.com/office/drawing/2014/main" id="{550B4211-97A2-D3A0-7E53-87A037CA6EAC}"/>
              </a:ext>
            </a:extLst>
          </p:cNvPr>
          <p:cNvSpPr/>
          <p:nvPr/>
        </p:nvSpPr>
        <p:spPr>
          <a:xfrm>
            <a:off x="2408674" y="2838202"/>
            <a:ext cx="700644" cy="2921329"/>
          </a:xfrm>
          <a:prstGeom prst="rect">
            <a:avLst/>
          </a:prstGeom>
          <a:gradFill flip="none" rotWithShape="1">
            <a:gsLst>
              <a:gs pos="0">
                <a:schemeClr val="accent6">
                  <a:lumMod val="45000"/>
                  <a:lumOff val="55000"/>
                </a:schemeClr>
              </a:gs>
              <a:gs pos="68000">
                <a:schemeClr val="accent6">
                  <a:lumMod val="10000"/>
                  <a:lumOff val="9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根据会议要求签到</a:t>
            </a:r>
          </a:p>
        </p:txBody>
      </p:sp>
      <p:sp>
        <p:nvSpPr>
          <p:cNvPr id="9" name="矩形 8">
            <a:extLst>
              <a:ext uri="{FF2B5EF4-FFF2-40B4-BE49-F238E27FC236}">
                <a16:creationId xmlns:a16="http://schemas.microsoft.com/office/drawing/2014/main" id="{4C51D90E-C80B-7583-7569-2F5D399F8865}"/>
              </a:ext>
            </a:extLst>
          </p:cNvPr>
          <p:cNvSpPr/>
          <p:nvPr/>
        </p:nvSpPr>
        <p:spPr>
          <a:xfrm>
            <a:off x="6133492" y="2838202"/>
            <a:ext cx="700644" cy="2921329"/>
          </a:xfrm>
          <a:prstGeom prst="rect">
            <a:avLst/>
          </a:prstGeom>
          <a:gradFill flip="none" rotWithShape="1">
            <a:gsLst>
              <a:gs pos="0">
                <a:schemeClr val="accent6">
                  <a:lumMod val="45000"/>
                  <a:lumOff val="55000"/>
                </a:schemeClr>
              </a:gs>
              <a:gs pos="68000">
                <a:schemeClr val="accent6">
                  <a:lumMod val="10000"/>
                  <a:lumOff val="9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线下汇总明细</a:t>
            </a:r>
          </a:p>
          <a:p>
            <a:pPr algn="ctr"/>
            <a:endParaRPr kumimoji="1" lang="zh-CN" altLang="en-US" dirty="0"/>
          </a:p>
        </p:txBody>
      </p:sp>
      <p:sp>
        <p:nvSpPr>
          <p:cNvPr id="11" name="矩形 10">
            <a:extLst>
              <a:ext uri="{FF2B5EF4-FFF2-40B4-BE49-F238E27FC236}">
                <a16:creationId xmlns:a16="http://schemas.microsoft.com/office/drawing/2014/main" id="{2F8F86CC-0835-751C-7C7A-2EE3EE26F3E9}"/>
              </a:ext>
            </a:extLst>
          </p:cNvPr>
          <p:cNvSpPr/>
          <p:nvPr/>
        </p:nvSpPr>
        <p:spPr>
          <a:xfrm>
            <a:off x="7995901" y="2838202"/>
            <a:ext cx="700644" cy="2921329"/>
          </a:xfrm>
          <a:prstGeom prst="rect">
            <a:avLst/>
          </a:prstGeom>
          <a:gradFill flip="none" rotWithShape="1">
            <a:gsLst>
              <a:gs pos="0">
                <a:schemeClr val="accent6">
                  <a:lumMod val="45000"/>
                  <a:lumOff val="55000"/>
                </a:schemeClr>
              </a:gs>
              <a:gs pos="68000">
                <a:schemeClr val="accent6">
                  <a:lumMod val="10000"/>
                  <a:lumOff val="9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核对报销费用及发票</a:t>
            </a:r>
          </a:p>
        </p:txBody>
      </p:sp>
      <p:sp>
        <p:nvSpPr>
          <p:cNvPr id="13" name="矩形 12">
            <a:extLst>
              <a:ext uri="{FF2B5EF4-FFF2-40B4-BE49-F238E27FC236}">
                <a16:creationId xmlns:a16="http://schemas.microsoft.com/office/drawing/2014/main" id="{2BBF883B-B9DB-280D-A488-AB655E1B6F1B}"/>
              </a:ext>
            </a:extLst>
          </p:cNvPr>
          <p:cNvSpPr/>
          <p:nvPr/>
        </p:nvSpPr>
        <p:spPr>
          <a:xfrm>
            <a:off x="9858310" y="2847768"/>
            <a:ext cx="700644" cy="2921329"/>
          </a:xfrm>
          <a:prstGeom prst="rect">
            <a:avLst/>
          </a:prstGeom>
          <a:gradFill flip="none" rotWithShape="1">
            <a:gsLst>
              <a:gs pos="0">
                <a:schemeClr val="accent6">
                  <a:lumMod val="45000"/>
                  <a:lumOff val="55000"/>
                </a:schemeClr>
              </a:gs>
              <a:gs pos="57000">
                <a:schemeClr val="accent6">
                  <a:lumMod val="10000"/>
                  <a:lumOff val="9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tx1"/>
                </a:solidFill>
                <a:latin typeface="Microsoft YaHei" panose="020B0503020204020204" pitchFamily="34" charset="-122"/>
                <a:ea typeface="Microsoft YaHei" panose="020B0503020204020204" pitchFamily="34" charset="-122"/>
              </a:rPr>
              <a:t>老板审批及费用发放</a:t>
            </a:r>
          </a:p>
          <a:p>
            <a:pPr algn="ctr"/>
            <a:endParaRPr kumimoji="1" lang="zh-CN" altLang="en-US" dirty="0"/>
          </a:p>
        </p:txBody>
      </p:sp>
      <p:sp>
        <p:nvSpPr>
          <p:cNvPr id="8" name="文本框 7">
            <a:extLst>
              <a:ext uri="{FF2B5EF4-FFF2-40B4-BE49-F238E27FC236}">
                <a16:creationId xmlns:a16="http://schemas.microsoft.com/office/drawing/2014/main" id="{372BF1DF-230A-6934-0F70-FD1C3D9FBA83}"/>
              </a:ext>
            </a:extLst>
          </p:cNvPr>
          <p:cNvSpPr txBox="1"/>
          <p:nvPr/>
        </p:nvSpPr>
        <p:spPr>
          <a:xfrm>
            <a:off x="198503" y="1396228"/>
            <a:ext cx="1665929" cy="923330"/>
          </a:xfrm>
          <a:prstGeom prst="rect">
            <a:avLst/>
          </a:prstGeom>
          <a:noFill/>
        </p:spPr>
        <p:txBody>
          <a:bodyPr wrap="square" rtlCol="0">
            <a:spAutoFit/>
          </a:bodyPr>
          <a:lstStyle>
            <a:defPPr>
              <a:defRPr lang="zh-CN"/>
            </a:defPPr>
            <a:lvl1pPr>
              <a:defRPr kumimoji="1" b="1">
                <a:latin typeface="Microsoft YaHei" panose="020B0503020204020204" pitchFamily="34" charset="-122"/>
                <a:ea typeface="Microsoft YaHei" panose="020B0503020204020204" pitchFamily="34" charset="-122"/>
              </a:defRPr>
            </a:lvl1pPr>
          </a:lstStyle>
          <a:p>
            <a:r>
              <a:rPr lang="zh-CN" altLang="en-US" dirty="0"/>
              <a:t>在</a:t>
            </a:r>
            <a:r>
              <a:rPr lang="en-US" altLang="zh-CN" dirty="0"/>
              <a:t>SFA-</a:t>
            </a:r>
            <a:r>
              <a:rPr lang="zh-CN" altLang="en-US" dirty="0"/>
              <a:t>会议管理新增聚餐会议</a:t>
            </a:r>
          </a:p>
        </p:txBody>
      </p:sp>
      <p:sp>
        <p:nvSpPr>
          <p:cNvPr id="19" name="文本框 18">
            <a:extLst>
              <a:ext uri="{FF2B5EF4-FFF2-40B4-BE49-F238E27FC236}">
                <a16:creationId xmlns:a16="http://schemas.microsoft.com/office/drawing/2014/main" id="{F71C2E31-1AD7-9C43-F049-A7D1F1C79A08}"/>
              </a:ext>
            </a:extLst>
          </p:cNvPr>
          <p:cNvSpPr txBox="1"/>
          <p:nvPr/>
        </p:nvSpPr>
        <p:spPr>
          <a:xfrm>
            <a:off x="2027423" y="1396228"/>
            <a:ext cx="1902349" cy="923330"/>
          </a:xfrm>
          <a:prstGeom prst="rect">
            <a:avLst/>
          </a:prstGeom>
          <a:noFill/>
        </p:spPr>
        <p:txBody>
          <a:bodyPr wrap="square" rtlCol="0">
            <a:spAutoFit/>
          </a:bodyPr>
          <a:lstStyle>
            <a:defPPr>
              <a:defRPr lang="zh-CN"/>
            </a:defPPr>
            <a:lvl1pPr>
              <a:defRPr kumimoji="1" b="1">
                <a:latin typeface="Microsoft YaHei" panose="020B0503020204020204" pitchFamily="34" charset="-122"/>
                <a:ea typeface="Microsoft YaHei" panose="020B0503020204020204" pitchFamily="34" charset="-122"/>
              </a:defRPr>
            </a:lvl1pPr>
          </a:lstStyle>
          <a:p>
            <a:r>
              <a:rPr lang="zh-CN" altLang="en-US" dirty="0"/>
              <a:t>待聚餐会议结束后，根据要求上传聚餐发票</a:t>
            </a:r>
          </a:p>
        </p:txBody>
      </p:sp>
      <p:sp>
        <p:nvSpPr>
          <p:cNvPr id="20" name="文本框 19">
            <a:extLst>
              <a:ext uri="{FF2B5EF4-FFF2-40B4-BE49-F238E27FC236}">
                <a16:creationId xmlns:a16="http://schemas.microsoft.com/office/drawing/2014/main" id="{948DAC83-DA3B-6465-B99E-E95348430F72}"/>
              </a:ext>
            </a:extLst>
          </p:cNvPr>
          <p:cNvSpPr txBox="1"/>
          <p:nvPr/>
        </p:nvSpPr>
        <p:spPr>
          <a:xfrm>
            <a:off x="4092763" y="1396228"/>
            <a:ext cx="1625649" cy="923330"/>
          </a:xfrm>
          <a:prstGeom prst="rect">
            <a:avLst/>
          </a:prstGeom>
          <a:noFill/>
        </p:spPr>
        <p:txBody>
          <a:bodyPr wrap="square" rtlCol="0">
            <a:spAutoFit/>
          </a:bodyPr>
          <a:lstStyle>
            <a:defPPr>
              <a:defRPr lang="zh-CN"/>
            </a:defPPr>
            <a:lvl1pPr>
              <a:defRPr kumimoji="1" b="1">
                <a:latin typeface="Microsoft YaHei" panose="020B0503020204020204" pitchFamily="34" charset="-122"/>
                <a:ea typeface="Microsoft YaHei" panose="020B0503020204020204" pitchFamily="34" charset="-122"/>
              </a:defRPr>
            </a:lvl1pPr>
          </a:lstStyle>
          <a:p>
            <a:r>
              <a:rPr lang="zh-CN" altLang="en-US" dirty="0"/>
              <a:t>在</a:t>
            </a:r>
            <a:r>
              <a:rPr lang="en-US" altLang="zh-CN" dirty="0"/>
              <a:t>SFA</a:t>
            </a:r>
            <a:r>
              <a:rPr lang="zh-CN" altLang="en-US" dirty="0"/>
              <a:t>填写报销单</a:t>
            </a:r>
            <a:r>
              <a:rPr kumimoji="1" lang="zh-CN" altLang="en-US" sz="1800" b="1" dirty="0">
                <a:solidFill>
                  <a:srgbClr val="FF0000"/>
                </a:solidFill>
                <a:latin typeface="Microsoft YaHei" panose="020B0503020204020204" pitchFamily="34" charset="-122"/>
                <a:ea typeface="Microsoft YaHei" panose="020B0503020204020204" pitchFamily="34" charset="-122"/>
              </a:rPr>
              <a:t>（仅垫资部分）</a:t>
            </a:r>
            <a:endParaRPr lang="zh-CN" altLang="en-US" dirty="0"/>
          </a:p>
        </p:txBody>
      </p:sp>
      <p:sp>
        <p:nvSpPr>
          <p:cNvPr id="21" name="文本框 20">
            <a:extLst>
              <a:ext uri="{FF2B5EF4-FFF2-40B4-BE49-F238E27FC236}">
                <a16:creationId xmlns:a16="http://schemas.microsoft.com/office/drawing/2014/main" id="{B5F65E23-77AF-56CD-32F6-F647B3334CDD}"/>
              </a:ext>
            </a:extLst>
          </p:cNvPr>
          <p:cNvSpPr txBox="1"/>
          <p:nvPr/>
        </p:nvSpPr>
        <p:spPr>
          <a:xfrm>
            <a:off x="9768580" y="1422797"/>
            <a:ext cx="2195641" cy="1200329"/>
          </a:xfrm>
          <a:prstGeom prst="rect">
            <a:avLst/>
          </a:prstGeom>
          <a:noFill/>
        </p:spPr>
        <p:txBody>
          <a:bodyPr wrap="square" rtlCol="0">
            <a:spAutoFit/>
          </a:bodyPr>
          <a:lstStyle/>
          <a:p>
            <a:pPr algn="ctr"/>
            <a:r>
              <a:rPr kumimoji="1" lang="zh-CN" altLang="en-US" sz="1800" b="1" dirty="0">
                <a:solidFill>
                  <a:schemeClr val="tx1"/>
                </a:solidFill>
                <a:latin typeface="Microsoft YaHei" panose="020B0503020204020204" pitchFamily="34" charset="-122"/>
                <a:ea typeface="Microsoft YaHei" panose="020B0503020204020204" pitchFamily="34" charset="-122"/>
              </a:rPr>
              <a:t>待老板</a:t>
            </a:r>
            <a:r>
              <a:rPr kumimoji="1" lang="en-US" altLang="zh-CN" sz="1800" b="1" dirty="0">
                <a:solidFill>
                  <a:schemeClr val="tx1"/>
                </a:solidFill>
                <a:latin typeface="Microsoft YaHei" panose="020B0503020204020204" pitchFamily="34" charset="-122"/>
                <a:ea typeface="Microsoft YaHei" panose="020B0503020204020204" pitchFamily="34" charset="-122"/>
              </a:rPr>
              <a:t>《</a:t>
            </a:r>
            <a:r>
              <a:rPr kumimoji="1" lang="zh-CN" altLang="en-US" sz="1800" b="1" dirty="0">
                <a:solidFill>
                  <a:schemeClr val="tx1"/>
                </a:solidFill>
                <a:latin typeface="Microsoft YaHei" panose="020B0503020204020204" pitchFamily="34" charset="-122"/>
                <a:ea typeface="Microsoft YaHei" panose="020B0503020204020204" pitchFamily="34" charset="-122"/>
              </a:rPr>
              <a:t>差旅报销明细</a:t>
            </a:r>
            <a:r>
              <a:rPr kumimoji="1" lang="en-US" altLang="zh-CN" sz="1800" b="1" dirty="0">
                <a:solidFill>
                  <a:schemeClr val="tx1"/>
                </a:solidFill>
                <a:latin typeface="Microsoft YaHei" panose="020B0503020204020204" pitchFamily="34" charset="-122"/>
                <a:ea typeface="Microsoft YaHei" panose="020B0503020204020204" pitchFamily="34" charset="-122"/>
              </a:rPr>
              <a:t>》</a:t>
            </a:r>
            <a:r>
              <a:rPr kumimoji="1" lang="zh-CN" altLang="en-US" sz="1800" b="1" dirty="0">
                <a:solidFill>
                  <a:schemeClr val="tx1"/>
                </a:solidFill>
                <a:latin typeface="Microsoft YaHei" panose="020B0503020204020204" pitchFamily="34" charset="-122"/>
                <a:ea typeface="Microsoft YaHei" panose="020B0503020204020204" pitchFamily="34" charset="-122"/>
              </a:rPr>
              <a:t>签字后，发放报销费用（</a:t>
            </a:r>
            <a:r>
              <a:rPr kumimoji="1" lang="en-US" altLang="zh-CN" sz="1800" b="1" dirty="0">
                <a:solidFill>
                  <a:srgbClr val="FF0000"/>
                </a:solidFill>
                <a:latin typeface="Microsoft YaHei" panose="020B0503020204020204" pitchFamily="34" charset="-122"/>
                <a:ea typeface="Microsoft YaHei" panose="020B0503020204020204" pitchFamily="34" charset="-122"/>
              </a:rPr>
              <a:t>M+2</a:t>
            </a:r>
            <a:r>
              <a:rPr kumimoji="1" lang="zh-CN" altLang="en-US" sz="1800" b="1" dirty="0">
                <a:solidFill>
                  <a:srgbClr val="FF0000"/>
                </a:solidFill>
                <a:latin typeface="Microsoft YaHei" panose="020B0503020204020204" pitchFamily="34" charset="-122"/>
                <a:ea typeface="Microsoft YaHei" panose="020B0503020204020204" pitchFamily="34" charset="-122"/>
              </a:rPr>
              <a:t>月随薪资发放</a:t>
            </a:r>
            <a:r>
              <a:rPr kumimoji="1" lang="zh-CN" altLang="en-US" sz="1800" b="1" dirty="0">
                <a:solidFill>
                  <a:schemeClr val="tx1"/>
                </a:solidFill>
                <a:latin typeface="Microsoft YaHei" panose="020B0503020204020204" pitchFamily="34" charset="-122"/>
                <a:ea typeface="Microsoft YaHei" panose="020B0503020204020204" pitchFamily="34" charset="-122"/>
              </a:rPr>
              <a:t>）</a:t>
            </a:r>
            <a:endParaRPr kumimoji="1" lang="zh-CN" altLang="en-US" b="1" dirty="0">
              <a:solidFill>
                <a:schemeClr val="tx1"/>
              </a:solidFill>
            </a:endParaRPr>
          </a:p>
        </p:txBody>
      </p:sp>
      <p:sp>
        <p:nvSpPr>
          <p:cNvPr id="22" name="梯形 21">
            <a:extLst>
              <a:ext uri="{FF2B5EF4-FFF2-40B4-BE49-F238E27FC236}">
                <a16:creationId xmlns:a16="http://schemas.microsoft.com/office/drawing/2014/main" id="{CD6ABA8D-CB93-EE28-1286-451E36212476}"/>
              </a:ext>
            </a:extLst>
          </p:cNvPr>
          <p:cNvSpPr/>
          <p:nvPr/>
        </p:nvSpPr>
        <p:spPr>
          <a:xfrm rot="5400000">
            <a:off x="3788988" y="4032161"/>
            <a:ext cx="2921328" cy="570015"/>
          </a:xfrm>
          <a:prstGeom prst="trapezoid">
            <a:avLst>
              <a:gd name="adj" fmla="val 68781"/>
            </a:avLst>
          </a:prstGeom>
          <a:gradFill flip="none" rotWithShape="1">
            <a:gsLst>
              <a:gs pos="90000">
                <a:schemeClr val="accent6">
                  <a:lumMod val="0"/>
                  <a:lumOff val="100000"/>
                </a:schemeClr>
              </a:gs>
              <a:gs pos="0">
                <a:schemeClr val="accent6">
                  <a:lumMod val="10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832E3038-C278-6FB6-0414-9AF81FDDD82E}"/>
              </a:ext>
            </a:extLst>
          </p:cNvPr>
          <p:cNvSpPr/>
          <p:nvPr/>
        </p:nvSpPr>
        <p:spPr>
          <a:xfrm>
            <a:off x="4271083" y="2840945"/>
            <a:ext cx="700644" cy="2921329"/>
          </a:xfrm>
          <a:prstGeom prst="rect">
            <a:avLst/>
          </a:prstGeom>
          <a:gradFill flip="none" rotWithShape="1">
            <a:gsLst>
              <a:gs pos="0">
                <a:schemeClr val="accent6">
                  <a:lumMod val="45000"/>
                  <a:lumOff val="55000"/>
                </a:schemeClr>
              </a:gs>
              <a:gs pos="68000">
                <a:schemeClr val="accent6">
                  <a:lumMod val="10000"/>
                  <a:lumOff val="90000"/>
                </a:schemeClr>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latin typeface="Microsoft YaHei" panose="020B0503020204020204" pitchFamily="34" charset="-122"/>
                <a:ea typeface="Microsoft YaHei" panose="020B0503020204020204" pitchFamily="34" charset="-122"/>
              </a:rPr>
              <a:t>SFA</a:t>
            </a:r>
            <a:r>
              <a:rPr kumimoji="1" lang="zh-CN" altLang="en-US" b="1" dirty="0">
                <a:solidFill>
                  <a:schemeClr val="tx1"/>
                </a:solidFill>
                <a:latin typeface="Microsoft YaHei" panose="020B0503020204020204" pitchFamily="34" charset="-122"/>
                <a:ea typeface="Microsoft YaHei" panose="020B0503020204020204" pitchFamily="34" charset="-122"/>
              </a:rPr>
              <a:t>填写报销单</a:t>
            </a:r>
          </a:p>
        </p:txBody>
      </p:sp>
      <p:sp>
        <p:nvSpPr>
          <p:cNvPr id="25" name="文本框 24">
            <a:extLst>
              <a:ext uri="{FF2B5EF4-FFF2-40B4-BE49-F238E27FC236}">
                <a16:creationId xmlns:a16="http://schemas.microsoft.com/office/drawing/2014/main" id="{564ECC2B-02D6-8271-2D8E-73532644E162}"/>
              </a:ext>
            </a:extLst>
          </p:cNvPr>
          <p:cNvSpPr txBox="1"/>
          <p:nvPr/>
        </p:nvSpPr>
        <p:spPr>
          <a:xfrm>
            <a:off x="5880622" y="1398858"/>
            <a:ext cx="1625650" cy="923330"/>
          </a:xfrm>
          <a:prstGeom prst="rect">
            <a:avLst/>
          </a:prstGeom>
          <a:noFill/>
        </p:spPr>
        <p:txBody>
          <a:bodyPr wrap="square" rtlCol="0">
            <a:spAutoFit/>
          </a:bodyPr>
          <a:lstStyle/>
          <a:p>
            <a:r>
              <a:rPr kumimoji="1" lang="zh-CN" altLang="en-US" b="1" dirty="0">
                <a:solidFill>
                  <a:schemeClr val="tx1"/>
                </a:solidFill>
                <a:latin typeface="Microsoft YaHei" panose="020B0503020204020204" pitchFamily="34" charset="-122"/>
                <a:ea typeface="Microsoft YaHei" panose="020B0503020204020204" pitchFamily="34" charset="-122"/>
              </a:rPr>
              <a:t>下月初填写差旅报销明细及发票</a:t>
            </a:r>
            <a:endParaRPr kumimoji="1" lang="zh-CN" altLang="en-US" b="1" dirty="0"/>
          </a:p>
        </p:txBody>
      </p:sp>
      <p:sp>
        <p:nvSpPr>
          <p:cNvPr id="27" name="文本框 26">
            <a:extLst>
              <a:ext uri="{FF2B5EF4-FFF2-40B4-BE49-F238E27FC236}">
                <a16:creationId xmlns:a16="http://schemas.microsoft.com/office/drawing/2014/main" id="{CB1ECC42-5CE4-019C-7418-1815B6BA703F}"/>
              </a:ext>
            </a:extLst>
          </p:cNvPr>
          <p:cNvSpPr txBox="1"/>
          <p:nvPr/>
        </p:nvSpPr>
        <p:spPr>
          <a:xfrm>
            <a:off x="7668482" y="1396228"/>
            <a:ext cx="1937888" cy="646331"/>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核对费用明细及发票后提交</a:t>
            </a:r>
          </a:p>
        </p:txBody>
      </p:sp>
      <p:sp>
        <p:nvSpPr>
          <p:cNvPr id="16" name="文本框 15">
            <a:extLst>
              <a:ext uri="{FF2B5EF4-FFF2-40B4-BE49-F238E27FC236}">
                <a16:creationId xmlns:a16="http://schemas.microsoft.com/office/drawing/2014/main" id="{9B32B71D-65DD-741F-8F99-171A38DEEB64}"/>
              </a:ext>
            </a:extLst>
          </p:cNvPr>
          <p:cNvSpPr txBox="1"/>
          <p:nvPr/>
        </p:nvSpPr>
        <p:spPr>
          <a:xfrm>
            <a:off x="451262" y="5901212"/>
            <a:ext cx="8538359" cy="369332"/>
          </a:xfrm>
          <a:prstGeom prst="rect">
            <a:avLst/>
          </a:prstGeom>
          <a:noFill/>
        </p:spPr>
        <p:txBody>
          <a:bodyPr wrap="square" rtlCol="0">
            <a:spAutoFit/>
          </a:bodyPr>
          <a:lstStyle/>
          <a:p>
            <a:r>
              <a:rPr kumimoji="1" lang="zh-CN" altLang="en-US" b="1" dirty="0">
                <a:solidFill>
                  <a:srgbClr val="FF0000"/>
                </a:solidFill>
                <a:latin typeface="Microsoft YaHei" panose="020B0503020204020204" pitchFamily="34" charset="-122"/>
                <a:ea typeface="Microsoft YaHei" panose="020B0503020204020204" pitchFamily="34" charset="-122"/>
              </a:rPr>
              <a:t>签约旺旺的同事仍使用原来的报销流程（汇联易报销）</a:t>
            </a:r>
          </a:p>
        </p:txBody>
      </p:sp>
    </p:spTree>
    <p:extLst>
      <p:ext uri="{BB962C8B-B14F-4D97-AF65-F5344CB8AC3E}">
        <p14:creationId xmlns:p14="http://schemas.microsoft.com/office/powerpoint/2010/main" val="386509180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9D4A7-D8D0-4341-8683-2031BB3F78EA}"/>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E4C8CD9-200F-E912-B874-DD5B1286C667}"/>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ABE8405A-C2F8-3CB2-570B-0538E05FC8C3}"/>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分贝通设置个人支付密码</a:t>
            </a:r>
          </a:p>
        </p:txBody>
      </p:sp>
      <p:sp>
        <p:nvSpPr>
          <p:cNvPr id="4" name="文本框 3">
            <a:extLst>
              <a:ext uri="{FF2B5EF4-FFF2-40B4-BE49-F238E27FC236}">
                <a16:creationId xmlns:a16="http://schemas.microsoft.com/office/drawing/2014/main" id="{6A7F8E6B-80B6-E90E-F375-6716968181F7}"/>
              </a:ext>
            </a:extLst>
          </p:cNvPr>
          <p:cNvSpPr txBox="1"/>
          <p:nvPr/>
        </p:nvSpPr>
        <p:spPr>
          <a:xfrm>
            <a:off x="359311" y="1080655"/>
            <a:ext cx="10426535" cy="923330"/>
          </a:xfrm>
          <a:prstGeom prst="rect">
            <a:avLst/>
          </a:prstGeom>
          <a:noFill/>
        </p:spPr>
        <p:txBody>
          <a:bodyPr wrap="square" rtlCol="0">
            <a:spAutoFit/>
          </a:bodyPr>
          <a:lstStyle/>
          <a:p>
            <a:r>
              <a:rPr lang="zh-CN" altLang="en-US" sz="1800" b="1" dirty="0">
                <a:latin typeface="微软雅黑" panose="020B0503020204020204" pitchFamily="34" charset="-122"/>
                <a:ea typeface="微软雅黑" panose="020B0503020204020204" pitchFamily="34" charset="-122"/>
                <a:sym typeface="+mn-ea"/>
              </a:rPr>
              <a:t>首次登录后，页面自动弹出支付密码设置提醒；员工点击去设置，进行支付密码设置（</a:t>
            </a:r>
            <a:r>
              <a:rPr lang="zh-CN" altLang="en-US" sz="1800" b="1" dirty="0">
                <a:solidFill>
                  <a:srgbClr val="FF0000"/>
                </a:solidFill>
                <a:latin typeface="微软雅黑" panose="020B0503020204020204" pitchFamily="34" charset="-122"/>
                <a:ea typeface="微软雅黑" panose="020B0503020204020204" pitchFamily="34" charset="-122"/>
                <a:sym typeface="+mn-ea"/>
              </a:rPr>
              <a:t>我的</a:t>
            </a:r>
            <a:r>
              <a:rPr lang="en-US" altLang="zh-CN" sz="1800" b="1" dirty="0">
                <a:solidFill>
                  <a:srgbClr val="FF0000"/>
                </a:solidFill>
                <a:latin typeface="微软雅黑" panose="020B0503020204020204" pitchFamily="34" charset="-122"/>
                <a:ea typeface="微软雅黑" panose="020B0503020204020204" pitchFamily="34" charset="-122"/>
                <a:sym typeface="+mn-ea"/>
              </a:rPr>
              <a:t>-</a:t>
            </a:r>
            <a:r>
              <a:rPr lang="zh-CN" altLang="en-US" sz="1800" b="1" dirty="0">
                <a:solidFill>
                  <a:srgbClr val="FF0000"/>
                </a:solidFill>
                <a:latin typeface="微软雅黑" panose="020B0503020204020204" pitchFamily="34" charset="-122"/>
                <a:ea typeface="微软雅黑" panose="020B0503020204020204" pitchFamily="34" charset="-122"/>
                <a:sym typeface="+mn-ea"/>
              </a:rPr>
              <a:t>右上角设置</a:t>
            </a:r>
            <a:r>
              <a:rPr lang="en-US" altLang="zh-CN" sz="1800" b="1" dirty="0">
                <a:solidFill>
                  <a:srgbClr val="FF0000"/>
                </a:solidFill>
                <a:latin typeface="微软雅黑" panose="020B0503020204020204" pitchFamily="34" charset="-122"/>
                <a:ea typeface="微软雅黑" panose="020B0503020204020204" pitchFamily="34" charset="-122"/>
                <a:sym typeface="+mn-ea"/>
              </a:rPr>
              <a:t>-</a:t>
            </a:r>
            <a:r>
              <a:rPr lang="zh-CN" altLang="en-US" sz="1800" b="1" dirty="0">
                <a:solidFill>
                  <a:srgbClr val="FF0000"/>
                </a:solidFill>
                <a:latin typeface="微软雅黑" panose="020B0503020204020204" pitchFamily="34" charset="-122"/>
                <a:ea typeface="微软雅黑" panose="020B0503020204020204" pitchFamily="34" charset="-122"/>
                <a:sym typeface="+mn-ea"/>
              </a:rPr>
              <a:t>支付密码设置</a:t>
            </a:r>
            <a:r>
              <a:rPr lang="zh-CN" altLang="en-US" sz="1800" b="1" dirty="0">
                <a:latin typeface="微软雅黑" panose="020B0503020204020204" pitchFamily="34" charset="-122"/>
                <a:ea typeface="微软雅黑" panose="020B0503020204020204" pitchFamily="34" charset="-122"/>
                <a:sym typeface="+mn-ea"/>
              </a:rPr>
              <a:t>）</a:t>
            </a:r>
          </a:p>
          <a:p>
            <a:endParaRPr kumimoji="1" lang="zh-CN" altLang="en-US" dirty="0"/>
          </a:p>
        </p:txBody>
      </p:sp>
      <p:pic>
        <p:nvPicPr>
          <p:cNvPr id="5" name="图片 4">
            <a:extLst>
              <a:ext uri="{FF2B5EF4-FFF2-40B4-BE49-F238E27FC236}">
                <a16:creationId xmlns:a16="http://schemas.microsoft.com/office/drawing/2014/main" id="{0D170310-D456-F013-657D-EB1A1BF035B9}"/>
              </a:ext>
            </a:extLst>
          </p:cNvPr>
          <p:cNvPicPr>
            <a:picLocks noChangeAspect="1"/>
          </p:cNvPicPr>
          <p:nvPr/>
        </p:nvPicPr>
        <p:blipFill>
          <a:blip r:embed="rId3"/>
          <a:stretch>
            <a:fillRect/>
          </a:stretch>
        </p:blipFill>
        <p:spPr>
          <a:xfrm>
            <a:off x="7505947" y="1969086"/>
            <a:ext cx="1833758" cy="3932126"/>
          </a:xfrm>
          <a:prstGeom prst="rect">
            <a:avLst/>
          </a:prstGeom>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21F1D818-94FC-4D34-4966-9D3EC6686F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430" y="1925998"/>
            <a:ext cx="1848497" cy="3975254"/>
          </a:xfrm>
          <a:prstGeom prst="rect">
            <a:avLst/>
          </a:prstGeom>
          <a:effectLst>
            <a:outerShdw blurRad="50800" dist="38100" dir="2700000" algn="tl" rotWithShape="0">
              <a:prstClr val="black">
                <a:alpha val="40000"/>
              </a:prstClr>
            </a:outerShdw>
          </a:effectLst>
        </p:spPr>
      </p:pic>
      <p:pic>
        <p:nvPicPr>
          <p:cNvPr id="7" name="图片 6">
            <a:extLst>
              <a:ext uri="{FF2B5EF4-FFF2-40B4-BE49-F238E27FC236}">
                <a16:creationId xmlns:a16="http://schemas.microsoft.com/office/drawing/2014/main" id="{D937F8B2-0FD4-937D-0E33-83EF6F7F156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91830" y="1939038"/>
            <a:ext cx="1840859" cy="3945991"/>
          </a:xfrm>
          <a:prstGeom prst="rect">
            <a:avLst/>
          </a:prstGeom>
        </p:spPr>
        <p:style>
          <a:lnRef idx="0">
            <a:schemeClr val="accent3"/>
          </a:lnRef>
          <a:fillRef idx="3">
            <a:schemeClr val="accent3"/>
          </a:fillRef>
          <a:effectRef idx="3">
            <a:schemeClr val="accent3"/>
          </a:effectRef>
          <a:fontRef idx="minor">
            <a:schemeClr val="lt1"/>
          </a:fontRef>
        </p:style>
      </p:pic>
      <p:pic>
        <p:nvPicPr>
          <p:cNvPr id="8" name="图片 7">
            <a:extLst>
              <a:ext uri="{FF2B5EF4-FFF2-40B4-BE49-F238E27FC236}">
                <a16:creationId xmlns:a16="http://schemas.microsoft.com/office/drawing/2014/main" id="{FF12891F-1D06-24D9-88F0-54847F8B01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85154" y="1965195"/>
            <a:ext cx="1834890" cy="3945992"/>
          </a:xfrm>
          <a:prstGeom prst="rect">
            <a:avLst/>
          </a:prstGeom>
          <a:effectLst>
            <a:outerShdw blurRad="50800" dist="38100" dir="2700000" algn="tl" rotWithShape="0">
              <a:prstClr val="black">
                <a:alpha val="40000"/>
              </a:prstClr>
            </a:outerShdw>
          </a:effectLst>
        </p:spPr>
      </p:pic>
      <p:pic>
        <p:nvPicPr>
          <p:cNvPr id="9" name="图片 8">
            <a:extLst>
              <a:ext uri="{FF2B5EF4-FFF2-40B4-BE49-F238E27FC236}">
                <a16:creationId xmlns:a16="http://schemas.microsoft.com/office/drawing/2014/main" id="{203ED61C-6310-46D1-B706-907B78056C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4800" y="1959418"/>
            <a:ext cx="1825413" cy="3925611"/>
          </a:xfrm>
          <a:prstGeom prst="rect">
            <a:avLst/>
          </a:prstGeom>
          <a:effectLst>
            <a:outerShdw blurRad="50800" dist="38100" dir="2700000" algn="tl" rotWithShape="0">
              <a:prstClr val="black">
                <a:alpha val="40000"/>
              </a:prstClr>
            </a:outerShdw>
          </a:effectLst>
        </p:spPr>
      </p:pic>
      <p:sp>
        <p:nvSpPr>
          <p:cNvPr id="10" name="文本框 9">
            <a:extLst>
              <a:ext uri="{FF2B5EF4-FFF2-40B4-BE49-F238E27FC236}">
                <a16:creationId xmlns:a16="http://schemas.microsoft.com/office/drawing/2014/main" id="{E5B3B62C-24B5-9EB7-816A-FA4CE5A7C28E}"/>
              </a:ext>
            </a:extLst>
          </p:cNvPr>
          <p:cNvSpPr txBox="1"/>
          <p:nvPr/>
        </p:nvSpPr>
        <p:spPr>
          <a:xfrm>
            <a:off x="10517576" y="5951496"/>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步骤五</a:t>
            </a:r>
          </a:p>
        </p:txBody>
      </p:sp>
      <p:sp>
        <p:nvSpPr>
          <p:cNvPr id="11" name="文本框 10">
            <a:extLst>
              <a:ext uri="{FF2B5EF4-FFF2-40B4-BE49-F238E27FC236}">
                <a16:creationId xmlns:a16="http://schemas.microsoft.com/office/drawing/2014/main" id="{907921D9-AB10-6800-21F1-1867784D17A1}"/>
              </a:ext>
            </a:extLst>
          </p:cNvPr>
          <p:cNvSpPr txBox="1"/>
          <p:nvPr/>
        </p:nvSpPr>
        <p:spPr>
          <a:xfrm>
            <a:off x="8027681" y="6001780"/>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步骤四</a:t>
            </a:r>
          </a:p>
        </p:txBody>
      </p:sp>
      <p:sp>
        <p:nvSpPr>
          <p:cNvPr id="12" name="文本框 11">
            <a:extLst>
              <a:ext uri="{FF2B5EF4-FFF2-40B4-BE49-F238E27FC236}">
                <a16:creationId xmlns:a16="http://schemas.microsoft.com/office/drawing/2014/main" id="{D831557E-9B07-762E-0ECB-55651C06C9E1}"/>
              </a:ext>
            </a:extLst>
          </p:cNvPr>
          <p:cNvSpPr txBox="1"/>
          <p:nvPr/>
        </p:nvSpPr>
        <p:spPr>
          <a:xfrm>
            <a:off x="5537786" y="6045961"/>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步骤三</a:t>
            </a:r>
          </a:p>
        </p:txBody>
      </p:sp>
      <p:sp>
        <p:nvSpPr>
          <p:cNvPr id="13" name="文本框 12">
            <a:extLst>
              <a:ext uri="{FF2B5EF4-FFF2-40B4-BE49-F238E27FC236}">
                <a16:creationId xmlns:a16="http://schemas.microsoft.com/office/drawing/2014/main" id="{14981AFE-9335-C502-7E3A-0FCCF7F8553F}"/>
              </a:ext>
            </a:extLst>
          </p:cNvPr>
          <p:cNvSpPr txBox="1"/>
          <p:nvPr/>
        </p:nvSpPr>
        <p:spPr>
          <a:xfrm>
            <a:off x="3153711" y="6043789"/>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步骤二</a:t>
            </a:r>
          </a:p>
        </p:txBody>
      </p:sp>
      <p:sp>
        <p:nvSpPr>
          <p:cNvPr id="14" name="文本框 13">
            <a:extLst>
              <a:ext uri="{FF2B5EF4-FFF2-40B4-BE49-F238E27FC236}">
                <a16:creationId xmlns:a16="http://schemas.microsoft.com/office/drawing/2014/main" id="{33C6F31B-92E2-C4B3-B8F1-D23B4BFFA658}"/>
              </a:ext>
            </a:extLst>
          </p:cNvPr>
          <p:cNvSpPr txBox="1"/>
          <p:nvPr/>
        </p:nvSpPr>
        <p:spPr>
          <a:xfrm>
            <a:off x="663816" y="6043789"/>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步骤一</a:t>
            </a:r>
          </a:p>
        </p:txBody>
      </p:sp>
    </p:spTree>
    <p:extLst>
      <p:ext uri="{BB962C8B-B14F-4D97-AF65-F5344CB8AC3E}">
        <p14:creationId xmlns:p14="http://schemas.microsoft.com/office/powerpoint/2010/main" val="294572362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83DA8-61F9-DE6D-F8E4-2E3DB18D984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8981772-D603-2FD3-E8FE-F6AE2F6A3824}"/>
              </a:ext>
            </a:extLst>
          </p:cNvPr>
          <p:cNvSpPr txBox="1"/>
          <p:nvPr/>
        </p:nvSpPr>
        <p:spPr>
          <a:xfrm>
            <a:off x="286195" y="486888"/>
            <a:ext cx="6542117" cy="369332"/>
          </a:xfrm>
          <a:prstGeom prst="rect">
            <a:avLst/>
          </a:prstGeom>
          <a:noFill/>
        </p:spPr>
        <p:txBody>
          <a:bodyPr wrap="squar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订票前准备</a:t>
            </a:r>
          </a:p>
        </p:txBody>
      </p:sp>
      <p:pic>
        <p:nvPicPr>
          <p:cNvPr id="3" name="图片 2">
            <a:extLst>
              <a:ext uri="{FF2B5EF4-FFF2-40B4-BE49-F238E27FC236}">
                <a16:creationId xmlns:a16="http://schemas.microsoft.com/office/drawing/2014/main" id="{57C87FEC-0C8E-BD30-394D-FFF719E72A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85386" y="1904015"/>
            <a:ext cx="2421228" cy="4617679"/>
          </a:xfrm>
          <a:prstGeom prst="rect">
            <a:avLst/>
          </a:prstGeom>
        </p:spPr>
        <p:style>
          <a:lnRef idx="0">
            <a:schemeClr val="accent3"/>
          </a:lnRef>
          <a:fillRef idx="3">
            <a:schemeClr val="accent3"/>
          </a:fillRef>
          <a:effectRef idx="3">
            <a:schemeClr val="accent3"/>
          </a:effectRef>
          <a:fontRef idx="minor">
            <a:schemeClr val="lt1"/>
          </a:fontRef>
        </p:style>
      </p:pic>
      <p:sp>
        <p:nvSpPr>
          <p:cNvPr id="6" name="矩形 5">
            <a:extLst>
              <a:ext uri="{FF2B5EF4-FFF2-40B4-BE49-F238E27FC236}">
                <a16:creationId xmlns:a16="http://schemas.microsoft.com/office/drawing/2014/main" id="{CB32D1CB-8B64-AB82-8AE5-39C199175414}"/>
              </a:ext>
            </a:extLst>
          </p:cNvPr>
          <p:cNvSpPr/>
          <p:nvPr/>
        </p:nvSpPr>
        <p:spPr>
          <a:xfrm>
            <a:off x="224654" y="1116555"/>
            <a:ext cx="11807374" cy="787460"/>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latin typeface="微软雅黑" panose="020B0503020204020204" pitchFamily="34" charset="-122"/>
                <a:ea typeface="微软雅黑" panose="020B0503020204020204" pitchFamily="34" charset="-122"/>
                <a:sym typeface="+mn-ea"/>
              </a:rPr>
              <a:t>初次订票需要</a:t>
            </a:r>
            <a:r>
              <a:rPr lang="zh-CN" altLang="en-US" sz="1600" b="1" dirty="0">
                <a:solidFill>
                  <a:srgbClr val="FF0000"/>
                </a:solidFill>
                <a:latin typeface="微软雅黑" panose="020B0503020204020204" pitchFamily="34" charset="-122"/>
                <a:ea typeface="微软雅黑" panose="020B0503020204020204" pitchFamily="34" charset="-122"/>
                <a:sym typeface="+mn-ea"/>
              </a:rPr>
              <a:t>绑定个人</a:t>
            </a:r>
            <a:r>
              <a:rPr lang="en-US" altLang="zh-CN" sz="1600" b="1" dirty="0">
                <a:solidFill>
                  <a:srgbClr val="FF0000"/>
                </a:solidFill>
                <a:latin typeface="微软雅黑" panose="020B0503020204020204" pitchFamily="34" charset="-122"/>
                <a:ea typeface="微软雅黑" panose="020B0503020204020204" pitchFamily="34" charset="-122"/>
                <a:sym typeface="+mn-ea"/>
              </a:rPr>
              <a:t>12306</a:t>
            </a:r>
            <a:r>
              <a:rPr lang="zh-CN" altLang="en-US" sz="1600" b="1" dirty="0">
                <a:solidFill>
                  <a:srgbClr val="FF0000"/>
                </a:solidFill>
                <a:latin typeface="微软雅黑" panose="020B0503020204020204" pitchFamily="34" charset="-122"/>
                <a:ea typeface="微软雅黑" panose="020B0503020204020204" pitchFamily="34" charset="-122"/>
                <a:sym typeface="+mn-ea"/>
              </a:rPr>
              <a:t>账号</a:t>
            </a:r>
            <a:r>
              <a:rPr lang="zh-CN" altLang="en-US" sz="1600" b="1" dirty="0">
                <a:latin typeface="微软雅黑" panose="020B0503020204020204" pitchFamily="34" charset="-122"/>
                <a:ea typeface="微软雅黑" panose="020B0503020204020204" pitchFamily="34" charset="-122"/>
                <a:sym typeface="+mn-ea"/>
              </a:rPr>
              <a:t>，如</a:t>
            </a:r>
            <a:r>
              <a:rPr lang="zh-CN" altLang="en-US" sz="1600" b="1" dirty="0">
                <a:solidFill>
                  <a:srgbClr val="FF0000"/>
                </a:solidFill>
                <a:latin typeface="微软雅黑" panose="020B0503020204020204" pitchFamily="34" charset="-122"/>
                <a:ea typeface="微软雅黑" panose="020B0503020204020204" pitchFamily="34" charset="-122"/>
                <a:sym typeface="+mn-ea"/>
              </a:rPr>
              <a:t>忘记密码可去</a:t>
            </a:r>
            <a:r>
              <a:rPr lang="en-US" altLang="zh-CN" sz="1600" b="1" dirty="0">
                <a:solidFill>
                  <a:srgbClr val="FF0000"/>
                </a:solidFill>
                <a:latin typeface="微软雅黑" panose="020B0503020204020204" pitchFamily="34" charset="-122"/>
                <a:ea typeface="微软雅黑" panose="020B0503020204020204" pitchFamily="34" charset="-122"/>
                <a:sym typeface="+mn-ea"/>
              </a:rPr>
              <a:t>12306</a:t>
            </a:r>
            <a:r>
              <a:rPr lang="zh-CN" altLang="en-US" sz="1600" b="1" dirty="0">
                <a:solidFill>
                  <a:srgbClr val="FF0000"/>
                </a:solidFill>
                <a:latin typeface="微软雅黑" panose="020B0503020204020204" pitchFamily="34" charset="-122"/>
                <a:ea typeface="微软雅黑" panose="020B0503020204020204" pitchFamily="34" charset="-122"/>
                <a:sym typeface="+mn-ea"/>
              </a:rPr>
              <a:t>重置密码</a:t>
            </a:r>
            <a:r>
              <a:rPr lang="zh-CN" altLang="en-US" sz="1600" b="1" dirty="0">
                <a:latin typeface="微软雅黑" panose="020B0503020204020204" pitchFamily="34" charset="-122"/>
                <a:ea typeface="微软雅黑" panose="020B0503020204020204" pitchFamily="34" charset="-122"/>
                <a:sym typeface="+mn-ea"/>
              </a:rPr>
              <a:t>。</a:t>
            </a:r>
            <a:endParaRPr lang="en-US" altLang="zh-CN" sz="1600" b="1" dirty="0">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latin typeface="微软雅黑" panose="020B0503020204020204" pitchFamily="34" charset="-122"/>
                <a:ea typeface="微软雅黑" panose="020B0503020204020204" pitchFamily="34" charset="-122"/>
                <a:sym typeface="+mn-ea"/>
              </a:rPr>
              <a:t>登录后</a:t>
            </a:r>
            <a:r>
              <a:rPr lang="zh-CN" altLang="en-US" sz="1600" b="1" dirty="0">
                <a:solidFill>
                  <a:srgbClr val="FF0000"/>
                </a:solidFill>
                <a:latin typeface="微软雅黑" panose="020B0503020204020204" pitchFamily="34" charset="-122"/>
                <a:ea typeface="微软雅黑" panose="020B0503020204020204" pitchFamily="34" charset="-122"/>
                <a:sym typeface="+mn-ea"/>
              </a:rPr>
              <a:t>添加自己作为乘车人</a:t>
            </a:r>
            <a:endParaRPr lang="en-US" altLang="zh-CN" sz="1600" b="1" dirty="0">
              <a:solidFill>
                <a:srgbClr val="FF0000"/>
              </a:solidFill>
              <a:latin typeface="微软雅黑" panose="020B0503020204020204" pitchFamily="34" charset="-122"/>
              <a:ea typeface="微软雅黑" panose="020B0503020204020204" pitchFamily="34" charset="-122"/>
              <a:sym typeface="+mn-ea"/>
            </a:endParaRPr>
          </a:p>
        </p:txBody>
      </p:sp>
      <p:pic>
        <p:nvPicPr>
          <p:cNvPr id="4" name="图片 3">
            <a:extLst>
              <a:ext uri="{FF2B5EF4-FFF2-40B4-BE49-F238E27FC236}">
                <a16:creationId xmlns:a16="http://schemas.microsoft.com/office/drawing/2014/main" id="{94AFBDDD-293A-84C9-7A58-6CBE807D2B56}"/>
              </a:ext>
            </a:extLst>
          </p:cNvPr>
          <p:cNvPicPr>
            <a:picLocks noChangeAspect="1"/>
          </p:cNvPicPr>
          <p:nvPr/>
        </p:nvPicPr>
        <p:blipFill>
          <a:blip r:embed="rId3"/>
          <a:stretch>
            <a:fillRect/>
          </a:stretch>
        </p:blipFill>
        <p:spPr>
          <a:xfrm>
            <a:off x="286195" y="5794221"/>
            <a:ext cx="1257300" cy="635000"/>
          </a:xfrm>
          <a:prstGeom prst="rect">
            <a:avLst/>
          </a:prstGeom>
        </p:spPr>
      </p:pic>
      <p:sp>
        <p:nvSpPr>
          <p:cNvPr id="5" name="任意形状 4">
            <a:extLst>
              <a:ext uri="{FF2B5EF4-FFF2-40B4-BE49-F238E27FC236}">
                <a16:creationId xmlns:a16="http://schemas.microsoft.com/office/drawing/2014/main" id="{A8EE248D-0268-04DB-B665-EF73D92FD2CB}"/>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分贝通绑定个人</a:t>
            </a:r>
            <a:r>
              <a:rPr kumimoji="1" lang="en-US" altLang="zh-CN" b="1" dirty="0">
                <a:solidFill>
                  <a:schemeClr val="bg1"/>
                </a:solidFill>
                <a:latin typeface="Microsoft YaHei" panose="020B0503020204020204" pitchFamily="34" charset="-122"/>
                <a:ea typeface="Microsoft YaHei" panose="020B0503020204020204" pitchFamily="34" charset="-122"/>
              </a:rPr>
              <a:t>12306</a:t>
            </a:r>
            <a:r>
              <a:rPr kumimoji="1" lang="zh-CN" altLang="en-US" b="1" dirty="0">
                <a:solidFill>
                  <a:schemeClr val="bg1"/>
                </a:solidFill>
                <a:latin typeface="Microsoft YaHei" panose="020B0503020204020204" pitchFamily="34" charset="-122"/>
                <a:ea typeface="Microsoft YaHei" panose="020B0503020204020204" pitchFamily="34" charset="-122"/>
              </a:rPr>
              <a:t>账户</a:t>
            </a:r>
          </a:p>
        </p:txBody>
      </p:sp>
    </p:spTree>
    <p:extLst>
      <p:ext uri="{BB962C8B-B14F-4D97-AF65-F5344CB8AC3E}">
        <p14:creationId xmlns:p14="http://schemas.microsoft.com/office/powerpoint/2010/main" val="44250566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B4EBE-3C6F-66A2-874B-3B0DA777AF1D}"/>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C36D0204-CF70-B74F-108A-EBDBBA799B3D}"/>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3F60E42B-0366-7FBD-33DA-F8E696D91638}"/>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分贝通维护证件信息</a:t>
            </a:r>
          </a:p>
        </p:txBody>
      </p:sp>
      <p:pic>
        <p:nvPicPr>
          <p:cNvPr id="4" name="图片 3">
            <a:extLst>
              <a:ext uri="{FF2B5EF4-FFF2-40B4-BE49-F238E27FC236}">
                <a16:creationId xmlns:a16="http://schemas.microsoft.com/office/drawing/2014/main" id="{E3F7E88E-7131-F8E6-E1A6-8A6115872245}"/>
              </a:ext>
            </a:extLst>
          </p:cNvPr>
          <p:cNvPicPr>
            <a:picLocks noChangeAspect="1"/>
          </p:cNvPicPr>
          <p:nvPr/>
        </p:nvPicPr>
        <p:blipFill>
          <a:blip r:embed="rId3"/>
          <a:stretch>
            <a:fillRect/>
          </a:stretch>
        </p:blipFill>
        <p:spPr>
          <a:xfrm>
            <a:off x="1247685" y="1576524"/>
            <a:ext cx="2250127" cy="4794291"/>
          </a:xfrm>
          <a:prstGeom prst="rect">
            <a:avLst/>
          </a:prstGeom>
          <a:effectLst>
            <a:outerShdw blurRad="50800" dist="38100" dir="2700000" algn="tl" rotWithShape="0">
              <a:prstClr val="black">
                <a:alpha val="40000"/>
              </a:prstClr>
            </a:outerShdw>
          </a:effectLst>
        </p:spPr>
      </p:pic>
      <p:sp>
        <p:nvSpPr>
          <p:cNvPr id="5" name="矩形 4">
            <a:extLst>
              <a:ext uri="{FF2B5EF4-FFF2-40B4-BE49-F238E27FC236}">
                <a16:creationId xmlns:a16="http://schemas.microsoft.com/office/drawing/2014/main" id="{32AD238B-E278-F942-F725-BC0E0F64B37A}"/>
              </a:ext>
            </a:extLst>
          </p:cNvPr>
          <p:cNvSpPr/>
          <p:nvPr/>
        </p:nvSpPr>
        <p:spPr>
          <a:xfrm>
            <a:off x="210455" y="1152241"/>
            <a:ext cx="10829270" cy="418191"/>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latin typeface="微软雅黑" panose="020B0503020204020204" pitchFamily="34" charset="-122"/>
                <a:ea typeface="微软雅黑" panose="020B0503020204020204" pitchFamily="34" charset="-122"/>
                <a:sym typeface="+mn-ea"/>
              </a:rPr>
              <a:t>路径：我的</a:t>
            </a:r>
            <a:r>
              <a:rPr lang="en-US" altLang="zh-CN" sz="1600" b="1" dirty="0">
                <a:latin typeface="微软雅黑" panose="020B0503020204020204" pitchFamily="34" charset="-122"/>
                <a:ea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sym typeface="+mn-ea"/>
              </a:rPr>
              <a:t>常用信息</a:t>
            </a:r>
            <a:r>
              <a:rPr lang="en-US" altLang="zh-CN" sz="1600" b="1" dirty="0">
                <a:latin typeface="微软雅黑" panose="020B0503020204020204" pitchFamily="34" charset="-122"/>
                <a:ea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sym typeface="+mn-ea"/>
              </a:rPr>
              <a:t>维护证件信息</a:t>
            </a:r>
          </a:p>
        </p:txBody>
      </p:sp>
      <p:pic>
        <p:nvPicPr>
          <p:cNvPr id="6" name="图片 5">
            <a:extLst>
              <a:ext uri="{FF2B5EF4-FFF2-40B4-BE49-F238E27FC236}">
                <a16:creationId xmlns:a16="http://schemas.microsoft.com/office/drawing/2014/main" id="{963EECD1-BFF5-50E9-78B1-EE1C44E82D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11530" y="1576450"/>
            <a:ext cx="2251084" cy="4794662"/>
          </a:xfrm>
          <a:prstGeom prst="rect">
            <a:avLst/>
          </a:prstGeom>
        </p:spPr>
        <p:style>
          <a:lnRef idx="0">
            <a:schemeClr val="accent3"/>
          </a:lnRef>
          <a:fillRef idx="3">
            <a:schemeClr val="accent3"/>
          </a:fillRef>
          <a:effectRef idx="3">
            <a:schemeClr val="accent3"/>
          </a:effectRef>
          <a:fontRef idx="minor">
            <a:schemeClr val="lt1"/>
          </a:fontRef>
        </p:style>
      </p:pic>
      <p:pic>
        <p:nvPicPr>
          <p:cNvPr id="7" name="图片 6">
            <a:extLst>
              <a:ext uri="{FF2B5EF4-FFF2-40B4-BE49-F238E27FC236}">
                <a16:creationId xmlns:a16="http://schemas.microsoft.com/office/drawing/2014/main" id="{C3468983-1007-6DD8-0B2C-70333312E7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701" y="1576352"/>
            <a:ext cx="2251084" cy="4793412"/>
          </a:xfrm>
          <a:prstGeom prst="rect">
            <a:avLst/>
          </a:prstGeom>
        </p:spPr>
        <p:style>
          <a:lnRef idx="0">
            <a:schemeClr val="accent3"/>
          </a:lnRef>
          <a:fillRef idx="3">
            <a:schemeClr val="accent3"/>
          </a:fillRef>
          <a:effectRef idx="3">
            <a:schemeClr val="accent3"/>
          </a:effectRef>
          <a:fontRef idx="minor">
            <a:schemeClr val="lt1"/>
          </a:fontRef>
        </p:style>
      </p:pic>
      <p:sp>
        <p:nvSpPr>
          <p:cNvPr id="8" name="文本框 7">
            <a:extLst>
              <a:ext uri="{FF2B5EF4-FFF2-40B4-BE49-F238E27FC236}">
                <a16:creationId xmlns:a16="http://schemas.microsoft.com/office/drawing/2014/main" id="{B186D7F1-189E-FAAB-9409-96EEB3C8FC87}"/>
              </a:ext>
            </a:extLst>
          </p:cNvPr>
          <p:cNvSpPr txBox="1"/>
          <p:nvPr/>
        </p:nvSpPr>
        <p:spPr>
          <a:xfrm>
            <a:off x="1923860" y="6444778"/>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步骤一</a:t>
            </a:r>
          </a:p>
        </p:txBody>
      </p:sp>
      <p:sp>
        <p:nvSpPr>
          <p:cNvPr id="9" name="文本框 8">
            <a:extLst>
              <a:ext uri="{FF2B5EF4-FFF2-40B4-BE49-F238E27FC236}">
                <a16:creationId xmlns:a16="http://schemas.microsoft.com/office/drawing/2014/main" id="{37453C75-E80E-89A8-12B8-3D140790FDC1}"/>
              </a:ext>
            </a:extLst>
          </p:cNvPr>
          <p:cNvSpPr txBox="1"/>
          <p:nvPr/>
        </p:nvSpPr>
        <p:spPr>
          <a:xfrm>
            <a:off x="5388184" y="6496903"/>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步骤二</a:t>
            </a:r>
          </a:p>
        </p:txBody>
      </p:sp>
      <p:sp>
        <p:nvSpPr>
          <p:cNvPr id="10" name="文本框 9">
            <a:extLst>
              <a:ext uri="{FF2B5EF4-FFF2-40B4-BE49-F238E27FC236}">
                <a16:creationId xmlns:a16="http://schemas.microsoft.com/office/drawing/2014/main" id="{3567E566-DC69-4F1B-D262-D91E8EE41ACF}"/>
              </a:ext>
            </a:extLst>
          </p:cNvPr>
          <p:cNvSpPr txBox="1"/>
          <p:nvPr/>
        </p:nvSpPr>
        <p:spPr>
          <a:xfrm>
            <a:off x="8828355" y="6488668"/>
            <a:ext cx="897775" cy="369332"/>
          </a:xfrm>
          <a:prstGeom prst="rect">
            <a:avLst/>
          </a:prstGeom>
          <a:noFill/>
        </p:spPr>
        <p:txBody>
          <a:bodyPr wrap="square" rtlCol="0">
            <a:spAutoFit/>
          </a:bodyPr>
          <a:lstStyle/>
          <a:p>
            <a:pPr algn="dist"/>
            <a:r>
              <a:rPr kumimoji="1" lang="zh-CN" altLang="en-US" dirty="0">
                <a:latin typeface="Microsoft YaHei" panose="020B0503020204020204" pitchFamily="34" charset="-122"/>
                <a:ea typeface="Microsoft YaHei" panose="020B0503020204020204" pitchFamily="34" charset="-122"/>
              </a:rPr>
              <a:t>步骤三</a:t>
            </a:r>
          </a:p>
        </p:txBody>
      </p:sp>
    </p:spTree>
    <p:extLst>
      <p:ext uri="{BB962C8B-B14F-4D97-AF65-F5344CB8AC3E}">
        <p14:creationId xmlns:p14="http://schemas.microsoft.com/office/powerpoint/2010/main" val="85472304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C0B1-AAB8-E939-C315-A9CE79AFFD87}"/>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B422EA8B-E226-DDDE-0180-170237BF4388}"/>
              </a:ext>
            </a:extLst>
          </p:cNvPr>
          <p:cNvPicPr>
            <a:picLocks noChangeAspect="1"/>
          </p:cNvPicPr>
          <p:nvPr/>
        </p:nvPicPr>
        <p:blipFill>
          <a:blip r:embed="rId6"/>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8A1421C0-CD5C-D7B5-E5EA-5A785860195E}"/>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分贝通消费规则</a:t>
            </a:r>
          </a:p>
        </p:txBody>
      </p:sp>
      <p:pic>
        <p:nvPicPr>
          <p:cNvPr id="4" name="图片 3">
            <a:extLst>
              <a:ext uri="{FF2B5EF4-FFF2-40B4-BE49-F238E27FC236}">
                <a16:creationId xmlns:a16="http://schemas.microsoft.com/office/drawing/2014/main" id="{BE61F10F-45CD-4A3A-9197-0BF1B2E65D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9311" y="1935678"/>
            <a:ext cx="2600497" cy="4781369"/>
          </a:xfrm>
          <a:prstGeom prst="rect">
            <a:avLst/>
          </a:prstGeom>
          <a:effectLst>
            <a:outerShdw blurRad="50800" dist="38100" dir="2700000" algn="tl" rotWithShape="0">
              <a:prstClr val="black">
                <a:alpha val="40000"/>
              </a:prstClr>
            </a:outerShdw>
          </a:effectLst>
        </p:spPr>
      </p:pic>
      <p:sp>
        <p:nvSpPr>
          <p:cNvPr id="5" name="矩形 4">
            <a:extLst>
              <a:ext uri="{FF2B5EF4-FFF2-40B4-BE49-F238E27FC236}">
                <a16:creationId xmlns:a16="http://schemas.microsoft.com/office/drawing/2014/main" id="{6674EB24-FA2D-4AA2-2EC6-A576B3073099}"/>
              </a:ext>
            </a:extLst>
          </p:cNvPr>
          <p:cNvSpPr/>
          <p:nvPr/>
        </p:nvSpPr>
        <p:spPr>
          <a:xfrm>
            <a:off x="2042556" y="3135851"/>
            <a:ext cx="917252" cy="293150"/>
          </a:xfrm>
          <a:prstGeom prst="rect">
            <a:avLst/>
          </a:prstGeom>
          <a:no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2">
                  <a:lumMod val="75000"/>
                </a:schemeClr>
              </a:solidFill>
            </a:endParaRPr>
          </a:p>
        </p:txBody>
      </p:sp>
      <p:pic>
        <p:nvPicPr>
          <p:cNvPr id="6" name="图片 5">
            <a:extLst>
              <a:ext uri="{FF2B5EF4-FFF2-40B4-BE49-F238E27FC236}">
                <a16:creationId xmlns:a16="http://schemas.microsoft.com/office/drawing/2014/main" id="{41AC981A-C902-6DBD-4451-B2C99A3C13D9}"/>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4238599" y="1933129"/>
            <a:ext cx="2600498" cy="4781370"/>
          </a:xfrm>
          <a:prstGeom prst="rect">
            <a:avLst/>
          </a:prstGeom>
        </p:spPr>
        <p:style>
          <a:lnRef idx="0">
            <a:schemeClr val="accent3"/>
          </a:lnRef>
          <a:fillRef idx="3">
            <a:schemeClr val="accent3"/>
          </a:fillRef>
          <a:effectRef idx="3">
            <a:schemeClr val="accent3"/>
          </a:effectRef>
          <a:fontRef idx="minor">
            <a:schemeClr val="lt1"/>
          </a:fontRef>
        </p:style>
      </p:pic>
      <p:pic>
        <p:nvPicPr>
          <p:cNvPr id="7" name="图片 6">
            <a:extLst>
              <a:ext uri="{FF2B5EF4-FFF2-40B4-BE49-F238E27FC236}">
                <a16:creationId xmlns:a16="http://schemas.microsoft.com/office/drawing/2014/main" id="{F65A3B67-23D6-586B-E59C-B66302A18265}"/>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7584440" y="1931751"/>
            <a:ext cx="2596515" cy="4774483"/>
          </a:xfrm>
          <a:prstGeom prst="rect">
            <a:avLst/>
          </a:prstGeom>
        </p:spPr>
        <p:style>
          <a:lnRef idx="0">
            <a:schemeClr val="accent3"/>
          </a:lnRef>
          <a:fillRef idx="3">
            <a:schemeClr val="accent3"/>
          </a:fillRef>
          <a:effectRef idx="3">
            <a:schemeClr val="accent3"/>
          </a:effectRef>
          <a:fontRef idx="minor">
            <a:schemeClr val="lt1"/>
          </a:fontRef>
        </p:style>
      </p:pic>
      <p:sp>
        <p:nvSpPr>
          <p:cNvPr id="8" name="矩形 7">
            <a:extLst>
              <a:ext uri="{FF2B5EF4-FFF2-40B4-BE49-F238E27FC236}">
                <a16:creationId xmlns:a16="http://schemas.microsoft.com/office/drawing/2014/main" id="{D5AADA69-76BA-5371-4CDB-C2D11C707E8C}"/>
              </a:ext>
            </a:extLst>
          </p:cNvPr>
          <p:cNvSpPr/>
          <p:nvPr>
            <p:custDataLst>
              <p:tags r:id="rId3"/>
            </p:custDataLst>
          </p:nvPr>
        </p:nvSpPr>
        <p:spPr>
          <a:xfrm>
            <a:off x="8510904" y="2400579"/>
            <a:ext cx="743585" cy="306153"/>
          </a:xfrm>
          <a:prstGeom prst="rect">
            <a:avLst/>
          </a:prstGeom>
          <a:no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2">
                  <a:lumMod val="75000"/>
                </a:schemeClr>
              </a:solidFill>
            </a:endParaRPr>
          </a:p>
        </p:txBody>
      </p:sp>
      <p:sp>
        <p:nvSpPr>
          <p:cNvPr id="9" name="文本框 8">
            <a:extLst>
              <a:ext uri="{FF2B5EF4-FFF2-40B4-BE49-F238E27FC236}">
                <a16:creationId xmlns:a16="http://schemas.microsoft.com/office/drawing/2014/main" id="{FAEB9932-8FA5-7137-7051-07CF4449335C}"/>
              </a:ext>
            </a:extLst>
          </p:cNvPr>
          <p:cNvSpPr txBox="1"/>
          <p:nvPr>
            <p:custDataLst>
              <p:tags r:id="rId4"/>
            </p:custDataLst>
          </p:nvPr>
        </p:nvSpPr>
        <p:spPr>
          <a:xfrm>
            <a:off x="359311" y="1061502"/>
            <a:ext cx="11385612" cy="787460"/>
          </a:xfrm>
          <a:prstGeom prst="rect">
            <a:avLst/>
          </a:prstGeom>
        </p:spPr>
        <p:txBody>
          <a:bodyPr wrap="square">
            <a:spAutoFit/>
          </a:bodyPr>
          <a:lstStyle>
            <a:defPPr>
              <a:defRPr lang="zh-CN"/>
            </a:defPPr>
            <a:lvl1pPr indent="0" defTabSz="344170" fontAlgn="auto">
              <a:lnSpc>
                <a:spcPct val="150000"/>
              </a:lnSpc>
              <a:buFont typeface="+mj-lt"/>
              <a:buNone/>
              <a:defRPr sz="1600" b="1">
                <a:solidFill>
                  <a:srgbClr val="53585F"/>
                </a:solidFill>
                <a:latin typeface="微软雅黑" panose="020B0503020204020204" pitchFamily="34" charset="-122"/>
                <a:ea typeface="微软雅黑" panose="020B0503020204020204" pitchFamily="34" charset="-122"/>
                <a:cs typeface="PingFang SC Semibold" panose="020B0400000000000000" charset="-122"/>
              </a:defRPr>
            </a:lvl1pPr>
          </a:lstStyle>
          <a:p>
            <a:r>
              <a:rPr lang="zh-CN" altLang="en-US" dirty="0">
                <a:solidFill>
                  <a:schemeClr val="tx1"/>
                </a:solidFill>
                <a:sym typeface="+mn-ea"/>
              </a:rPr>
              <a:t>根据公司出差标准设置，不同职级规则会不一样，后续的规则调整按照公司出差标准调整</a:t>
            </a:r>
            <a:endParaRPr lang="en-US" altLang="zh-CN" dirty="0">
              <a:solidFill>
                <a:schemeClr val="tx1"/>
              </a:solidFill>
              <a:sym typeface="+mn-ea"/>
            </a:endParaRPr>
          </a:p>
          <a:p>
            <a:r>
              <a:rPr lang="zh-CN" altLang="en-US" dirty="0">
                <a:solidFill>
                  <a:schemeClr val="tx1"/>
                </a:solidFill>
                <a:sym typeface="+mn-ea"/>
              </a:rPr>
              <a:t>营运端人员可以查看自己的预算，订票和报销都受预算管控，每个区的预算是有差异的，</a:t>
            </a:r>
            <a:r>
              <a:rPr lang="zh-CN" altLang="en-US" dirty="0">
                <a:solidFill>
                  <a:srgbClr val="FF0000"/>
                </a:solidFill>
                <a:sym typeface="+mn-ea"/>
              </a:rPr>
              <a:t>超预算无法继续订票和报销</a:t>
            </a:r>
          </a:p>
        </p:txBody>
      </p:sp>
    </p:spTree>
    <p:extLst>
      <p:ext uri="{BB962C8B-B14F-4D97-AF65-F5344CB8AC3E}">
        <p14:creationId xmlns:p14="http://schemas.microsoft.com/office/powerpoint/2010/main" val="207893594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F80D4-620B-FD41-7E7D-4B70518803A7}"/>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0D66D073-2BCD-2724-CD81-5FF6C516F76C}"/>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572FDE81-5F67-11F4-13D6-57E661A9FD55}"/>
              </a:ext>
            </a:extLst>
          </p:cNvPr>
          <p:cNvPicPr>
            <a:picLocks noChangeAspect="1"/>
          </p:cNvPicPr>
          <p:nvPr/>
        </p:nvPicPr>
        <p:blipFill>
          <a:blip r:embed="rId3"/>
          <a:stretch>
            <a:fillRect/>
          </a:stretch>
        </p:blipFill>
        <p:spPr>
          <a:xfrm>
            <a:off x="8040949" y="1670121"/>
            <a:ext cx="2051790" cy="4967460"/>
          </a:xfrm>
          <a:prstGeom prst="rect">
            <a:avLst/>
          </a:prstGeom>
          <a:effectLst>
            <a:outerShdw blurRad="50800" dist="38100" dir="2700000" algn="tl" rotWithShape="0">
              <a:prstClr val="black">
                <a:alpha val="40000"/>
              </a:prstClr>
            </a:outerShdw>
          </a:effectLst>
        </p:spPr>
      </p:pic>
      <p:sp>
        <p:nvSpPr>
          <p:cNvPr id="4" name="文本框 3">
            <a:extLst>
              <a:ext uri="{FF2B5EF4-FFF2-40B4-BE49-F238E27FC236}">
                <a16:creationId xmlns:a16="http://schemas.microsoft.com/office/drawing/2014/main" id="{382ABB8B-BE3C-13B1-609E-523343C96A7C}"/>
              </a:ext>
            </a:extLst>
          </p:cNvPr>
          <p:cNvSpPr txBox="1"/>
          <p:nvPr/>
        </p:nvSpPr>
        <p:spPr>
          <a:xfrm>
            <a:off x="10209405" y="3234910"/>
            <a:ext cx="1804418" cy="1527982"/>
          </a:xfrm>
          <a:prstGeom prst="rect">
            <a:avLst/>
          </a:prstGeom>
          <a:noFill/>
        </p:spPr>
        <p:txBody>
          <a:bodyPr wrap="square" rtlCol="0">
            <a:spAutoFit/>
          </a:bodyPr>
          <a:lstStyle>
            <a:defPPr>
              <a:defRPr lang="zh-CN"/>
            </a:defPPr>
            <a:lvl1pPr>
              <a:lnSpc>
                <a:spcPct val="150000"/>
              </a:lnSpc>
              <a:defRPr kumimoji="1">
                <a:latin typeface="Microsoft YaHei" panose="020B0503020204020204" pitchFamily="34" charset="-122"/>
                <a:ea typeface="Microsoft YaHei" panose="020B0503020204020204" pitchFamily="34" charset="-122"/>
              </a:defRPr>
            </a:lvl1pPr>
          </a:lstStyle>
          <a:p>
            <a:r>
              <a:rPr lang="zh-CN" altLang="en-US" dirty="0">
                <a:sym typeface="+mn-ea"/>
              </a:rPr>
              <a:t>提交人的消息通知，被回退单据需要注意调整后重新提交</a:t>
            </a:r>
          </a:p>
        </p:txBody>
      </p:sp>
      <p:pic>
        <p:nvPicPr>
          <p:cNvPr id="5" name="图片 4">
            <a:extLst>
              <a:ext uri="{FF2B5EF4-FFF2-40B4-BE49-F238E27FC236}">
                <a16:creationId xmlns:a16="http://schemas.microsoft.com/office/drawing/2014/main" id="{334B1772-B928-4EC5-1090-891531126F4C}"/>
              </a:ext>
            </a:extLst>
          </p:cNvPr>
          <p:cNvPicPr>
            <a:picLocks noChangeAspect="1"/>
          </p:cNvPicPr>
          <p:nvPr/>
        </p:nvPicPr>
        <p:blipFill>
          <a:blip r:embed="rId4"/>
          <a:stretch>
            <a:fillRect/>
          </a:stretch>
        </p:blipFill>
        <p:spPr>
          <a:xfrm>
            <a:off x="1784077" y="1701447"/>
            <a:ext cx="2104825" cy="5094000"/>
          </a:xfrm>
          <a:prstGeom prst="rect">
            <a:avLst/>
          </a:prstGeom>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0E4CDF16-10CE-32B6-0534-5B548D3CBE17}"/>
              </a:ext>
            </a:extLst>
          </p:cNvPr>
          <p:cNvPicPr>
            <a:picLocks noChangeAspect="1"/>
          </p:cNvPicPr>
          <p:nvPr/>
        </p:nvPicPr>
        <p:blipFill>
          <a:blip r:embed="rId5"/>
          <a:stretch>
            <a:fillRect/>
          </a:stretch>
        </p:blipFill>
        <p:spPr>
          <a:xfrm>
            <a:off x="4809715" y="1724109"/>
            <a:ext cx="2077956" cy="5027181"/>
          </a:xfrm>
          <a:prstGeom prst="rect">
            <a:avLst/>
          </a:prstGeom>
          <a:effectLst>
            <a:outerShdw blurRad="50800" dist="38100" dir="2700000" algn="tl" rotWithShape="0">
              <a:prstClr val="black">
                <a:alpha val="40000"/>
              </a:prstClr>
            </a:outerShdw>
          </a:effectLst>
        </p:spPr>
      </p:pic>
      <p:sp>
        <p:nvSpPr>
          <p:cNvPr id="7" name="任意形状 6">
            <a:extLst>
              <a:ext uri="{FF2B5EF4-FFF2-40B4-BE49-F238E27FC236}">
                <a16:creationId xmlns:a16="http://schemas.microsoft.com/office/drawing/2014/main" id="{961BD58F-AA24-EFA2-FED3-529320F899F7}"/>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a:t>
            </a:r>
            <a:r>
              <a:rPr kumimoji="1" lang="en-US" altLang="zh-CN" b="1" dirty="0">
                <a:solidFill>
                  <a:schemeClr val="bg1"/>
                </a:solidFill>
                <a:latin typeface="Microsoft YaHei" panose="020B0503020204020204" pitchFamily="34" charset="-122"/>
                <a:ea typeface="Microsoft YaHei" panose="020B0503020204020204" pitchFamily="34" charset="-122"/>
              </a:rPr>
              <a:t>SFA</a:t>
            </a:r>
            <a:r>
              <a:rPr kumimoji="1" lang="zh-CN" altLang="en-US" b="1" dirty="0">
                <a:solidFill>
                  <a:schemeClr val="bg1"/>
                </a:solidFill>
                <a:latin typeface="Microsoft YaHei" panose="020B0503020204020204" pitchFamily="34" charset="-122"/>
                <a:ea typeface="Microsoft YaHei" panose="020B0503020204020204" pitchFamily="34" charset="-122"/>
              </a:rPr>
              <a:t>审批界面 </a:t>
            </a:r>
          </a:p>
        </p:txBody>
      </p:sp>
      <p:sp>
        <p:nvSpPr>
          <p:cNvPr id="8" name="文本框 7">
            <a:extLst>
              <a:ext uri="{FF2B5EF4-FFF2-40B4-BE49-F238E27FC236}">
                <a16:creationId xmlns:a16="http://schemas.microsoft.com/office/drawing/2014/main" id="{1B27FFCE-A031-B33A-3B8A-DF2427973332}"/>
              </a:ext>
            </a:extLst>
          </p:cNvPr>
          <p:cNvSpPr txBox="1"/>
          <p:nvPr/>
        </p:nvSpPr>
        <p:spPr>
          <a:xfrm>
            <a:off x="92241" y="2448219"/>
            <a:ext cx="2233209" cy="458908"/>
          </a:xfrm>
          <a:prstGeom prst="rect">
            <a:avLst/>
          </a:prstGeom>
          <a:noFill/>
        </p:spPr>
        <p:txBody>
          <a:bodyPr wrap="square" rtlCol="0">
            <a:spAutoFit/>
          </a:bodyPr>
          <a:lstStyle>
            <a:defPPr>
              <a:defRPr lang="zh-CN"/>
            </a:defPPr>
            <a:lvl1pPr>
              <a:lnSpc>
                <a:spcPct val="150000"/>
              </a:lnSpc>
              <a:defRPr kumimoji="1">
                <a:latin typeface="Microsoft YaHei" panose="020B0503020204020204" pitchFamily="34" charset="-122"/>
                <a:ea typeface="Microsoft YaHei" panose="020B0503020204020204" pitchFamily="34" charset="-122"/>
              </a:defRPr>
            </a:lvl1pPr>
          </a:lstStyle>
          <a:p>
            <a:r>
              <a:rPr lang="zh-CN" altLang="en-US" dirty="0">
                <a:sym typeface="+mn-ea"/>
              </a:rPr>
              <a:t>审批人待办</a:t>
            </a:r>
          </a:p>
        </p:txBody>
      </p:sp>
      <p:sp>
        <p:nvSpPr>
          <p:cNvPr id="9" name="右箭头 8">
            <a:extLst>
              <a:ext uri="{FF2B5EF4-FFF2-40B4-BE49-F238E27FC236}">
                <a16:creationId xmlns:a16="http://schemas.microsoft.com/office/drawing/2014/main" id="{7082C4C8-59B3-09D4-68FA-7928B3B6B3CD}"/>
              </a:ext>
            </a:extLst>
          </p:cNvPr>
          <p:cNvSpPr/>
          <p:nvPr/>
        </p:nvSpPr>
        <p:spPr>
          <a:xfrm>
            <a:off x="1448790" y="2660073"/>
            <a:ext cx="546265" cy="225631"/>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0000"/>
              </a:solidFill>
            </a:endParaRPr>
          </a:p>
        </p:txBody>
      </p:sp>
    </p:spTree>
    <p:extLst>
      <p:ext uri="{BB962C8B-B14F-4D97-AF65-F5344CB8AC3E}">
        <p14:creationId xmlns:p14="http://schemas.microsoft.com/office/powerpoint/2010/main" val="107802075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8638E-8B4D-6D18-EBA4-6F65DCACE5C9}"/>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FA11045-22F1-7AA9-7C8B-F3A2A832FD4A}"/>
              </a:ext>
            </a:extLst>
          </p:cNvPr>
          <p:cNvPicPr>
            <a:picLocks noChangeAspect="1"/>
          </p:cNvPicPr>
          <p:nvPr/>
        </p:nvPicPr>
        <p:blipFill>
          <a:blip r:embed="rId2"/>
          <a:stretch>
            <a:fillRect/>
          </a:stretch>
        </p:blipFill>
        <p:spPr>
          <a:xfrm>
            <a:off x="359311" y="5901212"/>
            <a:ext cx="1308100" cy="469900"/>
          </a:xfrm>
          <a:prstGeom prst="rect">
            <a:avLst/>
          </a:prstGeom>
        </p:spPr>
      </p:pic>
      <p:sp>
        <p:nvSpPr>
          <p:cNvPr id="8" name="任意形状 7">
            <a:extLst>
              <a:ext uri="{FF2B5EF4-FFF2-40B4-BE49-F238E27FC236}">
                <a16:creationId xmlns:a16="http://schemas.microsoft.com/office/drawing/2014/main" id="{A0F78CBD-4EC7-9B51-AFB1-4F532EF204C9}"/>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分贝通出差申请单流程</a:t>
            </a:r>
          </a:p>
        </p:txBody>
      </p:sp>
      <p:pic>
        <p:nvPicPr>
          <p:cNvPr id="3" name="图片 2">
            <a:extLst>
              <a:ext uri="{FF2B5EF4-FFF2-40B4-BE49-F238E27FC236}">
                <a16:creationId xmlns:a16="http://schemas.microsoft.com/office/drawing/2014/main" id="{E6481FDD-77E7-211F-E948-55DC5D6252CA}"/>
              </a:ext>
            </a:extLst>
          </p:cNvPr>
          <p:cNvPicPr>
            <a:picLocks noChangeAspect="1"/>
          </p:cNvPicPr>
          <p:nvPr/>
        </p:nvPicPr>
        <p:blipFill>
          <a:blip r:embed="rId3"/>
          <a:stretch>
            <a:fillRect/>
          </a:stretch>
        </p:blipFill>
        <p:spPr>
          <a:xfrm>
            <a:off x="226621" y="2623612"/>
            <a:ext cx="6566065" cy="3880718"/>
          </a:xfrm>
          <a:prstGeom prst="rect">
            <a:avLst/>
          </a:prstGeom>
        </p:spPr>
      </p:pic>
      <p:sp>
        <p:nvSpPr>
          <p:cNvPr id="5" name="椭圆 4">
            <a:extLst>
              <a:ext uri="{FF2B5EF4-FFF2-40B4-BE49-F238E27FC236}">
                <a16:creationId xmlns:a16="http://schemas.microsoft.com/office/drawing/2014/main" id="{2EB8485C-2E5C-0062-6FB2-47C5D84C56FC}"/>
              </a:ext>
            </a:extLst>
          </p:cNvPr>
          <p:cNvSpPr/>
          <p:nvPr/>
        </p:nvSpPr>
        <p:spPr>
          <a:xfrm>
            <a:off x="5379522" y="3099460"/>
            <a:ext cx="308759" cy="329540"/>
          </a:xfrm>
          <a:prstGeom prst="ellipse">
            <a:avLst/>
          </a:prstGeom>
          <a:no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0F1AB517-BF2B-8B44-6224-508ACCA8B247}"/>
              </a:ext>
            </a:extLst>
          </p:cNvPr>
          <p:cNvSpPr/>
          <p:nvPr/>
        </p:nvSpPr>
        <p:spPr>
          <a:xfrm rot="1500000">
            <a:off x="5416379" y="3405372"/>
            <a:ext cx="45719" cy="26067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4" name="图片 13">
            <a:extLst>
              <a:ext uri="{FF2B5EF4-FFF2-40B4-BE49-F238E27FC236}">
                <a16:creationId xmlns:a16="http://schemas.microsoft.com/office/drawing/2014/main" id="{DCA314D6-42D4-0A7F-2BB6-BD37FBD2CA23}"/>
              </a:ext>
            </a:extLst>
          </p:cNvPr>
          <p:cNvPicPr>
            <a:picLocks noChangeAspect="1"/>
          </p:cNvPicPr>
          <p:nvPr/>
        </p:nvPicPr>
        <p:blipFill>
          <a:blip r:embed="rId4"/>
          <a:stretch>
            <a:fillRect/>
          </a:stretch>
        </p:blipFill>
        <p:spPr>
          <a:xfrm>
            <a:off x="7707746" y="2088701"/>
            <a:ext cx="3759200" cy="3149600"/>
          </a:xfrm>
          <a:prstGeom prst="rect">
            <a:avLst/>
          </a:prstGeom>
        </p:spPr>
      </p:pic>
      <p:sp>
        <p:nvSpPr>
          <p:cNvPr id="10" name="椭圆 9">
            <a:extLst>
              <a:ext uri="{FF2B5EF4-FFF2-40B4-BE49-F238E27FC236}">
                <a16:creationId xmlns:a16="http://schemas.microsoft.com/office/drawing/2014/main" id="{993BFD83-823C-D0D3-BF98-1768D1CDC43B}"/>
              </a:ext>
            </a:extLst>
          </p:cNvPr>
          <p:cNvSpPr/>
          <p:nvPr/>
        </p:nvSpPr>
        <p:spPr>
          <a:xfrm>
            <a:off x="7298035" y="1429789"/>
            <a:ext cx="4406285" cy="4189615"/>
          </a:xfrm>
          <a:prstGeom prst="ellipse">
            <a:avLst/>
          </a:prstGeom>
          <a:noFill/>
          <a:ln w="1111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0EAC94F6-A015-6C3D-8EDD-5086C40AB841}"/>
              </a:ext>
            </a:extLst>
          </p:cNvPr>
          <p:cNvSpPr txBox="1"/>
          <p:nvPr/>
        </p:nvSpPr>
        <p:spPr>
          <a:xfrm>
            <a:off x="359311" y="1147156"/>
            <a:ext cx="6922638" cy="787460"/>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在</a:t>
            </a:r>
            <a:r>
              <a:rPr kumimoji="1" lang="en-US" altLang="zh-CN" sz="1600" b="1" dirty="0">
                <a:latin typeface="Microsoft YaHei" panose="020B0503020204020204" pitchFamily="34" charset="-122"/>
                <a:ea typeface="Microsoft YaHei" panose="020B0503020204020204" pitchFamily="34" charset="-122"/>
              </a:rPr>
              <a:t>SFA—</a:t>
            </a:r>
            <a:r>
              <a:rPr kumimoji="1" lang="zh-CN" altLang="en-US" sz="1600" b="1" dirty="0">
                <a:latin typeface="Microsoft YaHei" panose="020B0503020204020204" pitchFamily="34" charset="-122"/>
                <a:ea typeface="Microsoft YaHei" panose="020B0503020204020204" pitchFamily="34" charset="-122"/>
              </a:rPr>
              <a:t>销售管理</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差旅管理</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创建</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根据不同需要选择不同申请单</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差旅申请单</a:t>
            </a:r>
            <a:endParaRPr kumimoji="1" lang="en-US" altLang="zh-CN" sz="1600" b="1" dirty="0">
              <a:latin typeface="Microsoft YaHei" panose="020B0503020204020204" pitchFamily="34" charset="-122"/>
              <a:ea typeface="Microsoft YaHei" panose="020B0503020204020204" pitchFamily="34" charset="-122"/>
            </a:endParaRPr>
          </a:p>
        </p:txBody>
      </p:sp>
      <p:sp>
        <p:nvSpPr>
          <p:cNvPr id="24" name="任意形状 23">
            <a:extLst>
              <a:ext uri="{FF2B5EF4-FFF2-40B4-BE49-F238E27FC236}">
                <a16:creationId xmlns:a16="http://schemas.microsoft.com/office/drawing/2014/main" id="{ED8101AB-39B9-095E-D277-30A24DE36ECE}"/>
              </a:ext>
            </a:extLst>
          </p:cNvPr>
          <p:cNvSpPr/>
          <p:nvPr/>
        </p:nvSpPr>
        <p:spPr>
          <a:xfrm>
            <a:off x="8448487" y="5501071"/>
            <a:ext cx="722237" cy="1356928"/>
          </a:xfrm>
          <a:custGeom>
            <a:avLst/>
            <a:gdLst>
              <a:gd name="connsiteX0" fmla="*/ 363587 w 722237"/>
              <a:gd name="connsiteY0" fmla="*/ 0 h 1356928"/>
              <a:gd name="connsiteX1" fmla="*/ 722237 w 722237"/>
              <a:gd name="connsiteY1" fmla="*/ 96100 h 1356928"/>
              <a:gd name="connsiteX2" fmla="*/ 384400 w 722237"/>
              <a:gd name="connsiteY2" fmla="*/ 1356928 h 1356928"/>
              <a:gd name="connsiteX3" fmla="*/ 0 w 722237"/>
              <a:gd name="connsiteY3" fmla="*/ 1356928 h 1356928"/>
              <a:gd name="connsiteX4" fmla="*/ 363587 w 722237"/>
              <a:gd name="connsiteY4" fmla="*/ 0 h 1356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2237" h="1356928">
                <a:moveTo>
                  <a:pt x="363587" y="0"/>
                </a:moveTo>
                <a:lnTo>
                  <a:pt x="722237" y="96100"/>
                </a:lnTo>
                <a:lnTo>
                  <a:pt x="384400" y="1356928"/>
                </a:lnTo>
                <a:lnTo>
                  <a:pt x="0" y="1356928"/>
                </a:lnTo>
                <a:lnTo>
                  <a:pt x="363587" y="0"/>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Tree>
    <p:extLst>
      <p:ext uri="{BB962C8B-B14F-4D97-AF65-F5344CB8AC3E}">
        <p14:creationId xmlns:p14="http://schemas.microsoft.com/office/powerpoint/2010/main" val="358976409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1C474-60E2-20C2-C24F-24335DA43B04}"/>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E585812E-905F-DCFC-F53D-DD8733362BDD}"/>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F30AA532-F2FF-600A-AC01-51333163E677}"/>
              </a:ext>
            </a:extLst>
          </p:cNvPr>
          <p:cNvPicPr>
            <a:picLocks noChangeAspect="1"/>
          </p:cNvPicPr>
          <p:nvPr/>
        </p:nvPicPr>
        <p:blipFill>
          <a:blip r:embed="rId3"/>
          <a:stretch>
            <a:fillRect/>
          </a:stretch>
        </p:blipFill>
        <p:spPr>
          <a:xfrm>
            <a:off x="336817" y="2211730"/>
            <a:ext cx="2432924" cy="4292600"/>
          </a:xfrm>
          <a:prstGeom prst="rect">
            <a:avLst/>
          </a:prstGeom>
        </p:spPr>
      </p:pic>
      <p:pic>
        <p:nvPicPr>
          <p:cNvPr id="4" name="图片 3">
            <a:extLst>
              <a:ext uri="{FF2B5EF4-FFF2-40B4-BE49-F238E27FC236}">
                <a16:creationId xmlns:a16="http://schemas.microsoft.com/office/drawing/2014/main" id="{3E3311CF-FC7B-DB96-D6A5-D98D87358965}"/>
              </a:ext>
            </a:extLst>
          </p:cNvPr>
          <p:cNvPicPr>
            <a:picLocks noChangeAspect="1"/>
          </p:cNvPicPr>
          <p:nvPr/>
        </p:nvPicPr>
        <p:blipFill>
          <a:blip r:embed="rId4"/>
          <a:stretch>
            <a:fillRect/>
          </a:stretch>
        </p:blipFill>
        <p:spPr>
          <a:xfrm>
            <a:off x="2926305" y="3429000"/>
            <a:ext cx="3086551" cy="1774767"/>
          </a:xfrm>
          <a:prstGeom prst="rect">
            <a:avLst/>
          </a:prstGeom>
        </p:spPr>
      </p:pic>
      <p:pic>
        <p:nvPicPr>
          <p:cNvPr id="6" name="图片 5">
            <a:extLst>
              <a:ext uri="{FF2B5EF4-FFF2-40B4-BE49-F238E27FC236}">
                <a16:creationId xmlns:a16="http://schemas.microsoft.com/office/drawing/2014/main" id="{C070C76B-389F-D02B-092D-FB013F7FBA7B}"/>
              </a:ext>
            </a:extLst>
          </p:cNvPr>
          <p:cNvPicPr>
            <a:picLocks noChangeAspect="1"/>
          </p:cNvPicPr>
          <p:nvPr/>
        </p:nvPicPr>
        <p:blipFill>
          <a:blip r:embed="rId5"/>
          <a:stretch>
            <a:fillRect/>
          </a:stretch>
        </p:blipFill>
        <p:spPr>
          <a:xfrm>
            <a:off x="6174283" y="2221594"/>
            <a:ext cx="2692965" cy="4292600"/>
          </a:xfrm>
          <a:prstGeom prst="rect">
            <a:avLst/>
          </a:prstGeom>
        </p:spPr>
      </p:pic>
      <p:sp>
        <p:nvSpPr>
          <p:cNvPr id="12" name="任意形状 11">
            <a:extLst>
              <a:ext uri="{FF2B5EF4-FFF2-40B4-BE49-F238E27FC236}">
                <a16:creationId xmlns:a16="http://schemas.microsoft.com/office/drawing/2014/main" id="{58A979A7-5FE0-AF96-B246-6BCE20C0EFB9}"/>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分贝通出差申请单流程</a:t>
            </a:r>
          </a:p>
        </p:txBody>
      </p:sp>
      <p:sp>
        <p:nvSpPr>
          <p:cNvPr id="13" name="文本框 12">
            <a:extLst>
              <a:ext uri="{FF2B5EF4-FFF2-40B4-BE49-F238E27FC236}">
                <a16:creationId xmlns:a16="http://schemas.microsoft.com/office/drawing/2014/main" id="{0BEB78BC-9109-23D2-BBF2-8941DF83241A}"/>
              </a:ext>
            </a:extLst>
          </p:cNvPr>
          <p:cNvSpPr txBox="1"/>
          <p:nvPr/>
        </p:nvSpPr>
        <p:spPr>
          <a:xfrm>
            <a:off x="1104391" y="6513649"/>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步骤一</a:t>
            </a:r>
          </a:p>
        </p:txBody>
      </p:sp>
      <p:sp>
        <p:nvSpPr>
          <p:cNvPr id="14" name="文本框 13">
            <a:extLst>
              <a:ext uri="{FF2B5EF4-FFF2-40B4-BE49-F238E27FC236}">
                <a16:creationId xmlns:a16="http://schemas.microsoft.com/office/drawing/2014/main" id="{21CAD70C-BBAE-9DE9-BCD3-57EB22CCE6CA}"/>
              </a:ext>
            </a:extLst>
          </p:cNvPr>
          <p:cNvSpPr txBox="1"/>
          <p:nvPr/>
        </p:nvSpPr>
        <p:spPr>
          <a:xfrm>
            <a:off x="3639337" y="6451888"/>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步骤二</a:t>
            </a:r>
          </a:p>
        </p:txBody>
      </p:sp>
      <p:sp>
        <p:nvSpPr>
          <p:cNvPr id="15" name="文本框 14">
            <a:extLst>
              <a:ext uri="{FF2B5EF4-FFF2-40B4-BE49-F238E27FC236}">
                <a16:creationId xmlns:a16="http://schemas.microsoft.com/office/drawing/2014/main" id="{CF67F41E-B73A-29B9-23CE-FFF261A8B708}"/>
              </a:ext>
            </a:extLst>
          </p:cNvPr>
          <p:cNvSpPr txBox="1"/>
          <p:nvPr/>
        </p:nvSpPr>
        <p:spPr>
          <a:xfrm>
            <a:off x="7071877" y="6513649"/>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步骤三</a:t>
            </a:r>
          </a:p>
        </p:txBody>
      </p:sp>
      <p:pic>
        <p:nvPicPr>
          <p:cNvPr id="16" name="图片 15">
            <a:extLst>
              <a:ext uri="{FF2B5EF4-FFF2-40B4-BE49-F238E27FC236}">
                <a16:creationId xmlns:a16="http://schemas.microsoft.com/office/drawing/2014/main" id="{4A45C7AB-8033-5435-6C35-A6FADCE7BC2A}"/>
              </a:ext>
            </a:extLst>
          </p:cNvPr>
          <p:cNvPicPr>
            <a:picLocks noChangeAspect="1"/>
          </p:cNvPicPr>
          <p:nvPr/>
        </p:nvPicPr>
        <p:blipFill>
          <a:blip r:embed="rId6"/>
          <a:stretch>
            <a:fillRect/>
          </a:stretch>
        </p:blipFill>
        <p:spPr>
          <a:xfrm>
            <a:off x="9023812" y="3467158"/>
            <a:ext cx="3148660" cy="1801472"/>
          </a:xfrm>
          <a:prstGeom prst="rect">
            <a:avLst/>
          </a:prstGeom>
        </p:spPr>
      </p:pic>
      <p:sp>
        <p:nvSpPr>
          <p:cNvPr id="17" name="文本框 16">
            <a:extLst>
              <a:ext uri="{FF2B5EF4-FFF2-40B4-BE49-F238E27FC236}">
                <a16:creationId xmlns:a16="http://schemas.microsoft.com/office/drawing/2014/main" id="{1DE9A4A8-E160-D991-ED03-43FAE112B5DD}"/>
              </a:ext>
            </a:extLst>
          </p:cNvPr>
          <p:cNvSpPr txBox="1"/>
          <p:nvPr/>
        </p:nvSpPr>
        <p:spPr>
          <a:xfrm>
            <a:off x="10149254" y="5531880"/>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步骤四</a:t>
            </a:r>
          </a:p>
        </p:txBody>
      </p:sp>
      <p:sp>
        <p:nvSpPr>
          <p:cNvPr id="18" name="文本框 17">
            <a:extLst>
              <a:ext uri="{FF2B5EF4-FFF2-40B4-BE49-F238E27FC236}">
                <a16:creationId xmlns:a16="http://schemas.microsoft.com/office/drawing/2014/main" id="{ABFAEAC2-AF17-98BE-E8D9-B8E5C239A53F}"/>
              </a:ext>
            </a:extLst>
          </p:cNvPr>
          <p:cNvSpPr txBox="1"/>
          <p:nvPr/>
        </p:nvSpPr>
        <p:spPr>
          <a:xfrm>
            <a:off x="275448" y="1110546"/>
            <a:ext cx="11068245" cy="1156792"/>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根据自己出差目的选择申请事由：出差</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拜访客户</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根据自己的差旅行程，添加出差</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途径</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目的城市</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solidFill>
                  <a:srgbClr val="FF0000"/>
                </a:solidFill>
                <a:latin typeface="Microsoft YaHei" panose="020B0503020204020204" pitchFamily="34" charset="-122"/>
                <a:ea typeface="Microsoft YaHei" panose="020B0503020204020204" pitchFamily="34" charset="-122"/>
              </a:rPr>
              <a:t>注：添加的城市必须写全，包含始发、目的城市、所有途径和需要换乘的中转城市。否则会影响车票的订购。</a:t>
            </a:r>
          </a:p>
        </p:txBody>
      </p:sp>
    </p:spTree>
    <p:extLst>
      <p:ext uri="{BB962C8B-B14F-4D97-AF65-F5344CB8AC3E}">
        <p14:creationId xmlns:p14="http://schemas.microsoft.com/office/powerpoint/2010/main" val="16108971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A2F18-5289-6BC1-61C4-68EB84C703F2}"/>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32E5C1C-FBBC-56CA-F27B-D4490925AAD5}"/>
              </a:ext>
            </a:extLst>
          </p:cNvPr>
          <p:cNvPicPr>
            <a:picLocks noChangeAspect="1"/>
          </p:cNvPicPr>
          <p:nvPr/>
        </p:nvPicPr>
        <p:blipFill>
          <a:blip r:embed="rId2"/>
          <a:stretch>
            <a:fillRect/>
          </a:stretch>
        </p:blipFill>
        <p:spPr>
          <a:xfrm>
            <a:off x="359311" y="5901212"/>
            <a:ext cx="1308100" cy="469900"/>
          </a:xfrm>
          <a:prstGeom prst="rect">
            <a:avLst/>
          </a:prstGeom>
        </p:spPr>
      </p:pic>
      <p:sp>
        <p:nvSpPr>
          <p:cNvPr id="4" name="任意形状 3">
            <a:extLst>
              <a:ext uri="{FF2B5EF4-FFF2-40B4-BE49-F238E27FC236}">
                <a16:creationId xmlns:a16="http://schemas.microsoft.com/office/drawing/2014/main" id="{B80AAAC2-4718-5859-A7BE-F155E54013A4}"/>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分贝通出差申请单流程</a:t>
            </a:r>
          </a:p>
        </p:txBody>
      </p:sp>
      <p:pic>
        <p:nvPicPr>
          <p:cNvPr id="7" name="图片 6">
            <a:extLst>
              <a:ext uri="{FF2B5EF4-FFF2-40B4-BE49-F238E27FC236}">
                <a16:creationId xmlns:a16="http://schemas.microsoft.com/office/drawing/2014/main" id="{315F7820-CB6B-9F70-39BB-95DBDE442989}"/>
              </a:ext>
            </a:extLst>
          </p:cNvPr>
          <p:cNvPicPr>
            <a:picLocks noChangeAspect="1"/>
          </p:cNvPicPr>
          <p:nvPr/>
        </p:nvPicPr>
        <p:blipFill>
          <a:blip r:embed="rId3"/>
          <a:stretch>
            <a:fillRect/>
          </a:stretch>
        </p:blipFill>
        <p:spPr>
          <a:xfrm>
            <a:off x="359310" y="3429000"/>
            <a:ext cx="5803037" cy="2472212"/>
          </a:xfrm>
          <a:prstGeom prst="rect">
            <a:avLst/>
          </a:prstGeom>
        </p:spPr>
      </p:pic>
      <p:pic>
        <p:nvPicPr>
          <p:cNvPr id="9" name="图片 8">
            <a:extLst>
              <a:ext uri="{FF2B5EF4-FFF2-40B4-BE49-F238E27FC236}">
                <a16:creationId xmlns:a16="http://schemas.microsoft.com/office/drawing/2014/main" id="{5760B6A6-640A-1D11-B522-770E80967A90}"/>
              </a:ext>
            </a:extLst>
          </p:cNvPr>
          <p:cNvPicPr>
            <a:picLocks noChangeAspect="1"/>
          </p:cNvPicPr>
          <p:nvPr/>
        </p:nvPicPr>
        <p:blipFill>
          <a:blip r:embed="rId4"/>
          <a:stretch>
            <a:fillRect/>
          </a:stretch>
        </p:blipFill>
        <p:spPr>
          <a:xfrm>
            <a:off x="6714589" y="4119006"/>
            <a:ext cx="5118100" cy="1092200"/>
          </a:xfrm>
          <a:prstGeom prst="rect">
            <a:avLst/>
          </a:prstGeom>
        </p:spPr>
      </p:pic>
      <p:sp>
        <p:nvSpPr>
          <p:cNvPr id="10" name="文本框 9">
            <a:extLst>
              <a:ext uri="{FF2B5EF4-FFF2-40B4-BE49-F238E27FC236}">
                <a16:creationId xmlns:a16="http://schemas.microsoft.com/office/drawing/2014/main" id="{B4472E49-D6B9-CCD8-B4BC-4092D2529834}"/>
              </a:ext>
            </a:extLst>
          </p:cNvPr>
          <p:cNvSpPr txBox="1"/>
          <p:nvPr/>
        </p:nvSpPr>
        <p:spPr>
          <a:xfrm>
            <a:off x="359311" y="1132443"/>
            <a:ext cx="11473378" cy="1895455"/>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根据自身实际情况，可以调整出差的途径城市，以便于更准确的预订酒店、车票。</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待都设置完毕，请点击“保存并添加行程“</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如无需出差，请直接点击“删除”</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在提交出差申请时，如遇到急事或还未确定好出差行程，在每个界面的最下方都有“</a:t>
            </a:r>
            <a:r>
              <a:rPr kumimoji="1" lang="zh-CN" altLang="en-US" sz="1600" b="1" dirty="0">
                <a:solidFill>
                  <a:srgbClr val="FF0000"/>
                </a:solidFill>
                <a:latin typeface="Microsoft YaHei" panose="020B0503020204020204" pitchFamily="34" charset="-122"/>
                <a:ea typeface="Microsoft YaHei" panose="020B0503020204020204" pitchFamily="34" charset="-122"/>
              </a:rPr>
              <a:t>保存草稿</a:t>
            </a:r>
            <a:r>
              <a:rPr kumimoji="1" lang="zh-CN" altLang="en-US" sz="1600" b="1" dirty="0">
                <a:latin typeface="Microsoft YaHei" panose="020B0503020204020204" pitchFamily="34" charset="-122"/>
                <a:ea typeface="Microsoft YaHei" panose="020B0503020204020204" pitchFamily="34" charset="-122"/>
              </a:rPr>
              <a:t>”按钮，可以保存已填写完的内容，以便后续继续填写申请单。</a:t>
            </a:r>
          </a:p>
        </p:txBody>
      </p:sp>
    </p:spTree>
    <p:extLst>
      <p:ext uri="{BB962C8B-B14F-4D97-AF65-F5344CB8AC3E}">
        <p14:creationId xmlns:p14="http://schemas.microsoft.com/office/powerpoint/2010/main" val="311644114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43C4-42A6-9A47-3927-EECC9112B3FB}"/>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9C74829F-8B12-AF93-79A2-F81F1425EF45}"/>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92EA9C26-5AAF-CD3D-F0A5-0693A4CEB885}"/>
              </a:ext>
            </a:extLst>
          </p:cNvPr>
          <p:cNvPicPr>
            <a:picLocks noChangeAspect="1"/>
          </p:cNvPicPr>
          <p:nvPr/>
        </p:nvPicPr>
        <p:blipFill>
          <a:blip r:embed="rId3"/>
          <a:stretch>
            <a:fillRect/>
          </a:stretch>
        </p:blipFill>
        <p:spPr>
          <a:xfrm>
            <a:off x="6483433" y="1601240"/>
            <a:ext cx="4658096" cy="3996032"/>
          </a:xfrm>
          <a:prstGeom prst="rect">
            <a:avLst/>
          </a:prstGeom>
        </p:spPr>
      </p:pic>
      <p:sp>
        <p:nvSpPr>
          <p:cNvPr id="4" name="任意形状 3">
            <a:extLst>
              <a:ext uri="{FF2B5EF4-FFF2-40B4-BE49-F238E27FC236}">
                <a16:creationId xmlns:a16="http://schemas.microsoft.com/office/drawing/2014/main" id="{A4B10031-3416-5C11-B6B0-71E9F4F1B19F}"/>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分贝通出差申请单流程</a:t>
            </a:r>
          </a:p>
        </p:txBody>
      </p:sp>
      <p:sp>
        <p:nvSpPr>
          <p:cNvPr id="10" name="文本框 9">
            <a:extLst>
              <a:ext uri="{FF2B5EF4-FFF2-40B4-BE49-F238E27FC236}">
                <a16:creationId xmlns:a16="http://schemas.microsoft.com/office/drawing/2014/main" id="{652B6121-2F30-FBE6-BFEA-0E5BA1003296}"/>
              </a:ext>
            </a:extLst>
          </p:cNvPr>
          <p:cNvSpPr txBox="1"/>
          <p:nvPr/>
        </p:nvSpPr>
        <p:spPr>
          <a:xfrm>
            <a:off x="571500" y="1485900"/>
            <a:ext cx="5524500" cy="1895455"/>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跳转出浮窗，选择此次差旅中涉及到的费用项目</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solidFill>
                  <a:srgbClr val="FF0000"/>
                </a:solidFill>
                <a:latin typeface="Microsoft YaHei" panose="020B0503020204020204" pitchFamily="34" charset="-122"/>
                <a:ea typeface="Microsoft YaHei" panose="020B0503020204020204" pitchFamily="34" charset="-122"/>
              </a:rPr>
              <a:t>请直接选择“机票酒店火车”</a:t>
            </a:r>
            <a:endParaRPr kumimoji="1" lang="en-US" altLang="zh-CN" sz="1600"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solidFill>
                  <a:srgbClr val="FF0000"/>
                </a:solidFill>
                <a:latin typeface="Microsoft YaHei" panose="020B0503020204020204" pitchFamily="34" charset="-122"/>
                <a:ea typeface="Microsoft YaHei" panose="020B0503020204020204" pitchFamily="34" charset="-122"/>
              </a:rPr>
              <a:t>注：油费</a:t>
            </a:r>
            <a:r>
              <a:rPr kumimoji="1" lang="en-US" altLang="zh-CN" sz="1600" b="1" dirty="0">
                <a:solidFill>
                  <a:srgbClr val="FF0000"/>
                </a:solidFill>
                <a:latin typeface="Microsoft YaHei" panose="020B0503020204020204" pitchFamily="34" charset="-122"/>
                <a:ea typeface="Microsoft YaHei" panose="020B0503020204020204" pitchFamily="34" charset="-122"/>
              </a:rPr>
              <a:t>+</a:t>
            </a:r>
            <a:r>
              <a:rPr kumimoji="1" lang="zh-CN" altLang="en-US" sz="1600" b="1" dirty="0">
                <a:solidFill>
                  <a:srgbClr val="FF0000"/>
                </a:solidFill>
                <a:latin typeface="Microsoft YaHei" panose="020B0503020204020204" pitchFamily="34" charset="-122"/>
                <a:ea typeface="Microsoft YaHei" panose="020B0503020204020204" pitchFamily="34" charset="-122"/>
              </a:rPr>
              <a:t>过路费、餐补不参与差旅费用报销。油补、餐补每月固定发放，不再在差旅中费用中体现。</a:t>
            </a:r>
            <a:endParaRPr kumimoji="1" lang="en-US" altLang="zh-CN" sz="1600"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此处仍增加了行程途径城市的调整按钮。</a:t>
            </a:r>
            <a:endParaRPr kumimoji="1" lang="en-US" altLang="zh-CN" sz="1600"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7534856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7A6AC-E600-C3AA-DF76-F03D9D8CE10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BB967BBA-332C-CB71-66B6-D5B32B5169C2}"/>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2717FD76-925F-B78C-64F5-E000E0BF6DB1}"/>
              </a:ext>
            </a:extLst>
          </p:cNvPr>
          <p:cNvPicPr>
            <a:picLocks noChangeAspect="1"/>
          </p:cNvPicPr>
          <p:nvPr/>
        </p:nvPicPr>
        <p:blipFill>
          <a:blip r:embed="rId3"/>
          <a:stretch>
            <a:fillRect/>
          </a:stretch>
        </p:blipFill>
        <p:spPr>
          <a:xfrm>
            <a:off x="6952859" y="323792"/>
            <a:ext cx="3927231" cy="6210416"/>
          </a:xfrm>
          <a:prstGeom prst="rect">
            <a:avLst/>
          </a:prstGeom>
        </p:spPr>
      </p:pic>
      <p:sp>
        <p:nvSpPr>
          <p:cNvPr id="4" name="任意形状 3">
            <a:extLst>
              <a:ext uri="{FF2B5EF4-FFF2-40B4-BE49-F238E27FC236}">
                <a16:creationId xmlns:a16="http://schemas.microsoft.com/office/drawing/2014/main" id="{09889FCC-9258-759B-495F-2BC49FDF19E0}"/>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分贝通出差申请单流程</a:t>
            </a:r>
          </a:p>
        </p:txBody>
      </p:sp>
      <p:sp>
        <p:nvSpPr>
          <p:cNvPr id="5" name="文本框 4">
            <a:extLst>
              <a:ext uri="{FF2B5EF4-FFF2-40B4-BE49-F238E27FC236}">
                <a16:creationId xmlns:a16="http://schemas.microsoft.com/office/drawing/2014/main" id="{39C3711E-71E8-E31F-AE22-DBDD45939ADE}"/>
              </a:ext>
            </a:extLst>
          </p:cNvPr>
          <p:cNvSpPr txBox="1"/>
          <p:nvPr/>
        </p:nvSpPr>
        <p:spPr>
          <a:xfrm>
            <a:off x="359311" y="1355271"/>
            <a:ext cx="6253760" cy="584775"/>
          </a:xfrm>
          <a:prstGeom prst="rect">
            <a:avLst/>
          </a:prstGeom>
          <a:noFill/>
        </p:spPr>
        <p:txBody>
          <a:bodyPr wrap="square" rtlCol="0">
            <a:spAutoFit/>
          </a:bodyPr>
          <a:lstStyle/>
          <a:p>
            <a:r>
              <a:rPr kumimoji="1" lang="zh-CN" altLang="en-US" sz="1600" b="1" dirty="0">
                <a:latin typeface="Microsoft YaHei" panose="020B0503020204020204" pitchFamily="34" charset="-122"/>
                <a:ea typeface="Microsoft YaHei" panose="020B0503020204020204" pitchFamily="34" charset="-122"/>
              </a:rPr>
              <a:t>界面跳转出此次行程的总概述，包含出差时间、途径城市、使用场景</a:t>
            </a:r>
          </a:p>
        </p:txBody>
      </p:sp>
    </p:spTree>
    <p:extLst>
      <p:ext uri="{BB962C8B-B14F-4D97-AF65-F5344CB8AC3E}">
        <p14:creationId xmlns:p14="http://schemas.microsoft.com/office/powerpoint/2010/main" val="16523905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3CB1F-AD85-1778-3AB2-14F89D5AAF4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146F1E14-1BCF-BCDE-D53E-6FDF73C31F26}"/>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48C17F27-CC0A-5650-C2AA-D9CAE27962F3}"/>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分贝通出差申请单流程（草稿再编辑）</a:t>
            </a:r>
          </a:p>
        </p:txBody>
      </p:sp>
      <p:pic>
        <p:nvPicPr>
          <p:cNvPr id="4" name="图片 3">
            <a:extLst>
              <a:ext uri="{FF2B5EF4-FFF2-40B4-BE49-F238E27FC236}">
                <a16:creationId xmlns:a16="http://schemas.microsoft.com/office/drawing/2014/main" id="{F45ED4AB-778C-0C72-32AD-8D223BA54B3B}"/>
              </a:ext>
            </a:extLst>
          </p:cNvPr>
          <p:cNvPicPr>
            <a:picLocks noChangeAspect="1"/>
          </p:cNvPicPr>
          <p:nvPr/>
        </p:nvPicPr>
        <p:blipFill>
          <a:blip r:embed="rId3"/>
          <a:stretch>
            <a:fillRect/>
          </a:stretch>
        </p:blipFill>
        <p:spPr>
          <a:xfrm>
            <a:off x="163368" y="3586762"/>
            <a:ext cx="6077903" cy="1705403"/>
          </a:xfrm>
          <a:prstGeom prst="rect">
            <a:avLst/>
          </a:prstGeom>
        </p:spPr>
      </p:pic>
      <p:sp>
        <p:nvSpPr>
          <p:cNvPr id="5" name="文本框 4">
            <a:extLst>
              <a:ext uri="{FF2B5EF4-FFF2-40B4-BE49-F238E27FC236}">
                <a16:creationId xmlns:a16="http://schemas.microsoft.com/office/drawing/2014/main" id="{0F32FC8E-6720-D00B-2393-2A4623AE0AEC}"/>
              </a:ext>
            </a:extLst>
          </p:cNvPr>
          <p:cNvSpPr txBox="1"/>
          <p:nvPr/>
        </p:nvSpPr>
        <p:spPr>
          <a:xfrm>
            <a:off x="359311" y="1132443"/>
            <a:ext cx="11473378" cy="1705403"/>
          </a:xfrm>
          <a:prstGeom prst="rect">
            <a:avLst/>
          </a:prstGeom>
          <a:noFill/>
        </p:spPr>
        <p:txBody>
          <a:bodyPr wrap="square" rtlCol="0">
            <a:spAutoFit/>
          </a:bodyPr>
          <a:lstStyle/>
          <a:p>
            <a:pPr>
              <a:lnSpc>
                <a:spcPct val="150000"/>
              </a:lnSpc>
            </a:pPr>
            <a:r>
              <a:rPr kumimoji="1" lang="zh-CN" altLang="en-US" b="1" dirty="0">
                <a:latin typeface="Microsoft YaHei" panose="020B0503020204020204" pitchFamily="34" charset="-122"/>
                <a:ea typeface="Microsoft YaHei" panose="020B0503020204020204" pitchFamily="34" charset="-122"/>
              </a:rPr>
              <a:t>如何再编辑已保存的草稿申请单</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步骤一：在分贝通首页中点击“我发起的（审批中）”</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步骤二：可以在“我发起的”中找到所有已保存的申请单草稿，点击选择你需要编辑的申请单</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步骤三：根据自身情况编辑完后点击“保存并添加行程”待上级领导审批</a:t>
            </a:r>
          </a:p>
        </p:txBody>
      </p:sp>
      <p:pic>
        <p:nvPicPr>
          <p:cNvPr id="6" name="图片 5">
            <a:extLst>
              <a:ext uri="{FF2B5EF4-FFF2-40B4-BE49-F238E27FC236}">
                <a16:creationId xmlns:a16="http://schemas.microsoft.com/office/drawing/2014/main" id="{545E8E19-F450-66D8-88DD-2B3543E22F03}"/>
              </a:ext>
            </a:extLst>
          </p:cNvPr>
          <p:cNvPicPr>
            <a:picLocks noChangeAspect="1"/>
          </p:cNvPicPr>
          <p:nvPr/>
        </p:nvPicPr>
        <p:blipFill>
          <a:blip r:embed="rId4"/>
          <a:stretch>
            <a:fillRect/>
          </a:stretch>
        </p:blipFill>
        <p:spPr>
          <a:xfrm>
            <a:off x="6517804" y="3586761"/>
            <a:ext cx="5327181" cy="1705403"/>
          </a:xfrm>
          <a:prstGeom prst="rect">
            <a:avLst/>
          </a:prstGeom>
        </p:spPr>
      </p:pic>
      <p:sp>
        <p:nvSpPr>
          <p:cNvPr id="7" name="文本框 6">
            <a:extLst>
              <a:ext uri="{FF2B5EF4-FFF2-40B4-BE49-F238E27FC236}">
                <a16:creationId xmlns:a16="http://schemas.microsoft.com/office/drawing/2014/main" id="{0E6E2AA6-E022-A574-9384-BB65380706EE}"/>
              </a:ext>
            </a:extLst>
          </p:cNvPr>
          <p:cNvSpPr txBox="1"/>
          <p:nvPr/>
        </p:nvSpPr>
        <p:spPr>
          <a:xfrm>
            <a:off x="2687969" y="5503777"/>
            <a:ext cx="1028700"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步骤一</a:t>
            </a:r>
          </a:p>
        </p:txBody>
      </p:sp>
      <p:sp>
        <p:nvSpPr>
          <p:cNvPr id="9" name="文本框 8">
            <a:extLst>
              <a:ext uri="{FF2B5EF4-FFF2-40B4-BE49-F238E27FC236}">
                <a16:creationId xmlns:a16="http://schemas.microsoft.com/office/drawing/2014/main" id="{C7A4643E-9922-2077-9AAB-8F97D7497BD4}"/>
              </a:ext>
            </a:extLst>
          </p:cNvPr>
          <p:cNvSpPr txBox="1"/>
          <p:nvPr/>
        </p:nvSpPr>
        <p:spPr>
          <a:xfrm>
            <a:off x="8667044" y="5503777"/>
            <a:ext cx="1028700"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步骤二</a:t>
            </a:r>
          </a:p>
        </p:txBody>
      </p:sp>
    </p:spTree>
    <p:extLst>
      <p:ext uri="{BB962C8B-B14F-4D97-AF65-F5344CB8AC3E}">
        <p14:creationId xmlns:p14="http://schemas.microsoft.com/office/powerpoint/2010/main" val="397798563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DE57A-CD38-550A-C1AE-DBB27661A34A}"/>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112FC281-8AAE-2B33-DC87-3F1EE869DEC4}"/>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4" name="图片 3">
            <a:extLst>
              <a:ext uri="{FF2B5EF4-FFF2-40B4-BE49-F238E27FC236}">
                <a16:creationId xmlns:a16="http://schemas.microsoft.com/office/drawing/2014/main" id="{7E5D36B1-4BD6-D917-FC0E-EA3AA3B7A5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311" y="1114096"/>
            <a:ext cx="3127917" cy="5617779"/>
          </a:xfrm>
          <a:prstGeom prst="rect">
            <a:avLst/>
          </a:prstGeom>
        </p:spPr>
      </p:pic>
      <p:sp>
        <p:nvSpPr>
          <p:cNvPr id="5" name="任意形状 4">
            <a:extLst>
              <a:ext uri="{FF2B5EF4-FFF2-40B4-BE49-F238E27FC236}">
                <a16:creationId xmlns:a16="http://schemas.microsoft.com/office/drawing/2014/main" id="{F86C8CA3-F902-29E2-D776-370AB4E9FEDC}"/>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分贝通订票（出差单审批通过后）</a:t>
            </a:r>
          </a:p>
        </p:txBody>
      </p:sp>
      <p:sp>
        <p:nvSpPr>
          <p:cNvPr id="6" name="文本框 5">
            <a:extLst>
              <a:ext uri="{FF2B5EF4-FFF2-40B4-BE49-F238E27FC236}">
                <a16:creationId xmlns:a16="http://schemas.microsoft.com/office/drawing/2014/main" id="{B4264180-AB14-8C16-CEA7-1E800B161BD8}"/>
              </a:ext>
            </a:extLst>
          </p:cNvPr>
          <p:cNvSpPr txBox="1"/>
          <p:nvPr/>
        </p:nvSpPr>
        <p:spPr>
          <a:xfrm>
            <a:off x="4162097" y="1376855"/>
            <a:ext cx="7777655" cy="1289905"/>
          </a:xfrm>
          <a:prstGeom prst="rect">
            <a:avLst/>
          </a:prstGeom>
          <a:noFill/>
        </p:spPr>
        <p:txBody>
          <a:bodyPr wrap="square" rtlCol="0">
            <a:spAutoFit/>
          </a:bodyPr>
          <a:lstStyle/>
          <a:p>
            <a:pPr>
              <a:lnSpc>
                <a:spcPct val="150000"/>
              </a:lnSpc>
            </a:pPr>
            <a:r>
              <a:rPr kumimoji="1" lang="zh-CN" altLang="en-US" b="1" dirty="0">
                <a:latin typeface="Microsoft YaHei" panose="020B0503020204020204" pitchFamily="34" charset="-122"/>
                <a:ea typeface="Microsoft YaHei" panose="020B0503020204020204" pitchFamily="34" charset="-122"/>
              </a:rPr>
              <a:t>在出差申请单审批通过后，点击出差申请单，在“</a:t>
            </a:r>
            <a:r>
              <a:rPr kumimoji="1" lang="zh-CN" altLang="en-US" b="1" dirty="0">
                <a:solidFill>
                  <a:srgbClr val="FF0000"/>
                </a:solidFill>
                <a:latin typeface="Microsoft YaHei" panose="020B0503020204020204" pitchFamily="34" charset="-122"/>
                <a:ea typeface="Microsoft YaHei" panose="020B0503020204020204" pitchFamily="34" charset="-122"/>
              </a:rPr>
              <a:t>申请项</a:t>
            </a:r>
            <a:r>
              <a:rPr kumimoji="1" lang="zh-CN" altLang="en-US" b="1" dirty="0">
                <a:latin typeface="Microsoft YaHei" panose="020B0503020204020204" pitchFamily="34" charset="-122"/>
                <a:ea typeface="Microsoft YaHei" panose="020B0503020204020204" pitchFamily="34" charset="-122"/>
              </a:rPr>
              <a:t>”内可以看到本次差旅过程中已申请的场景项目，比如：机票、酒店、火车票等。</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根据自身需求，点击不同场景后的“</a:t>
            </a:r>
            <a:r>
              <a:rPr kumimoji="1" lang="zh-CN" altLang="en-US" b="1" dirty="0">
                <a:solidFill>
                  <a:srgbClr val="FF0000"/>
                </a:solidFill>
                <a:latin typeface="Microsoft YaHei" panose="020B0503020204020204" pitchFamily="34" charset="-122"/>
                <a:ea typeface="Microsoft YaHei" panose="020B0503020204020204" pitchFamily="34" charset="-122"/>
              </a:rPr>
              <a:t>去预订</a:t>
            </a:r>
            <a:r>
              <a:rPr kumimoji="1" lang="zh-CN" altLang="en-US" b="1" dirty="0">
                <a:latin typeface="Microsoft YaHei" panose="020B0503020204020204" pitchFamily="34" charset="-122"/>
                <a:ea typeface="Microsoft YaHei" panose="020B0503020204020204" pitchFamily="34" charset="-122"/>
              </a:rPr>
              <a:t>”，预订不同的项目</a:t>
            </a:r>
          </a:p>
        </p:txBody>
      </p:sp>
    </p:spTree>
    <p:extLst>
      <p:ext uri="{BB962C8B-B14F-4D97-AF65-F5344CB8AC3E}">
        <p14:creationId xmlns:p14="http://schemas.microsoft.com/office/powerpoint/2010/main" val="86561335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BD17-3AB7-324A-4652-E4FFC8E1ADE8}"/>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C7D1C8F2-578E-D55B-AE57-F0407E51DFAD}"/>
              </a:ext>
            </a:extLst>
          </p:cNvPr>
          <p:cNvPicPr>
            <a:picLocks noChangeAspect="1"/>
          </p:cNvPicPr>
          <p:nvPr/>
        </p:nvPicPr>
        <p:blipFill>
          <a:blip r:embed="rId2"/>
          <a:stretch>
            <a:fillRect/>
          </a:stretch>
        </p:blipFill>
        <p:spPr>
          <a:xfrm>
            <a:off x="359311" y="5901212"/>
            <a:ext cx="1308100" cy="469900"/>
          </a:xfrm>
          <a:prstGeom prst="rect">
            <a:avLst/>
          </a:prstGeom>
        </p:spPr>
      </p:pic>
      <p:sp>
        <p:nvSpPr>
          <p:cNvPr id="8" name="任意形状 7">
            <a:extLst>
              <a:ext uri="{FF2B5EF4-FFF2-40B4-BE49-F238E27FC236}">
                <a16:creationId xmlns:a16="http://schemas.microsoft.com/office/drawing/2014/main" id="{26ACC80D-3F8D-3C8E-6C4B-8843F646E70B}"/>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分贝通会议申请单流程</a:t>
            </a:r>
          </a:p>
        </p:txBody>
      </p:sp>
      <p:pic>
        <p:nvPicPr>
          <p:cNvPr id="3" name="图片 2">
            <a:extLst>
              <a:ext uri="{FF2B5EF4-FFF2-40B4-BE49-F238E27FC236}">
                <a16:creationId xmlns:a16="http://schemas.microsoft.com/office/drawing/2014/main" id="{E53860EF-CCA4-27B8-924D-B49B2A39A12A}"/>
              </a:ext>
            </a:extLst>
          </p:cNvPr>
          <p:cNvPicPr>
            <a:picLocks noChangeAspect="1"/>
          </p:cNvPicPr>
          <p:nvPr/>
        </p:nvPicPr>
        <p:blipFill>
          <a:blip r:embed="rId3"/>
          <a:stretch>
            <a:fillRect/>
          </a:stretch>
        </p:blipFill>
        <p:spPr>
          <a:xfrm>
            <a:off x="226621" y="2623612"/>
            <a:ext cx="6566065" cy="3880718"/>
          </a:xfrm>
          <a:prstGeom prst="rect">
            <a:avLst/>
          </a:prstGeom>
        </p:spPr>
      </p:pic>
      <p:sp>
        <p:nvSpPr>
          <p:cNvPr id="5" name="椭圆 4">
            <a:extLst>
              <a:ext uri="{FF2B5EF4-FFF2-40B4-BE49-F238E27FC236}">
                <a16:creationId xmlns:a16="http://schemas.microsoft.com/office/drawing/2014/main" id="{81C5AB62-99AF-B87E-5D6B-92E81869C154}"/>
              </a:ext>
            </a:extLst>
          </p:cNvPr>
          <p:cNvSpPr/>
          <p:nvPr/>
        </p:nvSpPr>
        <p:spPr>
          <a:xfrm>
            <a:off x="5379522" y="3099460"/>
            <a:ext cx="308759" cy="329540"/>
          </a:xfrm>
          <a:prstGeom prst="ellipse">
            <a:avLst/>
          </a:prstGeom>
          <a:no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FFD39D92-D3BA-91F5-BFDE-A4A630D8AF8F}"/>
              </a:ext>
            </a:extLst>
          </p:cNvPr>
          <p:cNvSpPr/>
          <p:nvPr/>
        </p:nvSpPr>
        <p:spPr>
          <a:xfrm rot="1500000">
            <a:off x="5416379" y="3405372"/>
            <a:ext cx="45719" cy="26067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4" name="图片 13">
            <a:extLst>
              <a:ext uri="{FF2B5EF4-FFF2-40B4-BE49-F238E27FC236}">
                <a16:creationId xmlns:a16="http://schemas.microsoft.com/office/drawing/2014/main" id="{A55522EB-FA31-6C55-AA54-34BCC41DCE85}"/>
              </a:ext>
            </a:extLst>
          </p:cNvPr>
          <p:cNvPicPr>
            <a:picLocks noChangeAspect="1"/>
          </p:cNvPicPr>
          <p:nvPr/>
        </p:nvPicPr>
        <p:blipFill>
          <a:blip r:embed="rId4"/>
          <a:stretch>
            <a:fillRect/>
          </a:stretch>
        </p:blipFill>
        <p:spPr>
          <a:xfrm>
            <a:off x="7707746" y="2088701"/>
            <a:ext cx="3759200" cy="3149600"/>
          </a:xfrm>
          <a:prstGeom prst="rect">
            <a:avLst/>
          </a:prstGeom>
        </p:spPr>
      </p:pic>
      <p:sp>
        <p:nvSpPr>
          <p:cNvPr id="10" name="椭圆 9">
            <a:extLst>
              <a:ext uri="{FF2B5EF4-FFF2-40B4-BE49-F238E27FC236}">
                <a16:creationId xmlns:a16="http://schemas.microsoft.com/office/drawing/2014/main" id="{F5968C2D-CD47-2935-1ED3-1287B5BD8BF4}"/>
              </a:ext>
            </a:extLst>
          </p:cNvPr>
          <p:cNvSpPr/>
          <p:nvPr/>
        </p:nvSpPr>
        <p:spPr>
          <a:xfrm>
            <a:off x="7298035" y="1429789"/>
            <a:ext cx="4406285" cy="4189615"/>
          </a:xfrm>
          <a:prstGeom prst="ellipse">
            <a:avLst/>
          </a:prstGeom>
          <a:noFill/>
          <a:ln w="1111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918425A7-60ED-A6E5-0191-FF5A445DC5BF}"/>
              </a:ext>
            </a:extLst>
          </p:cNvPr>
          <p:cNvSpPr txBox="1"/>
          <p:nvPr/>
        </p:nvSpPr>
        <p:spPr>
          <a:xfrm>
            <a:off x="359311" y="1147156"/>
            <a:ext cx="6922638" cy="787460"/>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在</a:t>
            </a:r>
            <a:r>
              <a:rPr kumimoji="1" lang="en-US" altLang="zh-CN" sz="1600" b="1" dirty="0">
                <a:latin typeface="Microsoft YaHei" panose="020B0503020204020204" pitchFamily="34" charset="-122"/>
                <a:ea typeface="Microsoft YaHei" panose="020B0503020204020204" pitchFamily="34" charset="-122"/>
              </a:rPr>
              <a:t>SFA—</a:t>
            </a:r>
            <a:r>
              <a:rPr kumimoji="1" lang="zh-CN" altLang="en-US" sz="1600" b="1" dirty="0">
                <a:latin typeface="Microsoft YaHei" panose="020B0503020204020204" pitchFamily="34" charset="-122"/>
                <a:ea typeface="Microsoft YaHei" panose="020B0503020204020204" pitchFamily="34" charset="-122"/>
              </a:rPr>
              <a:t>销售管理</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差旅管理</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创建</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根据不同需要选择不同申请单</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会议申请单</a:t>
            </a:r>
            <a:endParaRPr kumimoji="1" lang="en-US" altLang="zh-CN" sz="1600" b="1" dirty="0">
              <a:latin typeface="Microsoft YaHei" panose="020B0503020204020204" pitchFamily="34" charset="-122"/>
              <a:ea typeface="Microsoft YaHei" panose="020B0503020204020204" pitchFamily="34" charset="-122"/>
            </a:endParaRPr>
          </a:p>
        </p:txBody>
      </p:sp>
      <p:sp>
        <p:nvSpPr>
          <p:cNvPr id="24" name="任意形状 23">
            <a:extLst>
              <a:ext uri="{FF2B5EF4-FFF2-40B4-BE49-F238E27FC236}">
                <a16:creationId xmlns:a16="http://schemas.microsoft.com/office/drawing/2014/main" id="{B5C56A8C-E67D-AF94-E544-6DFC0BE66F25}"/>
              </a:ext>
            </a:extLst>
          </p:cNvPr>
          <p:cNvSpPr/>
          <p:nvPr/>
        </p:nvSpPr>
        <p:spPr>
          <a:xfrm>
            <a:off x="8448487" y="5501071"/>
            <a:ext cx="722237" cy="1356928"/>
          </a:xfrm>
          <a:custGeom>
            <a:avLst/>
            <a:gdLst>
              <a:gd name="connsiteX0" fmla="*/ 363587 w 722237"/>
              <a:gd name="connsiteY0" fmla="*/ 0 h 1356928"/>
              <a:gd name="connsiteX1" fmla="*/ 722237 w 722237"/>
              <a:gd name="connsiteY1" fmla="*/ 96100 h 1356928"/>
              <a:gd name="connsiteX2" fmla="*/ 384400 w 722237"/>
              <a:gd name="connsiteY2" fmla="*/ 1356928 h 1356928"/>
              <a:gd name="connsiteX3" fmla="*/ 0 w 722237"/>
              <a:gd name="connsiteY3" fmla="*/ 1356928 h 1356928"/>
              <a:gd name="connsiteX4" fmla="*/ 363587 w 722237"/>
              <a:gd name="connsiteY4" fmla="*/ 0 h 1356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2237" h="1356928">
                <a:moveTo>
                  <a:pt x="363587" y="0"/>
                </a:moveTo>
                <a:lnTo>
                  <a:pt x="722237" y="96100"/>
                </a:lnTo>
                <a:lnTo>
                  <a:pt x="384400" y="1356928"/>
                </a:lnTo>
                <a:lnTo>
                  <a:pt x="0" y="1356928"/>
                </a:lnTo>
                <a:lnTo>
                  <a:pt x="363587" y="0"/>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Tree>
    <p:extLst>
      <p:ext uri="{BB962C8B-B14F-4D97-AF65-F5344CB8AC3E}">
        <p14:creationId xmlns:p14="http://schemas.microsoft.com/office/powerpoint/2010/main" val="355887350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C7D4-167C-CA3D-F98C-5364549826D1}"/>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78C34E94-71BE-032F-9239-1E05C420DDB5}"/>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6" name="图片 5">
            <a:extLst>
              <a:ext uri="{FF2B5EF4-FFF2-40B4-BE49-F238E27FC236}">
                <a16:creationId xmlns:a16="http://schemas.microsoft.com/office/drawing/2014/main" id="{A8DB3D95-2D03-EA6E-A7AC-F84F018BCFD8}"/>
              </a:ext>
            </a:extLst>
          </p:cNvPr>
          <p:cNvPicPr>
            <a:picLocks noChangeAspect="1"/>
          </p:cNvPicPr>
          <p:nvPr/>
        </p:nvPicPr>
        <p:blipFill>
          <a:blip r:embed="rId3"/>
          <a:stretch>
            <a:fillRect/>
          </a:stretch>
        </p:blipFill>
        <p:spPr>
          <a:xfrm>
            <a:off x="6174283" y="2221594"/>
            <a:ext cx="2692965" cy="4292600"/>
          </a:xfrm>
          <a:prstGeom prst="rect">
            <a:avLst/>
          </a:prstGeom>
        </p:spPr>
      </p:pic>
      <p:sp>
        <p:nvSpPr>
          <p:cNvPr id="12" name="任意形状 11">
            <a:extLst>
              <a:ext uri="{FF2B5EF4-FFF2-40B4-BE49-F238E27FC236}">
                <a16:creationId xmlns:a16="http://schemas.microsoft.com/office/drawing/2014/main" id="{E89E469F-232F-EAB7-D1B2-27738BBC5242}"/>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分贝通会议申请单流程</a:t>
            </a:r>
          </a:p>
        </p:txBody>
      </p:sp>
      <p:sp>
        <p:nvSpPr>
          <p:cNvPr id="13" name="文本框 12">
            <a:extLst>
              <a:ext uri="{FF2B5EF4-FFF2-40B4-BE49-F238E27FC236}">
                <a16:creationId xmlns:a16="http://schemas.microsoft.com/office/drawing/2014/main" id="{5DC9053D-921C-091A-1E7D-3A0E4C12B69D}"/>
              </a:ext>
            </a:extLst>
          </p:cNvPr>
          <p:cNvSpPr txBox="1"/>
          <p:nvPr/>
        </p:nvSpPr>
        <p:spPr>
          <a:xfrm>
            <a:off x="1104391" y="6513649"/>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步骤一</a:t>
            </a:r>
          </a:p>
        </p:txBody>
      </p:sp>
      <p:sp>
        <p:nvSpPr>
          <p:cNvPr id="14" name="文本框 13">
            <a:extLst>
              <a:ext uri="{FF2B5EF4-FFF2-40B4-BE49-F238E27FC236}">
                <a16:creationId xmlns:a16="http://schemas.microsoft.com/office/drawing/2014/main" id="{10D2A415-41B5-50F0-043F-B82883A60915}"/>
              </a:ext>
            </a:extLst>
          </p:cNvPr>
          <p:cNvSpPr txBox="1"/>
          <p:nvPr/>
        </p:nvSpPr>
        <p:spPr>
          <a:xfrm>
            <a:off x="3639337" y="6451888"/>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步骤二</a:t>
            </a:r>
          </a:p>
        </p:txBody>
      </p:sp>
      <p:sp>
        <p:nvSpPr>
          <p:cNvPr id="15" name="文本框 14">
            <a:extLst>
              <a:ext uri="{FF2B5EF4-FFF2-40B4-BE49-F238E27FC236}">
                <a16:creationId xmlns:a16="http://schemas.microsoft.com/office/drawing/2014/main" id="{D7575FE8-BB85-4DB1-19FF-9C6B01CBE449}"/>
              </a:ext>
            </a:extLst>
          </p:cNvPr>
          <p:cNvSpPr txBox="1"/>
          <p:nvPr/>
        </p:nvSpPr>
        <p:spPr>
          <a:xfrm>
            <a:off x="7071877" y="6513649"/>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步骤三</a:t>
            </a:r>
          </a:p>
        </p:txBody>
      </p:sp>
      <p:pic>
        <p:nvPicPr>
          <p:cNvPr id="16" name="图片 15">
            <a:extLst>
              <a:ext uri="{FF2B5EF4-FFF2-40B4-BE49-F238E27FC236}">
                <a16:creationId xmlns:a16="http://schemas.microsoft.com/office/drawing/2014/main" id="{53ECF332-1F35-2EF0-C302-55D1D8E03430}"/>
              </a:ext>
            </a:extLst>
          </p:cNvPr>
          <p:cNvPicPr>
            <a:picLocks noChangeAspect="1"/>
          </p:cNvPicPr>
          <p:nvPr/>
        </p:nvPicPr>
        <p:blipFill>
          <a:blip r:embed="rId4"/>
          <a:stretch>
            <a:fillRect/>
          </a:stretch>
        </p:blipFill>
        <p:spPr>
          <a:xfrm>
            <a:off x="9023812" y="3467158"/>
            <a:ext cx="3148660" cy="1801472"/>
          </a:xfrm>
          <a:prstGeom prst="rect">
            <a:avLst/>
          </a:prstGeom>
        </p:spPr>
      </p:pic>
      <p:sp>
        <p:nvSpPr>
          <p:cNvPr id="17" name="文本框 16">
            <a:extLst>
              <a:ext uri="{FF2B5EF4-FFF2-40B4-BE49-F238E27FC236}">
                <a16:creationId xmlns:a16="http://schemas.microsoft.com/office/drawing/2014/main" id="{C0F2B30E-05AE-F0AE-152E-9C8501EC8D98}"/>
              </a:ext>
            </a:extLst>
          </p:cNvPr>
          <p:cNvSpPr txBox="1"/>
          <p:nvPr/>
        </p:nvSpPr>
        <p:spPr>
          <a:xfrm>
            <a:off x="10149254" y="5531880"/>
            <a:ext cx="897775"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步骤四</a:t>
            </a:r>
          </a:p>
        </p:txBody>
      </p:sp>
      <p:sp>
        <p:nvSpPr>
          <p:cNvPr id="18" name="文本框 17">
            <a:extLst>
              <a:ext uri="{FF2B5EF4-FFF2-40B4-BE49-F238E27FC236}">
                <a16:creationId xmlns:a16="http://schemas.microsoft.com/office/drawing/2014/main" id="{4250AE0F-0305-7677-EF28-A512B04C73BE}"/>
              </a:ext>
            </a:extLst>
          </p:cNvPr>
          <p:cNvSpPr txBox="1"/>
          <p:nvPr/>
        </p:nvSpPr>
        <p:spPr>
          <a:xfrm>
            <a:off x="275448" y="1110546"/>
            <a:ext cx="11068245" cy="1156792"/>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根据自己会议目的选择申请事由：地方会议差旅费</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根据自己的会议行程，添加出差</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途径</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目的城市</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solidFill>
                  <a:srgbClr val="FF0000"/>
                </a:solidFill>
                <a:latin typeface="Microsoft YaHei" panose="020B0503020204020204" pitchFamily="34" charset="-122"/>
                <a:ea typeface="Microsoft YaHei" panose="020B0503020204020204" pitchFamily="34" charset="-122"/>
              </a:rPr>
              <a:t>注：添加的城市必须写全，包含始发、目的城市、所有途径和需要换乘的中转城市。否则会影响车票的订购。</a:t>
            </a:r>
          </a:p>
        </p:txBody>
      </p:sp>
      <p:pic>
        <p:nvPicPr>
          <p:cNvPr id="5" name="图片 4">
            <a:extLst>
              <a:ext uri="{FF2B5EF4-FFF2-40B4-BE49-F238E27FC236}">
                <a16:creationId xmlns:a16="http://schemas.microsoft.com/office/drawing/2014/main" id="{83948C09-5590-171B-6239-1D08BC9949FA}"/>
              </a:ext>
            </a:extLst>
          </p:cNvPr>
          <p:cNvPicPr>
            <a:picLocks noChangeAspect="1"/>
          </p:cNvPicPr>
          <p:nvPr/>
        </p:nvPicPr>
        <p:blipFill>
          <a:blip r:embed="rId5"/>
          <a:stretch>
            <a:fillRect/>
          </a:stretch>
        </p:blipFill>
        <p:spPr>
          <a:xfrm>
            <a:off x="520161" y="2298419"/>
            <a:ext cx="2406144" cy="4215230"/>
          </a:xfrm>
          <a:prstGeom prst="rect">
            <a:avLst/>
          </a:prstGeom>
        </p:spPr>
      </p:pic>
      <p:pic>
        <p:nvPicPr>
          <p:cNvPr id="7" name="图片 6">
            <a:extLst>
              <a:ext uri="{FF2B5EF4-FFF2-40B4-BE49-F238E27FC236}">
                <a16:creationId xmlns:a16="http://schemas.microsoft.com/office/drawing/2014/main" id="{E6E7822F-4F4F-C4A4-4D42-98ED08A0A574}"/>
              </a:ext>
            </a:extLst>
          </p:cNvPr>
          <p:cNvPicPr>
            <a:picLocks noChangeAspect="1"/>
          </p:cNvPicPr>
          <p:nvPr/>
        </p:nvPicPr>
        <p:blipFill>
          <a:blip r:embed="rId6"/>
          <a:stretch>
            <a:fillRect/>
          </a:stretch>
        </p:blipFill>
        <p:spPr>
          <a:xfrm>
            <a:off x="3077023" y="3239931"/>
            <a:ext cx="2920177" cy="1688688"/>
          </a:xfrm>
          <a:prstGeom prst="rect">
            <a:avLst/>
          </a:prstGeom>
        </p:spPr>
      </p:pic>
    </p:spTree>
    <p:extLst>
      <p:ext uri="{BB962C8B-B14F-4D97-AF65-F5344CB8AC3E}">
        <p14:creationId xmlns:p14="http://schemas.microsoft.com/office/powerpoint/2010/main" val="418043536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F6D4-E853-BDB6-2C1F-5374F23CC9B7}"/>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B5439CB-6115-C2C4-4CFD-DF12E2A68CB2}"/>
              </a:ext>
            </a:extLst>
          </p:cNvPr>
          <p:cNvPicPr>
            <a:picLocks noChangeAspect="1"/>
          </p:cNvPicPr>
          <p:nvPr/>
        </p:nvPicPr>
        <p:blipFill>
          <a:blip r:embed="rId2"/>
          <a:stretch>
            <a:fillRect/>
          </a:stretch>
        </p:blipFill>
        <p:spPr>
          <a:xfrm>
            <a:off x="359311" y="5901212"/>
            <a:ext cx="1308100" cy="469900"/>
          </a:xfrm>
          <a:prstGeom prst="rect">
            <a:avLst/>
          </a:prstGeom>
        </p:spPr>
      </p:pic>
      <p:sp>
        <p:nvSpPr>
          <p:cNvPr id="4" name="任意形状 3">
            <a:extLst>
              <a:ext uri="{FF2B5EF4-FFF2-40B4-BE49-F238E27FC236}">
                <a16:creationId xmlns:a16="http://schemas.microsoft.com/office/drawing/2014/main" id="{A9DCCA1A-0A64-FDDB-260C-567E229922EE}"/>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分贝通会议申请单流程</a:t>
            </a:r>
          </a:p>
        </p:txBody>
      </p:sp>
      <p:pic>
        <p:nvPicPr>
          <p:cNvPr id="7" name="图片 6">
            <a:extLst>
              <a:ext uri="{FF2B5EF4-FFF2-40B4-BE49-F238E27FC236}">
                <a16:creationId xmlns:a16="http://schemas.microsoft.com/office/drawing/2014/main" id="{BD450E45-295B-D19D-27B4-67FF39C6CE81}"/>
              </a:ext>
            </a:extLst>
          </p:cNvPr>
          <p:cNvPicPr>
            <a:picLocks noChangeAspect="1"/>
          </p:cNvPicPr>
          <p:nvPr/>
        </p:nvPicPr>
        <p:blipFill>
          <a:blip r:embed="rId3"/>
          <a:stretch>
            <a:fillRect/>
          </a:stretch>
        </p:blipFill>
        <p:spPr>
          <a:xfrm>
            <a:off x="359310" y="3429000"/>
            <a:ext cx="5803037" cy="2472212"/>
          </a:xfrm>
          <a:prstGeom prst="rect">
            <a:avLst/>
          </a:prstGeom>
        </p:spPr>
      </p:pic>
      <p:pic>
        <p:nvPicPr>
          <p:cNvPr id="9" name="图片 8">
            <a:extLst>
              <a:ext uri="{FF2B5EF4-FFF2-40B4-BE49-F238E27FC236}">
                <a16:creationId xmlns:a16="http://schemas.microsoft.com/office/drawing/2014/main" id="{0F9F30B4-F290-3798-EDD4-F96D037117DD}"/>
              </a:ext>
            </a:extLst>
          </p:cNvPr>
          <p:cNvPicPr>
            <a:picLocks noChangeAspect="1"/>
          </p:cNvPicPr>
          <p:nvPr/>
        </p:nvPicPr>
        <p:blipFill>
          <a:blip r:embed="rId4"/>
          <a:stretch>
            <a:fillRect/>
          </a:stretch>
        </p:blipFill>
        <p:spPr>
          <a:xfrm>
            <a:off x="6714589" y="4119006"/>
            <a:ext cx="5118100" cy="1092200"/>
          </a:xfrm>
          <a:prstGeom prst="rect">
            <a:avLst/>
          </a:prstGeom>
        </p:spPr>
      </p:pic>
      <p:sp>
        <p:nvSpPr>
          <p:cNvPr id="10" name="文本框 9">
            <a:extLst>
              <a:ext uri="{FF2B5EF4-FFF2-40B4-BE49-F238E27FC236}">
                <a16:creationId xmlns:a16="http://schemas.microsoft.com/office/drawing/2014/main" id="{A0B1936B-640B-5F5C-4F90-4CCD7725D09A}"/>
              </a:ext>
            </a:extLst>
          </p:cNvPr>
          <p:cNvSpPr txBox="1"/>
          <p:nvPr/>
        </p:nvSpPr>
        <p:spPr>
          <a:xfrm>
            <a:off x="359311" y="1132443"/>
            <a:ext cx="11473378" cy="1895455"/>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根据自身实际情况，可以调整会议的途径城市，以便于更准确的预订酒店、车票。</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待都设置完毕，请点击“保存并添加行程“</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如无需会议出差，请直接点击“删除”</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在提交会议申请时，如遇到急事或还未确定好出差行程，在每个界面的最下方都有“</a:t>
            </a:r>
            <a:r>
              <a:rPr kumimoji="1" lang="zh-CN" altLang="en-US" sz="1600" b="1" dirty="0">
                <a:solidFill>
                  <a:srgbClr val="FF0000"/>
                </a:solidFill>
                <a:latin typeface="Microsoft YaHei" panose="020B0503020204020204" pitchFamily="34" charset="-122"/>
                <a:ea typeface="Microsoft YaHei" panose="020B0503020204020204" pitchFamily="34" charset="-122"/>
              </a:rPr>
              <a:t>保存草稿</a:t>
            </a:r>
            <a:r>
              <a:rPr kumimoji="1" lang="zh-CN" altLang="en-US" sz="1600" b="1" dirty="0">
                <a:latin typeface="Microsoft YaHei" panose="020B0503020204020204" pitchFamily="34" charset="-122"/>
                <a:ea typeface="Microsoft YaHei" panose="020B0503020204020204" pitchFamily="34" charset="-122"/>
              </a:rPr>
              <a:t>”按钮，可以保存已填写完的内容，以便后续继续填写申请单。</a:t>
            </a:r>
          </a:p>
        </p:txBody>
      </p:sp>
    </p:spTree>
    <p:extLst>
      <p:ext uri="{BB962C8B-B14F-4D97-AF65-F5344CB8AC3E}">
        <p14:creationId xmlns:p14="http://schemas.microsoft.com/office/powerpoint/2010/main" val="10595044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F5EF-4E03-FEFE-B3D3-D9EF399923A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0D944F42-14A4-7868-A16B-BF72FC048E2D}"/>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335F7979-641C-DA78-D033-8B9294A5730E}"/>
              </a:ext>
            </a:extLst>
          </p:cNvPr>
          <p:cNvPicPr>
            <a:picLocks noChangeAspect="1"/>
          </p:cNvPicPr>
          <p:nvPr/>
        </p:nvPicPr>
        <p:blipFill>
          <a:blip r:embed="rId3"/>
          <a:stretch>
            <a:fillRect/>
          </a:stretch>
        </p:blipFill>
        <p:spPr>
          <a:xfrm>
            <a:off x="6483433" y="1601240"/>
            <a:ext cx="4658096" cy="3996032"/>
          </a:xfrm>
          <a:prstGeom prst="rect">
            <a:avLst/>
          </a:prstGeom>
        </p:spPr>
      </p:pic>
      <p:sp>
        <p:nvSpPr>
          <p:cNvPr id="4" name="任意形状 3">
            <a:extLst>
              <a:ext uri="{FF2B5EF4-FFF2-40B4-BE49-F238E27FC236}">
                <a16:creationId xmlns:a16="http://schemas.microsoft.com/office/drawing/2014/main" id="{222E8325-73D5-D942-1515-99B5E4FC8921}"/>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分贝通会议申请单流程</a:t>
            </a:r>
          </a:p>
        </p:txBody>
      </p:sp>
      <p:sp>
        <p:nvSpPr>
          <p:cNvPr id="10" name="文本框 9">
            <a:extLst>
              <a:ext uri="{FF2B5EF4-FFF2-40B4-BE49-F238E27FC236}">
                <a16:creationId xmlns:a16="http://schemas.microsoft.com/office/drawing/2014/main" id="{22E79037-7E0C-B17D-AC7D-681E1D7969F8}"/>
              </a:ext>
            </a:extLst>
          </p:cNvPr>
          <p:cNvSpPr txBox="1"/>
          <p:nvPr/>
        </p:nvSpPr>
        <p:spPr>
          <a:xfrm>
            <a:off x="571500" y="1485900"/>
            <a:ext cx="5524500" cy="1895455"/>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跳转出浮窗，选择此次差旅中涉及到的费用项目</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solidFill>
                  <a:srgbClr val="FF0000"/>
                </a:solidFill>
                <a:latin typeface="Microsoft YaHei" panose="020B0503020204020204" pitchFamily="34" charset="-122"/>
                <a:ea typeface="Microsoft YaHei" panose="020B0503020204020204" pitchFamily="34" charset="-122"/>
              </a:rPr>
              <a:t>请直接选择“机票酒店火车”</a:t>
            </a:r>
            <a:endParaRPr kumimoji="1" lang="en-US" altLang="zh-CN" sz="1600"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solidFill>
                  <a:srgbClr val="FF0000"/>
                </a:solidFill>
                <a:latin typeface="Microsoft YaHei" panose="020B0503020204020204" pitchFamily="34" charset="-122"/>
                <a:ea typeface="Microsoft YaHei" panose="020B0503020204020204" pitchFamily="34" charset="-122"/>
              </a:rPr>
              <a:t>注：油费</a:t>
            </a:r>
            <a:r>
              <a:rPr kumimoji="1" lang="en-US" altLang="zh-CN" sz="1600" b="1" dirty="0">
                <a:solidFill>
                  <a:srgbClr val="FF0000"/>
                </a:solidFill>
                <a:latin typeface="Microsoft YaHei" panose="020B0503020204020204" pitchFamily="34" charset="-122"/>
                <a:ea typeface="Microsoft YaHei" panose="020B0503020204020204" pitchFamily="34" charset="-122"/>
              </a:rPr>
              <a:t>+</a:t>
            </a:r>
            <a:r>
              <a:rPr kumimoji="1" lang="zh-CN" altLang="en-US" sz="1600" b="1" dirty="0">
                <a:solidFill>
                  <a:srgbClr val="FF0000"/>
                </a:solidFill>
                <a:latin typeface="Microsoft YaHei" panose="020B0503020204020204" pitchFamily="34" charset="-122"/>
                <a:ea typeface="Microsoft YaHei" panose="020B0503020204020204" pitchFamily="34" charset="-122"/>
              </a:rPr>
              <a:t>过路费、餐补不参与差旅费用报销。油补、餐补每月固定发放，不再在差旅中费用中体现。</a:t>
            </a:r>
            <a:endParaRPr kumimoji="1" lang="en-US" altLang="zh-CN" sz="1600"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此处仍增加了行程途径城市的调整按钮。</a:t>
            </a:r>
            <a:endParaRPr kumimoji="1" lang="en-US" altLang="zh-CN" sz="1600"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99109997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25C0C-C7E0-BA04-EE30-6A9651E331B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5748E8CC-2A1B-7E57-9912-E90833EF383E}"/>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1E8AF667-36F4-8E59-CAEE-99DDBE5AB7D1}"/>
              </a:ext>
            </a:extLst>
          </p:cNvPr>
          <p:cNvPicPr>
            <a:picLocks noChangeAspect="1"/>
          </p:cNvPicPr>
          <p:nvPr/>
        </p:nvPicPr>
        <p:blipFill>
          <a:blip r:embed="rId3"/>
          <a:stretch>
            <a:fillRect/>
          </a:stretch>
        </p:blipFill>
        <p:spPr>
          <a:xfrm>
            <a:off x="6952859" y="323792"/>
            <a:ext cx="3927231" cy="6210416"/>
          </a:xfrm>
          <a:prstGeom prst="rect">
            <a:avLst/>
          </a:prstGeom>
        </p:spPr>
      </p:pic>
      <p:sp>
        <p:nvSpPr>
          <p:cNvPr id="4" name="任意形状 3">
            <a:extLst>
              <a:ext uri="{FF2B5EF4-FFF2-40B4-BE49-F238E27FC236}">
                <a16:creationId xmlns:a16="http://schemas.microsoft.com/office/drawing/2014/main" id="{4EAE993F-D3D7-15F3-BBA1-1FAF19B7D11C}"/>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分贝通会议申请单流程</a:t>
            </a:r>
          </a:p>
        </p:txBody>
      </p:sp>
      <p:sp>
        <p:nvSpPr>
          <p:cNvPr id="5" name="文本框 4">
            <a:extLst>
              <a:ext uri="{FF2B5EF4-FFF2-40B4-BE49-F238E27FC236}">
                <a16:creationId xmlns:a16="http://schemas.microsoft.com/office/drawing/2014/main" id="{511ECD77-3ACD-5D45-6C58-11CA967C7E66}"/>
              </a:ext>
            </a:extLst>
          </p:cNvPr>
          <p:cNvSpPr txBox="1"/>
          <p:nvPr/>
        </p:nvSpPr>
        <p:spPr>
          <a:xfrm>
            <a:off x="359311" y="1355271"/>
            <a:ext cx="6253760" cy="584775"/>
          </a:xfrm>
          <a:prstGeom prst="rect">
            <a:avLst/>
          </a:prstGeom>
          <a:noFill/>
        </p:spPr>
        <p:txBody>
          <a:bodyPr wrap="square" rtlCol="0">
            <a:spAutoFit/>
          </a:bodyPr>
          <a:lstStyle/>
          <a:p>
            <a:r>
              <a:rPr kumimoji="1" lang="zh-CN" altLang="en-US" sz="1600" b="1" dirty="0">
                <a:latin typeface="Microsoft YaHei" panose="020B0503020204020204" pitchFamily="34" charset="-122"/>
                <a:ea typeface="Microsoft YaHei" panose="020B0503020204020204" pitchFamily="34" charset="-122"/>
              </a:rPr>
              <a:t>界面跳转出此次行程的总概述，包含出差时间、途径城市、使用场景</a:t>
            </a:r>
          </a:p>
        </p:txBody>
      </p:sp>
    </p:spTree>
    <p:extLst>
      <p:ext uri="{BB962C8B-B14F-4D97-AF65-F5344CB8AC3E}">
        <p14:creationId xmlns:p14="http://schemas.microsoft.com/office/powerpoint/2010/main" val="214491151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8B0AB-05D6-EB1F-0F5E-F22AEB0F813D}"/>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C81E1A16-500C-6573-C501-C29E31DE6ECA}"/>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1BDF24E2-07CC-9555-2E4A-54E8B2C38970}"/>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分贝通会议申请单流程（草稿再编辑）</a:t>
            </a:r>
          </a:p>
        </p:txBody>
      </p:sp>
      <p:pic>
        <p:nvPicPr>
          <p:cNvPr id="4" name="图片 3">
            <a:extLst>
              <a:ext uri="{FF2B5EF4-FFF2-40B4-BE49-F238E27FC236}">
                <a16:creationId xmlns:a16="http://schemas.microsoft.com/office/drawing/2014/main" id="{BF9BEC3B-E52A-526F-51F4-5D915437C8A4}"/>
              </a:ext>
            </a:extLst>
          </p:cNvPr>
          <p:cNvPicPr>
            <a:picLocks noChangeAspect="1"/>
          </p:cNvPicPr>
          <p:nvPr/>
        </p:nvPicPr>
        <p:blipFill>
          <a:blip r:embed="rId3"/>
          <a:stretch>
            <a:fillRect/>
          </a:stretch>
        </p:blipFill>
        <p:spPr>
          <a:xfrm>
            <a:off x="163368" y="3586762"/>
            <a:ext cx="6077903" cy="1705403"/>
          </a:xfrm>
          <a:prstGeom prst="rect">
            <a:avLst/>
          </a:prstGeom>
        </p:spPr>
      </p:pic>
      <p:sp>
        <p:nvSpPr>
          <p:cNvPr id="5" name="文本框 4">
            <a:extLst>
              <a:ext uri="{FF2B5EF4-FFF2-40B4-BE49-F238E27FC236}">
                <a16:creationId xmlns:a16="http://schemas.microsoft.com/office/drawing/2014/main" id="{BA88C216-389D-A9E3-0A38-900B8C17748E}"/>
              </a:ext>
            </a:extLst>
          </p:cNvPr>
          <p:cNvSpPr txBox="1"/>
          <p:nvPr/>
        </p:nvSpPr>
        <p:spPr>
          <a:xfrm>
            <a:off x="359311" y="1132443"/>
            <a:ext cx="11473378" cy="1705403"/>
          </a:xfrm>
          <a:prstGeom prst="rect">
            <a:avLst/>
          </a:prstGeom>
          <a:noFill/>
        </p:spPr>
        <p:txBody>
          <a:bodyPr wrap="square" rtlCol="0">
            <a:spAutoFit/>
          </a:bodyPr>
          <a:lstStyle/>
          <a:p>
            <a:pPr>
              <a:lnSpc>
                <a:spcPct val="150000"/>
              </a:lnSpc>
            </a:pPr>
            <a:r>
              <a:rPr kumimoji="1" lang="zh-CN" altLang="en-US" b="1" dirty="0">
                <a:latin typeface="Microsoft YaHei" panose="020B0503020204020204" pitchFamily="34" charset="-122"/>
                <a:ea typeface="Microsoft YaHei" panose="020B0503020204020204" pitchFamily="34" charset="-122"/>
              </a:rPr>
              <a:t>如何再编辑已保存的草稿申请单</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步骤一：在分贝通首页中点击“我发起的（审批中）”</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步骤二：可以在“我发起的”中找到所有已保存的申请单草稿，点击选择你需要编辑的申请单</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步骤三：根据自身情况编辑完后点击“保存并添加行程”待上级领导审批</a:t>
            </a:r>
          </a:p>
        </p:txBody>
      </p:sp>
      <p:pic>
        <p:nvPicPr>
          <p:cNvPr id="6" name="图片 5">
            <a:extLst>
              <a:ext uri="{FF2B5EF4-FFF2-40B4-BE49-F238E27FC236}">
                <a16:creationId xmlns:a16="http://schemas.microsoft.com/office/drawing/2014/main" id="{EF626F86-6F3D-9C52-77AE-37596DE4629A}"/>
              </a:ext>
            </a:extLst>
          </p:cNvPr>
          <p:cNvPicPr>
            <a:picLocks noChangeAspect="1"/>
          </p:cNvPicPr>
          <p:nvPr/>
        </p:nvPicPr>
        <p:blipFill>
          <a:blip r:embed="rId4"/>
          <a:stretch>
            <a:fillRect/>
          </a:stretch>
        </p:blipFill>
        <p:spPr>
          <a:xfrm>
            <a:off x="6517804" y="3586761"/>
            <a:ext cx="5327181" cy="1705403"/>
          </a:xfrm>
          <a:prstGeom prst="rect">
            <a:avLst/>
          </a:prstGeom>
        </p:spPr>
      </p:pic>
      <p:sp>
        <p:nvSpPr>
          <p:cNvPr id="7" name="文本框 6">
            <a:extLst>
              <a:ext uri="{FF2B5EF4-FFF2-40B4-BE49-F238E27FC236}">
                <a16:creationId xmlns:a16="http://schemas.microsoft.com/office/drawing/2014/main" id="{36395357-D4A9-D33E-2E1A-2C59C7A063F8}"/>
              </a:ext>
            </a:extLst>
          </p:cNvPr>
          <p:cNvSpPr txBox="1"/>
          <p:nvPr/>
        </p:nvSpPr>
        <p:spPr>
          <a:xfrm>
            <a:off x="2687969" y="5503777"/>
            <a:ext cx="1028700"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步骤一</a:t>
            </a:r>
          </a:p>
        </p:txBody>
      </p:sp>
      <p:sp>
        <p:nvSpPr>
          <p:cNvPr id="9" name="文本框 8">
            <a:extLst>
              <a:ext uri="{FF2B5EF4-FFF2-40B4-BE49-F238E27FC236}">
                <a16:creationId xmlns:a16="http://schemas.microsoft.com/office/drawing/2014/main" id="{C3921BBB-60F8-EC83-C263-5AD01A27FA94}"/>
              </a:ext>
            </a:extLst>
          </p:cNvPr>
          <p:cNvSpPr txBox="1"/>
          <p:nvPr/>
        </p:nvSpPr>
        <p:spPr>
          <a:xfrm>
            <a:off x="8667044" y="5503777"/>
            <a:ext cx="1028700" cy="369332"/>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步骤二</a:t>
            </a:r>
          </a:p>
        </p:txBody>
      </p:sp>
    </p:spTree>
    <p:extLst>
      <p:ext uri="{BB962C8B-B14F-4D97-AF65-F5344CB8AC3E}">
        <p14:creationId xmlns:p14="http://schemas.microsoft.com/office/powerpoint/2010/main" val="241182431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18DA1-6F8A-1985-0A1E-D085FE80546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C1DA4AC-87D6-34AB-D103-F9B50F4E6B44}"/>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4" name="图片 3">
            <a:extLst>
              <a:ext uri="{FF2B5EF4-FFF2-40B4-BE49-F238E27FC236}">
                <a16:creationId xmlns:a16="http://schemas.microsoft.com/office/drawing/2014/main" id="{ACDDD6A2-8F8E-3EA1-907F-58F179D8AB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311" y="1114096"/>
            <a:ext cx="3127917" cy="5617779"/>
          </a:xfrm>
          <a:prstGeom prst="rect">
            <a:avLst/>
          </a:prstGeom>
        </p:spPr>
      </p:pic>
      <p:sp>
        <p:nvSpPr>
          <p:cNvPr id="5" name="任意形状 4">
            <a:extLst>
              <a:ext uri="{FF2B5EF4-FFF2-40B4-BE49-F238E27FC236}">
                <a16:creationId xmlns:a16="http://schemas.microsoft.com/office/drawing/2014/main" id="{54061AFC-BF3F-503B-F9C3-9948F33C2050}"/>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分贝通订票（会议单审批通过后）</a:t>
            </a:r>
          </a:p>
        </p:txBody>
      </p:sp>
      <p:sp>
        <p:nvSpPr>
          <p:cNvPr id="6" name="文本框 5">
            <a:extLst>
              <a:ext uri="{FF2B5EF4-FFF2-40B4-BE49-F238E27FC236}">
                <a16:creationId xmlns:a16="http://schemas.microsoft.com/office/drawing/2014/main" id="{3428176F-F28C-5B7E-2F52-DDC8440A71E1}"/>
              </a:ext>
            </a:extLst>
          </p:cNvPr>
          <p:cNvSpPr txBox="1"/>
          <p:nvPr/>
        </p:nvSpPr>
        <p:spPr>
          <a:xfrm>
            <a:off x="4162097" y="1376855"/>
            <a:ext cx="7777655" cy="1289905"/>
          </a:xfrm>
          <a:prstGeom prst="rect">
            <a:avLst/>
          </a:prstGeom>
          <a:noFill/>
        </p:spPr>
        <p:txBody>
          <a:bodyPr wrap="square" rtlCol="0">
            <a:spAutoFit/>
          </a:bodyPr>
          <a:lstStyle/>
          <a:p>
            <a:pPr>
              <a:lnSpc>
                <a:spcPct val="150000"/>
              </a:lnSpc>
            </a:pPr>
            <a:r>
              <a:rPr kumimoji="1" lang="zh-CN" altLang="en-US" b="1" dirty="0">
                <a:latin typeface="Microsoft YaHei" panose="020B0503020204020204" pitchFamily="34" charset="-122"/>
                <a:ea typeface="Microsoft YaHei" panose="020B0503020204020204" pitchFamily="34" charset="-122"/>
              </a:rPr>
              <a:t>在出差申请单审批通过后，点击会议申请单，在“</a:t>
            </a:r>
            <a:r>
              <a:rPr kumimoji="1" lang="zh-CN" altLang="en-US" b="1" dirty="0">
                <a:solidFill>
                  <a:srgbClr val="FF0000"/>
                </a:solidFill>
                <a:latin typeface="Microsoft YaHei" panose="020B0503020204020204" pitchFamily="34" charset="-122"/>
                <a:ea typeface="Microsoft YaHei" panose="020B0503020204020204" pitchFamily="34" charset="-122"/>
              </a:rPr>
              <a:t>申请项</a:t>
            </a:r>
            <a:r>
              <a:rPr kumimoji="1" lang="zh-CN" altLang="en-US" b="1" dirty="0">
                <a:latin typeface="Microsoft YaHei" panose="020B0503020204020204" pitchFamily="34" charset="-122"/>
                <a:ea typeface="Microsoft YaHei" panose="020B0503020204020204" pitchFamily="34" charset="-122"/>
              </a:rPr>
              <a:t>”内可以看到本次会议过程中已申请的场景项目，比如：机票、酒店、火车票等。</a:t>
            </a:r>
            <a:endParaRPr kumimoji="1" lang="en-US" altLang="zh-CN" b="1" dirty="0">
              <a:latin typeface="Microsoft YaHei" panose="020B0503020204020204" pitchFamily="34" charset="-122"/>
              <a:ea typeface="Microsoft YaHei" panose="020B0503020204020204" pitchFamily="34" charset="-122"/>
            </a:endParaRPr>
          </a:p>
          <a:p>
            <a:pPr>
              <a:lnSpc>
                <a:spcPct val="150000"/>
              </a:lnSpc>
            </a:pPr>
            <a:r>
              <a:rPr kumimoji="1" lang="zh-CN" altLang="en-US" b="1" dirty="0">
                <a:latin typeface="Microsoft YaHei" panose="020B0503020204020204" pitchFamily="34" charset="-122"/>
                <a:ea typeface="Microsoft YaHei" panose="020B0503020204020204" pitchFamily="34" charset="-122"/>
              </a:rPr>
              <a:t>根据自身需求，点击不同场景后的“</a:t>
            </a:r>
            <a:r>
              <a:rPr kumimoji="1" lang="zh-CN" altLang="en-US" b="1" dirty="0">
                <a:solidFill>
                  <a:srgbClr val="FF0000"/>
                </a:solidFill>
                <a:latin typeface="Microsoft YaHei" panose="020B0503020204020204" pitchFamily="34" charset="-122"/>
                <a:ea typeface="Microsoft YaHei" panose="020B0503020204020204" pitchFamily="34" charset="-122"/>
              </a:rPr>
              <a:t>去预订</a:t>
            </a:r>
            <a:r>
              <a:rPr kumimoji="1" lang="zh-CN" altLang="en-US" b="1" dirty="0">
                <a:latin typeface="Microsoft YaHei" panose="020B0503020204020204" pitchFamily="34" charset="-122"/>
                <a:ea typeface="Microsoft YaHei" panose="020B0503020204020204" pitchFamily="34" charset="-122"/>
              </a:rPr>
              <a:t>”，预订不同的项目</a:t>
            </a:r>
          </a:p>
        </p:txBody>
      </p:sp>
    </p:spTree>
    <p:extLst>
      <p:ext uri="{BB962C8B-B14F-4D97-AF65-F5344CB8AC3E}">
        <p14:creationId xmlns:p14="http://schemas.microsoft.com/office/powerpoint/2010/main" val="130081346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8669C-3CCA-85D0-25EC-18E2A87FB167}"/>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C288DC5E-1C59-F590-ADBA-2C96181C1239}"/>
              </a:ext>
            </a:extLst>
          </p:cNvPr>
          <p:cNvPicPr>
            <a:picLocks noChangeAspect="1"/>
          </p:cNvPicPr>
          <p:nvPr/>
        </p:nvPicPr>
        <p:blipFill>
          <a:blip r:embed="rId2"/>
          <a:stretch>
            <a:fillRect/>
          </a:stretch>
        </p:blipFill>
        <p:spPr>
          <a:xfrm>
            <a:off x="359311" y="5901212"/>
            <a:ext cx="1308100" cy="469900"/>
          </a:xfrm>
          <a:prstGeom prst="rect">
            <a:avLst/>
          </a:prstGeom>
        </p:spPr>
      </p:pic>
      <p:sp>
        <p:nvSpPr>
          <p:cNvPr id="5" name="任意形状 4">
            <a:extLst>
              <a:ext uri="{FF2B5EF4-FFF2-40B4-BE49-F238E27FC236}">
                <a16:creationId xmlns:a16="http://schemas.microsoft.com/office/drawing/2014/main" id="{37F7ECA1-BF9D-289C-1266-F36E48F85ACC}"/>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分贝通订票（费用类别选择）</a:t>
            </a:r>
          </a:p>
        </p:txBody>
      </p:sp>
      <p:sp>
        <p:nvSpPr>
          <p:cNvPr id="6" name="文本框 5">
            <a:extLst>
              <a:ext uri="{FF2B5EF4-FFF2-40B4-BE49-F238E27FC236}">
                <a16:creationId xmlns:a16="http://schemas.microsoft.com/office/drawing/2014/main" id="{344DBBFB-406E-FAE1-DD0B-8EB366A6F34F}"/>
              </a:ext>
            </a:extLst>
          </p:cNvPr>
          <p:cNvSpPr txBox="1"/>
          <p:nvPr/>
        </p:nvSpPr>
        <p:spPr>
          <a:xfrm>
            <a:off x="4162097" y="1376855"/>
            <a:ext cx="7777655" cy="2536400"/>
          </a:xfrm>
          <a:prstGeom prst="rect">
            <a:avLst/>
          </a:prstGeom>
          <a:noFill/>
        </p:spPr>
        <p:txBody>
          <a:bodyPr wrap="square" rtlCol="0">
            <a:spAutoFit/>
          </a:bodyPr>
          <a:lstStyle/>
          <a:p>
            <a:pPr>
              <a:lnSpc>
                <a:spcPct val="150000"/>
              </a:lnSpc>
            </a:pPr>
            <a:r>
              <a:rPr kumimoji="1" lang="zh-CN" altLang="en-US" b="1" dirty="0">
                <a:latin typeface="Microsoft YaHei" panose="020B0503020204020204" pitchFamily="34" charset="-122"/>
                <a:ea typeface="Microsoft YaHei" panose="020B0503020204020204" pitchFamily="34" charset="-122"/>
              </a:rPr>
              <a:t>在预订火车、机票、酒店时，</a:t>
            </a:r>
            <a:r>
              <a:rPr kumimoji="1" lang="zh-CN" altLang="en-US" b="1" dirty="0">
                <a:solidFill>
                  <a:srgbClr val="FF0000"/>
                </a:solidFill>
                <a:latin typeface="Microsoft YaHei" panose="020B0503020204020204" pitchFamily="34" charset="-122"/>
                <a:ea typeface="Microsoft YaHei" panose="020B0503020204020204" pitchFamily="34" charset="-122"/>
              </a:rPr>
              <a:t>系统默认的是“差旅</a:t>
            </a:r>
            <a:r>
              <a:rPr kumimoji="1" lang="en-US" altLang="zh-CN" b="1" dirty="0">
                <a:solidFill>
                  <a:srgbClr val="FF0000"/>
                </a:solidFill>
                <a:latin typeface="Microsoft YaHei" panose="020B0503020204020204" pitchFamily="34" charset="-122"/>
                <a:ea typeface="Microsoft YaHei" panose="020B0503020204020204" pitchFamily="34" charset="-122"/>
              </a:rPr>
              <a:t>-</a:t>
            </a:r>
            <a:r>
              <a:rPr kumimoji="1" lang="zh-CN" altLang="en-US" b="1" dirty="0">
                <a:solidFill>
                  <a:srgbClr val="FF0000"/>
                </a:solidFill>
                <a:latin typeface="Microsoft YaHei" panose="020B0503020204020204" pitchFamily="34" charset="-122"/>
                <a:ea typeface="Microsoft YaHei" panose="020B0503020204020204" pitchFamily="34" charset="-122"/>
              </a:rPr>
              <a:t>高铁”、“差旅火车”、“差旅</a:t>
            </a:r>
            <a:r>
              <a:rPr kumimoji="1" lang="en-US" altLang="zh-CN" b="1" dirty="0">
                <a:solidFill>
                  <a:srgbClr val="FF0000"/>
                </a:solidFill>
                <a:latin typeface="Microsoft YaHei" panose="020B0503020204020204" pitchFamily="34" charset="-122"/>
                <a:ea typeface="Microsoft YaHei" panose="020B0503020204020204" pitchFamily="34" charset="-122"/>
              </a:rPr>
              <a:t>-</a:t>
            </a:r>
            <a:r>
              <a:rPr kumimoji="1" lang="zh-CN" altLang="en-US" b="1" dirty="0">
                <a:solidFill>
                  <a:srgbClr val="FF0000"/>
                </a:solidFill>
                <a:latin typeface="Microsoft YaHei" panose="020B0503020204020204" pitchFamily="34" charset="-122"/>
                <a:ea typeface="Microsoft YaHei" panose="020B0503020204020204" pitchFamily="34" charset="-122"/>
              </a:rPr>
              <a:t>住宿”、“差旅</a:t>
            </a:r>
            <a:r>
              <a:rPr kumimoji="1" lang="en-US" altLang="zh-CN" b="1" dirty="0">
                <a:solidFill>
                  <a:srgbClr val="FF0000"/>
                </a:solidFill>
                <a:latin typeface="Microsoft YaHei" panose="020B0503020204020204" pitchFamily="34" charset="-122"/>
                <a:ea typeface="Microsoft YaHei" panose="020B0503020204020204" pitchFamily="34" charset="-122"/>
              </a:rPr>
              <a:t>-</a:t>
            </a:r>
            <a:r>
              <a:rPr kumimoji="1" lang="zh-CN" altLang="en-US" b="1" dirty="0">
                <a:solidFill>
                  <a:srgbClr val="FF0000"/>
                </a:solidFill>
                <a:latin typeface="Microsoft YaHei" panose="020B0503020204020204" pitchFamily="34" charset="-122"/>
                <a:ea typeface="Microsoft YaHei" panose="020B0503020204020204" pitchFamily="34" charset="-122"/>
              </a:rPr>
              <a:t>飞机”，</a:t>
            </a:r>
            <a:endParaRPr kumimoji="1" lang="en-US" altLang="zh-CN"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b="1" dirty="0">
                <a:solidFill>
                  <a:srgbClr val="FF0000"/>
                </a:solidFill>
                <a:latin typeface="Microsoft YaHei" panose="020B0503020204020204" pitchFamily="34" charset="-122"/>
                <a:ea typeface="Microsoft YaHei" panose="020B0503020204020204" pitchFamily="34" charset="-122"/>
              </a:rPr>
              <a:t>需要手工改成“会议费</a:t>
            </a:r>
            <a:r>
              <a:rPr kumimoji="1" lang="en-US" altLang="zh-CN" b="1" dirty="0">
                <a:solidFill>
                  <a:srgbClr val="FF0000"/>
                </a:solidFill>
                <a:latin typeface="Microsoft YaHei" panose="020B0503020204020204" pitchFamily="34" charset="-122"/>
                <a:ea typeface="Microsoft YaHei" panose="020B0503020204020204" pitchFamily="34" charset="-122"/>
              </a:rPr>
              <a:t>-</a:t>
            </a:r>
            <a:r>
              <a:rPr kumimoji="1" lang="zh-CN" altLang="en-US" b="1" dirty="0">
                <a:solidFill>
                  <a:srgbClr val="FF0000"/>
                </a:solidFill>
                <a:latin typeface="Microsoft YaHei" panose="020B0503020204020204" pitchFamily="34" charset="-122"/>
                <a:ea typeface="Microsoft YaHei" panose="020B0503020204020204" pitchFamily="34" charset="-122"/>
              </a:rPr>
              <a:t>高铁”、“会议费</a:t>
            </a:r>
            <a:r>
              <a:rPr kumimoji="1" lang="en-US" altLang="zh-CN" b="1" dirty="0">
                <a:solidFill>
                  <a:srgbClr val="FF0000"/>
                </a:solidFill>
                <a:latin typeface="Microsoft YaHei" panose="020B0503020204020204" pitchFamily="34" charset="-122"/>
                <a:ea typeface="Microsoft YaHei" panose="020B0503020204020204" pitchFamily="34" charset="-122"/>
              </a:rPr>
              <a:t>-</a:t>
            </a:r>
            <a:r>
              <a:rPr kumimoji="1" lang="zh-CN" altLang="en-US" b="1" dirty="0">
                <a:solidFill>
                  <a:srgbClr val="FF0000"/>
                </a:solidFill>
                <a:latin typeface="Microsoft YaHei" panose="020B0503020204020204" pitchFamily="34" charset="-122"/>
                <a:ea typeface="Microsoft YaHei" panose="020B0503020204020204" pitchFamily="34" charset="-122"/>
              </a:rPr>
              <a:t>火车”、“会议费</a:t>
            </a:r>
            <a:r>
              <a:rPr kumimoji="1" lang="en-US" altLang="zh-CN" b="1" dirty="0">
                <a:solidFill>
                  <a:srgbClr val="FF0000"/>
                </a:solidFill>
                <a:latin typeface="Microsoft YaHei" panose="020B0503020204020204" pitchFamily="34" charset="-122"/>
                <a:ea typeface="Microsoft YaHei" panose="020B0503020204020204" pitchFamily="34" charset="-122"/>
              </a:rPr>
              <a:t>-</a:t>
            </a:r>
            <a:r>
              <a:rPr kumimoji="1" lang="zh-CN" altLang="en-US" b="1" dirty="0">
                <a:solidFill>
                  <a:srgbClr val="FF0000"/>
                </a:solidFill>
                <a:latin typeface="Microsoft YaHei" panose="020B0503020204020204" pitchFamily="34" charset="-122"/>
                <a:ea typeface="Microsoft YaHei" panose="020B0503020204020204" pitchFamily="34" charset="-122"/>
              </a:rPr>
              <a:t>住宿”、“会议费</a:t>
            </a:r>
            <a:r>
              <a:rPr kumimoji="1" lang="en-US" altLang="zh-CN" b="1" dirty="0">
                <a:solidFill>
                  <a:srgbClr val="FF0000"/>
                </a:solidFill>
                <a:latin typeface="Microsoft YaHei" panose="020B0503020204020204" pitchFamily="34" charset="-122"/>
                <a:ea typeface="Microsoft YaHei" panose="020B0503020204020204" pitchFamily="34" charset="-122"/>
              </a:rPr>
              <a:t>-</a:t>
            </a:r>
            <a:r>
              <a:rPr kumimoji="1" lang="zh-CN" altLang="en-US" b="1" dirty="0">
                <a:solidFill>
                  <a:srgbClr val="FF0000"/>
                </a:solidFill>
                <a:latin typeface="Microsoft YaHei" panose="020B0503020204020204" pitchFamily="34" charset="-122"/>
                <a:ea typeface="Microsoft YaHei" panose="020B0503020204020204" pitchFamily="34" charset="-122"/>
              </a:rPr>
              <a:t>飞机”。</a:t>
            </a:r>
            <a:endParaRPr kumimoji="1" lang="en-US" altLang="zh-CN"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b="1" dirty="0">
                <a:solidFill>
                  <a:schemeClr val="tx1">
                    <a:lumMod val="95000"/>
                    <a:lumOff val="5000"/>
                  </a:schemeClr>
                </a:solidFill>
                <a:latin typeface="Microsoft YaHei" panose="020B0503020204020204" pitchFamily="34" charset="-122"/>
                <a:ea typeface="Microsoft YaHei" panose="020B0503020204020204" pitchFamily="34" charset="-122"/>
              </a:rPr>
              <a:t>否则会占用自己的差旅费用额度，线下会议产生的费用不包含在差旅费用额度内。请在</a:t>
            </a:r>
            <a:r>
              <a:rPr kumimoji="1" lang="zh-CN" altLang="en-US" b="1" dirty="0">
                <a:solidFill>
                  <a:srgbClr val="FF0000"/>
                </a:solidFill>
                <a:latin typeface="Microsoft YaHei" panose="020B0503020204020204" pitchFamily="34" charset="-122"/>
                <a:ea typeface="Microsoft YaHei" panose="020B0503020204020204" pitchFamily="34" charset="-122"/>
              </a:rPr>
              <a:t>会议申请单中订票时务必注意选择费用类别。</a:t>
            </a:r>
          </a:p>
        </p:txBody>
      </p:sp>
      <p:pic>
        <p:nvPicPr>
          <p:cNvPr id="3" name="图片 2">
            <a:extLst>
              <a:ext uri="{FF2B5EF4-FFF2-40B4-BE49-F238E27FC236}">
                <a16:creationId xmlns:a16="http://schemas.microsoft.com/office/drawing/2014/main" id="{2D9ABDA3-5613-8161-75F4-A5CB05BC6090}"/>
              </a:ext>
            </a:extLst>
          </p:cNvPr>
          <p:cNvPicPr>
            <a:picLocks noChangeAspect="1"/>
          </p:cNvPicPr>
          <p:nvPr/>
        </p:nvPicPr>
        <p:blipFill>
          <a:blip r:embed="rId3"/>
          <a:stretch>
            <a:fillRect/>
          </a:stretch>
        </p:blipFill>
        <p:spPr>
          <a:xfrm>
            <a:off x="216856" y="1128155"/>
            <a:ext cx="2561969" cy="5603451"/>
          </a:xfrm>
          <a:prstGeom prst="rect">
            <a:avLst/>
          </a:prstGeom>
        </p:spPr>
      </p:pic>
      <p:pic>
        <p:nvPicPr>
          <p:cNvPr id="7" name="图片 6">
            <a:extLst>
              <a:ext uri="{FF2B5EF4-FFF2-40B4-BE49-F238E27FC236}">
                <a16:creationId xmlns:a16="http://schemas.microsoft.com/office/drawing/2014/main" id="{3F73A5C0-6F17-D383-32D1-F813A38D511D}"/>
              </a:ext>
            </a:extLst>
          </p:cNvPr>
          <p:cNvPicPr>
            <a:picLocks noChangeAspect="1"/>
          </p:cNvPicPr>
          <p:nvPr/>
        </p:nvPicPr>
        <p:blipFill>
          <a:blip r:embed="rId4"/>
          <a:stretch>
            <a:fillRect/>
          </a:stretch>
        </p:blipFill>
        <p:spPr>
          <a:xfrm>
            <a:off x="3712936" y="4319095"/>
            <a:ext cx="3721100" cy="2324100"/>
          </a:xfrm>
          <a:prstGeom prst="rect">
            <a:avLst/>
          </a:prstGeom>
        </p:spPr>
      </p:pic>
      <p:sp>
        <p:nvSpPr>
          <p:cNvPr id="8" name="右箭头 7">
            <a:extLst>
              <a:ext uri="{FF2B5EF4-FFF2-40B4-BE49-F238E27FC236}">
                <a16:creationId xmlns:a16="http://schemas.microsoft.com/office/drawing/2014/main" id="{0A2F6718-A391-999F-A53D-2149C45B5F61}"/>
              </a:ext>
            </a:extLst>
          </p:cNvPr>
          <p:cNvSpPr/>
          <p:nvPr/>
        </p:nvSpPr>
        <p:spPr>
          <a:xfrm>
            <a:off x="2921280" y="5712031"/>
            <a:ext cx="712569" cy="28500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zh-CN" altLang="en-US">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5729486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28695-6223-4627-EC39-57BC554D36DD}"/>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3FF39664-E7F4-1514-42DD-6AAB6A7AFFA8}"/>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C946EF66-38FE-54CF-382E-C61C251A0C8F}"/>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分贝通发票授权</a:t>
            </a:r>
          </a:p>
        </p:txBody>
      </p:sp>
      <p:pic>
        <p:nvPicPr>
          <p:cNvPr id="6" name="图片 5">
            <a:extLst>
              <a:ext uri="{FF2B5EF4-FFF2-40B4-BE49-F238E27FC236}">
                <a16:creationId xmlns:a16="http://schemas.microsoft.com/office/drawing/2014/main" id="{9642EF02-0CC3-718B-E899-78255CF65E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2868" y="1068780"/>
            <a:ext cx="2347105" cy="5017661"/>
          </a:xfrm>
          <a:prstGeom prst="rect">
            <a:avLst/>
          </a:prstGeom>
        </p:spPr>
      </p:pic>
      <p:pic>
        <p:nvPicPr>
          <p:cNvPr id="8" name="图片 7">
            <a:extLst>
              <a:ext uri="{FF2B5EF4-FFF2-40B4-BE49-F238E27FC236}">
                <a16:creationId xmlns:a16="http://schemas.microsoft.com/office/drawing/2014/main" id="{5894C036-AE3A-CE01-9E17-A99F6734BD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1066" y="1068780"/>
            <a:ext cx="2347105" cy="5017661"/>
          </a:xfrm>
          <a:prstGeom prst="rect">
            <a:avLst/>
          </a:prstGeom>
        </p:spPr>
      </p:pic>
      <p:pic>
        <p:nvPicPr>
          <p:cNvPr id="10" name="图片 9">
            <a:extLst>
              <a:ext uri="{FF2B5EF4-FFF2-40B4-BE49-F238E27FC236}">
                <a16:creationId xmlns:a16="http://schemas.microsoft.com/office/drawing/2014/main" id="{BBAB6E1A-210E-0AE6-3D5D-6F3F323F0E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9264" y="1068780"/>
            <a:ext cx="2347105" cy="5017661"/>
          </a:xfrm>
          <a:prstGeom prst="rect">
            <a:avLst/>
          </a:prstGeom>
        </p:spPr>
      </p:pic>
      <p:sp>
        <p:nvSpPr>
          <p:cNvPr id="11" name="文本框 10">
            <a:extLst>
              <a:ext uri="{FF2B5EF4-FFF2-40B4-BE49-F238E27FC236}">
                <a16:creationId xmlns:a16="http://schemas.microsoft.com/office/drawing/2014/main" id="{7FED847D-35DF-1747-5F53-CF80B425F70B}"/>
              </a:ext>
            </a:extLst>
          </p:cNvPr>
          <p:cNvSpPr txBox="1"/>
          <p:nvPr/>
        </p:nvSpPr>
        <p:spPr>
          <a:xfrm>
            <a:off x="225631" y="1710047"/>
            <a:ext cx="4013860" cy="2308324"/>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分贝通火车票授权步骤：</a:t>
            </a:r>
          </a:p>
          <a:p>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打开分贝通，首页上方找到“火车票”，点击“火车票”</a:t>
            </a:r>
          </a:p>
          <a:p>
            <a:r>
              <a:rPr kumimoji="1" lang="en-US" altLang="zh-CN" dirty="0">
                <a:latin typeface="Microsoft YaHei" panose="020B0503020204020204" pitchFamily="34" charset="-122"/>
                <a:ea typeface="Microsoft YaHei" panose="020B0503020204020204" pitchFamily="34" charset="-122"/>
              </a:rPr>
              <a:t>2.</a:t>
            </a:r>
            <a:r>
              <a:rPr kumimoji="1" lang="zh-CN" altLang="en-US" dirty="0">
                <a:latin typeface="Microsoft YaHei" panose="020B0503020204020204" pitchFamily="34" charset="-122"/>
                <a:ea typeface="Microsoft YaHei" panose="020B0503020204020204" pitchFamily="34" charset="-122"/>
              </a:rPr>
              <a:t>在火车票订票页面最下方找到“电子发票”，点击“电子发票”</a:t>
            </a:r>
          </a:p>
          <a:p>
            <a:r>
              <a:rPr kumimoji="1" lang="en-US" altLang="zh-CN" dirty="0">
                <a:latin typeface="Microsoft YaHei" panose="020B0503020204020204" pitchFamily="34" charset="-122"/>
                <a:ea typeface="Microsoft YaHei" panose="020B0503020204020204" pitchFamily="34" charset="-122"/>
              </a:rPr>
              <a:t>3.</a:t>
            </a:r>
            <a:r>
              <a:rPr kumimoji="1" lang="zh-CN" altLang="en-US" dirty="0">
                <a:latin typeface="Microsoft YaHei" panose="020B0503020204020204" pitchFamily="34" charset="-122"/>
                <a:ea typeface="Microsoft YaHei" panose="020B0503020204020204" pitchFamily="34" charset="-122"/>
              </a:rPr>
              <a:t>在电子发票授权页面，选择授权方式“</a:t>
            </a:r>
            <a:r>
              <a:rPr kumimoji="1" lang="en-US" altLang="zh-CN" dirty="0">
                <a:latin typeface="Microsoft YaHei" panose="020B0503020204020204" pitchFamily="34" charset="-122"/>
                <a:ea typeface="Microsoft YaHei" panose="020B0503020204020204" pitchFamily="34" charset="-122"/>
              </a:rPr>
              <a:t>12306</a:t>
            </a:r>
            <a:r>
              <a:rPr kumimoji="1" lang="zh-CN" altLang="en-US" dirty="0">
                <a:latin typeface="Microsoft YaHei" panose="020B0503020204020204" pitchFamily="34" charset="-122"/>
                <a:ea typeface="Microsoft YaHei" panose="020B0503020204020204" pitchFamily="34" charset="-122"/>
              </a:rPr>
              <a:t>账号授权”</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姓名</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证件号授权”。按个人信息填写授权</a:t>
            </a:r>
          </a:p>
        </p:txBody>
      </p:sp>
      <p:sp>
        <p:nvSpPr>
          <p:cNvPr id="12" name="文本框 11">
            <a:extLst>
              <a:ext uri="{FF2B5EF4-FFF2-40B4-BE49-F238E27FC236}">
                <a16:creationId xmlns:a16="http://schemas.microsoft.com/office/drawing/2014/main" id="{DE5F1C85-1587-4222-501C-B12438040534}"/>
              </a:ext>
            </a:extLst>
          </p:cNvPr>
          <p:cNvSpPr txBox="1"/>
          <p:nvPr/>
        </p:nvSpPr>
        <p:spPr>
          <a:xfrm>
            <a:off x="5134611" y="6341762"/>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1</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3" name="文本框 12">
            <a:extLst>
              <a:ext uri="{FF2B5EF4-FFF2-40B4-BE49-F238E27FC236}">
                <a16:creationId xmlns:a16="http://schemas.microsoft.com/office/drawing/2014/main" id="{69C8942E-7914-35D4-2E43-AF3D7DC4C40A}"/>
              </a:ext>
            </a:extLst>
          </p:cNvPr>
          <p:cNvSpPr txBox="1"/>
          <p:nvPr/>
        </p:nvSpPr>
        <p:spPr>
          <a:xfrm>
            <a:off x="7782809" y="6341762"/>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2</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4" name="文本框 13">
            <a:extLst>
              <a:ext uri="{FF2B5EF4-FFF2-40B4-BE49-F238E27FC236}">
                <a16:creationId xmlns:a16="http://schemas.microsoft.com/office/drawing/2014/main" id="{8D0AB582-761F-9A5E-1048-C078F381A87C}"/>
              </a:ext>
            </a:extLst>
          </p:cNvPr>
          <p:cNvSpPr txBox="1"/>
          <p:nvPr/>
        </p:nvSpPr>
        <p:spPr>
          <a:xfrm>
            <a:off x="10431007" y="6341762"/>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3</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5" name="矩形 14">
            <a:extLst>
              <a:ext uri="{FF2B5EF4-FFF2-40B4-BE49-F238E27FC236}">
                <a16:creationId xmlns:a16="http://schemas.microsoft.com/office/drawing/2014/main" id="{AB325C07-6B6D-5892-1711-73171CC020A8}"/>
              </a:ext>
            </a:extLst>
          </p:cNvPr>
          <p:cNvSpPr/>
          <p:nvPr/>
        </p:nvSpPr>
        <p:spPr>
          <a:xfrm>
            <a:off x="5217739" y="1805814"/>
            <a:ext cx="553670" cy="379245"/>
          </a:xfrm>
          <a:prstGeom prst="rect">
            <a:avLst/>
          </a:prstGeom>
          <a:no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2">
                  <a:lumMod val="75000"/>
                </a:schemeClr>
              </a:solidFill>
            </a:endParaRPr>
          </a:p>
        </p:txBody>
      </p:sp>
      <p:sp>
        <p:nvSpPr>
          <p:cNvPr id="16" name="矩形 15">
            <a:extLst>
              <a:ext uri="{FF2B5EF4-FFF2-40B4-BE49-F238E27FC236}">
                <a16:creationId xmlns:a16="http://schemas.microsoft.com/office/drawing/2014/main" id="{081252AF-AB85-6138-C18C-FBC2210B8D5B}"/>
              </a:ext>
            </a:extLst>
          </p:cNvPr>
          <p:cNvSpPr/>
          <p:nvPr/>
        </p:nvSpPr>
        <p:spPr>
          <a:xfrm>
            <a:off x="7867782" y="5599597"/>
            <a:ext cx="553670" cy="379245"/>
          </a:xfrm>
          <a:prstGeom prst="rect">
            <a:avLst/>
          </a:prstGeom>
          <a:no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2">
                  <a:lumMod val="75000"/>
                </a:schemeClr>
              </a:solidFill>
            </a:endParaRPr>
          </a:p>
        </p:txBody>
      </p:sp>
      <p:sp>
        <p:nvSpPr>
          <p:cNvPr id="17" name="矩形 16">
            <a:extLst>
              <a:ext uri="{FF2B5EF4-FFF2-40B4-BE49-F238E27FC236}">
                <a16:creationId xmlns:a16="http://schemas.microsoft.com/office/drawing/2014/main" id="{716F4A95-3EF7-916F-9279-14D17A037D31}"/>
              </a:ext>
            </a:extLst>
          </p:cNvPr>
          <p:cNvSpPr/>
          <p:nvPr/>
        </p:nvSpPr>
        <p:spPr>
          <a:xfrm>
            <a:off x="9877337" y="2185059"/>
            <a:ext cx="798580" cy="379245"/>
          </a:xfrm>
          <a:prstGeom prst="rect">
            <a:avLst/>
          </a:prstGeom>
          <a:no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2">
                  <a:lumMod val="75000"/>
                </a:schemeClr>
              </a:solidFill>
            </a:endParaRPr>
          </a:p>
        </p:txBody>
      </p:sp>
      <p:sp>
        <p:nvSpPr>
          <p:cNvPr id="18" name="矩形 17">
            <a:extLst>
              <a:ext uri="{FF2B5EF4-FFF2-40B4-BE49-F238E27FC236}">
                <a16:creationId xmlns:a16="http://schemas.microsoft.com/office/drawing/2014/main" id="{940AB782-3407-FE4F-4B99-AF0728F0AA18}"/>
              </a:ext>
            </a:extLst>
          </p:cNvPr>
          <p:cNvSpPr/>
          <p:nvPr/>
        </p:nvSpPr>
        <p:spPr>
          <a:xfrm>
            <a:off x="10921853" y="2183079"/>
            <a:ext cx="798580" cy="379245"/>
          </a:xfrm>
          <a:prstGeom prst="rect">
            <a:avLst/>
          </a:prstGeom>
          <a:no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2">
                  <a:lumMod val="75000"/>
                </a:schemeClr>
              </a:solidFill>
            </a:endParaRPr>
          </a:p>
        </p:txBody>
      </p:sp>
    </p:spTree>
    <p:extLst>
      <p:ext uri="{BB962C8B-B14F-4D97-AF65-F5344CB8AC3E}">
        <p14:creationId xmlns:p14="http://schemas.microsoft.com/office/powerpoint/2010/main" val="363398208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E656E-4905-BF26-473E-FD59211BC3C5}"/>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06626CD-A7D0-F3EE-C3E7-8640288B1FD8}"/>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矩形 2">
            <a:extLst>
              <a:ext uri="{FF2B5EF4-FFF2-40B4-BE49-F238E27FC236}">
                <a16:creationId xmlns:a16="http://schemas.microsoft.com/office/drawing/2014/main" id="{45D4A79B-592B-83DB-F971-57117B03C9CF}"/>
              </a:ext>
            </a:extLst>
          </p:cNvPr>
          <p:cNvSpPr/>
          <p:nvPr/>
        </p:nvSpPr>
        <p:spPr>
          <a:xfrm>
            <a:off x="192313" y="1107340"/>
            <a:ext cx="11807374" cy="828240"/>
          </a:xfrm>
          <a:prstGeom prst="rect">
            <a:avLst/>
          </a:prstGeom>
        </p:spPr>
        <p:txBody>
          <a:bodyPr wrap="square">
            <a:spAutoFit/>
          </a:bodyPr>
          <a:lstStyle/>
          <a:p>
            <a:pPr defTabSz="344170">
              <a:lnSpc>
                <a:spcPct val="150000"/>
              </a:lnSpc>
            </a:pPr>
            <a:r>
              <a:rPr lang="zh-CN" altLang="en-US" sz="1600" b="1" dirty="0">
                <a:latin typeface="微软雅黑" panose="020B0503020204020204" pitchFamily="34" charset="-122"/>
                <a:ea typeface="微软雅黑" panose="020B0503020204020204" pitchFamily="34" charset="-122"/>
              </a:rPr>
              <a:t>预订</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授权</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员工在分贝通 </a:t>
            </a:r>
            <a:r>
              <a:rPr lang="es-419" altLang="zh-CN" sz="1600" b="1" dirty="0">
                <a:latin typeface="微软雅黑" panose="020B0503020204020204" pitchFamily="34" charset="-122"/>
                <a:ea typeface="微软雅黑" panose="020B0503020204020204" pitchFamily="34" charset="-122"/>
              </a:rPr>
              <a:t>App </a:t>
            </a:r>
            <a:r>
              <a:rPr lang="zh-CN" altLang="en-US" sz="1600" b="1" dirty="0">
                <a:latin typeface="微软雅黑" panose="020B0503020204020204" pitchFamily="34" charset="-122"/>
                <a:ea typeface="微软雅黑" panose="020B0503020204020204" pitchFamily="34" charset="-122"/>
              </a:rPr>
              <a:t>预订火车票，</a:t>
            </a:r>
            <a:r>
              <a:rPr lang="zh-CN" altLang="en-US" sz="1600" b="1" dirty="0">
                <a:solidFill>
                  <a:srgbClr val="FF0000"/>
                </a:solidFill>
                <a:latin typeface="微软雅黑" panose="020B0503020204020204" pitchFamily="34" charset="-122"/>
                <a:ea typeface="微软雅黑" panose="020B0503020204020204" pitchFamily="34" charset="-122"/>
              </a:rPr>
              <a:t>跳转至支付宝企业码进行授权，授权分贝通获取本人支付宝账号、姓名、手机号等信息注册企业码</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员工在分贝通预留的手机号需和本人支付宝 </a:t>
            </a:r>
            <a:r>
              <a:rPr lang="es-419" altLang="zh-CN" b="1" dirty="0">
                <a:solidFill>
                  <a:srgbClr val="FF0000"/>
                </a:solidFill>
                <a:latin typeface="微软雅黑" panose="020B0503020204020204" pitchFamily="34" charset="-122"/>
                <a:ea typeface="微软雅黑" panose="020B0503020204020204" pitchFamily="34" charset="-122"/>
              </a:rPr>
              <a:t>App </a:t>
            </a:r>
            <a:r>
              <a:rPr lang="zh-CN" altLang="en-US" b="1" dirty="0">
                <a:solidFill>
                  <a:srgbClr val="FF0000"/>
                </a:solidFill>
                <a:latin typeface="微软雅黑" panose="020B0503020204020204" pitchFamily="34" charset="-122"/>
                <a:ea typeface="微软雅黑" panose="020B0503020204020204" pitchFamily="34" charset="-122"/>
              </a:rPr>
              <a:t>手机号一致</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，授权成功则提交订单</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占座成功 </a:t>
            </a:r>
          </a:p>
        </p:txBody>
      </p:sp>
      <p:pic>
        <p:nvPicPr>
          <p:cNvPr id="4" name="图片 3">
            <a:extLst>
              <a:ext uri="{FF2B5EF4-FFF2-40B4-BE49-F238E27FC236}">
                <a16:creationId xmlns:a16="http://schemas.microsoft.com/office/drawing/2014/main" id="{5FDEF300-6887-1A4E-279B-ACB7AD5395F7}"/>
              </a:ext>
            </a:extLst>
          </p:cNvPr>
          <p:cNvPicPr>
            <a:picLocks noChangeAspect="1"/>
          </p:cNvPicPr>
          <p:nvPr/>
        </p:nvPicPr>
        <p:blipFill>
          <a:blip r:embed="rId3"/>
          <a:stretch>
            <a:fillRect/>
          </a:stretch>
        </p:blipFill>
        <p:spPr>
          <a:xfrm>
            <a:off x="2946235" y="2264132"/>
            <a:ext cx="2563916" cy="4196046"/>
          </a:xfrm>
          <a:prstGeom prst="rect">
            <a:avLst/>
          </a:prstGeom>
        </p:spPr>
      </p:pic>
      <p:pic>
        <p:nvPicPr>
          <p:cNvPr id="5" name="图片 4">
            <a:extLst>
              <a:ext uri="{FF2B5EF4-FFF2-40B4-BE49-F238E27FC236}">
                <a16:creationId xmlns:a16="http://schemas.microsoft.com/office/drawing/2014/main" id="{21DC4206-145D-E5A1-7746-44A8B9F28B98}"/>
              </a:ext>
            </a:extLst>
          </p:cNvPr>
          <p:cNvPicPr>
            <a:picLocks noChangeAspect="1"/>
          </p:cNvPicPr>
          <p:nvPr/>
        </p:nvPicPr>
        <p:blipFill>
          <a:blip r:embed="rId4"/>
          <a:stretch>
            <a:fillRect/>
          </a:stretch>
        </p:blipFill>
        <p:spPr>
          <a:xfrm>
            <a:off x="286195" y="2264132"/>
            <a:ext cx="2421228" cy="4196046"/>
          </a:xfrm>
          <a:prstGeom prst="rect">
            <a:avLst/>
          </a:prstGeom>
        </p:spPr>
      </p:pic>
      <p:sp>
        <p:nvSpPr>
          <p:cNvPr id="6" name="任意形状 5">
            <a:extLst>
              <a:ext uri="{FF2B5EF4-FFF2-40B4-BE49-F238E27FC236}">
                <a16:creationId xmlns:a16="http://schemas.microsoft.com/office/drawing/2014/main" id="{822F884D-DBF8-EF42-E711-6E81BEB4511C}"/>
              </a:ext>
            </a:extLst>
          </p:cNvPr>
          <p:cNvSpPr/>
          <p:nvPr/>
        </p:nvSpPr>
        <p:spPr>
          <a:xfrm rot="-7500000">
            <a:off x="5217778" y="2444680"/>
            <a:ext cx="1548888" cy="2140955"/>
          </a:xfrm>
          <a:custGeom>
            <a:avLst/>
            <a:gdLst>
              <a:gd name="connsiteX0" fmla="*/ 1515942 w 1548888"/>
              <a:gd name="connsiteY0" fmla="*/ 1223473 h 2140955"/>
              <a:gd name="connsiteX1" fmla="*/ 927895 w 1548888"/>
              <a:gd name="connsiteY1" fmla="*/ 2063291 h 2140955"/>
              <a:gd name="connsiteX2" fmla="*/ 674290 w 1548888"/>
              <a:gd name="connsiteY2" fmla="*/ 2108009 h 2140955"/>
              <a:gd name="connsiteX3" fmla="*/ 77664 w 1548888"/>
              <a:gd name="connsiteY3" fmla="*/ 1690246 h 2140955"/>
              <a:gd name="connsiteX4" fmla="*/ 32947 w 1548888"/>
              <a:gd name="connsiteY4" fmla="*/ 1436642 h 2140955"/>
              <a:gd name="connsiteX5" fmla="*/ 620994 w 1548888"/>
              <a:gd name="connsiteY5" fmla="*/ 596823 h 2140955"/>
              <a:gd name="connsiteX6" fmla="*/ 673370 w 1548888"/>
              <a:gd name="connsiteY6" fmla="*/ 546971 h 2140955"/>
              <a:gd name="connsiteX7" fmla="*/ 677293 w 1548888"/>
              <a:gd name="connsiteY7" fmla="*/ 545464 h 2140955"/>
              <a:gd name="connsiteX8" fmla="*/ 811397 w 1548888"/>
              <a:gd name="connsiteY8" fmla="*/ 0 h 2140955"/>
              <a:gd name="connsiteX9" fmla="*/ 962217 w 1548888"/>
              <a:gd name="connsiteY9" fmla="*/ 613457 h 2140955"/>
              <a:gd name="connsiteX10" fmla="*/ 1471225 w 1548888"/>
              <a:gd name="connsiteY10" fmla="*/ 969868 h 2140955"/>
              <a:gd name="connsiteX11" fmla="*/ 1515942 w 1548888"/>
              <a:gd name="connsiteY11" fmla="*/ 1223473 h 2140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48888" h="2140955">
                <a:moveTo>
                  <a:pt x="1515942" y="1223473"/>
                </a:moveTo>
                <a:lnTo>
                  <a:pt x="927895" y="2063291"/>
                </a:lnTo>
                <a:cubicBezTo>
                  <a:pt x="870212" y="2145671"/>
                  <a:pt x="756670" y="2165691"/>
                  <a:pt x="674290" y="2108009"/>
                </a:cubicBezTo>
                <a:lnTo>
                  <a:pt x="77664" y="1690246"/>
                </a:lnTo>
                <a:cubicBezTo>
                  <a:pt x="-4716" y="1632564"/>
                  <a:pt x="-24736" y="1519021"/>
                  <a:pt x="32947" y="1436642"/>
                </a:cubicBezTo>
                <a:lnTo>
                  <a:pt x="620994" y="596823"/>
                </a:lnTo>
                <a:cubicBezTo>
                  <a:pt x="635414" y="576229"/>
                  <a:pt x="653326" y="559531"/>
                  <a:pt x="673370" y="546971"/>
                </a:cubicBezTo>
                <a:lnTo>
                  <a:pt x="677293" y="545464"/>
                </a:lnTo>
                <a:lnTo>
                  <a:pt x="811397" y="0"/>
                </a:lnTo>
                <a:lnTo>
                  <a:pt x="962217" y="613457"/>
                </a:lnTo>
                <a:lnTo>
                  <a:pt x="1471225" y="969868"/>
                </a:lnTo>
                <a:cubicBezTo>
                  <a:pt x="1553604" y="1027551"/>
                  <a:pt x="1573625" y="1141093"/>
                  <a:pt x="1515942" y="1223473"/>
                </a:cubicBezTo>
                <a:close/>
              </a:path>
            </a:pathLst>
          </a:custGeom>
          <a:gradFill>
            <a:gsLst>
              <a:gs pos="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7" name="图片 6">
            <a:extLst>
              <a:ext uri="{FF2B5EF4-FFF2-40B4-BE49-F238E27FC236}">
                <a16:creationId xmlns:a16="http://schemas.microsoft.com/office/drawing/2014/main" id="{8CF5F30F-2A58-E3B3-06D0-03D6B1F8599E}"/>
              </a:ext>
            </a:extLst>
          </p:cNvPr>
          <p:cNvPicPr>
            <a:picLocks noChangeAspect="1"/>
          </p:cNvPicPr>
          <p:nvPr/>
        </p:nvPicPr>
        <p:blipFill>
          <a:blip r:embed="rId5"/>
          <a:stretch>
            <a:fillRect/>
          </a:stretch>
        </p:blipFill>
        <p:spPr>
          <a:xfrm>
            <a:off x="7054331" y="2264130"/>
            <a:ext cx="2191434" cy="4196047"/>
          </a:xfrm>
          <a:prstGeom prst="rect">
            <a:avLst/>
          </a:prstGeom>
        </p:spPr>
      </p:pic>
      <p:sp>
        <p:nvSpPr>
          <p:cNvPr id="8" name="任意形状 7">
            <a:extLst>
              <a:ext uri="{FF2B5EF4-FFF2-40B4-BE49-F238E27FC236}">
                <a16:creationId xmlns:a16="http://schemas.microsoft.com/office/drawing/2014/main" id="{D905F5C4-1010-DF43-7312-527456108139}"/>
              </a:ext>
            </a:extLst>
          </p:cNvPr>
          <p:cNvSpPr/>
          <p:nvPr/>
        </p:nvSpPr>
        <p:spPr>
          <a:xfrm rot="-7500000">
            <a:off x="8749538" y="2869273"/>
            <a:ext cx="3102817" cy="4179519"/>
          </a:xfrm>
          <a:custGeom>
            <a:avLst/>
            <a:gdLst>
              <a:gd name="connsiteX0" fmla="*/ 1515942 w 1548888"/>
              <a:gd name="connsiteY0" fmla="*/ 1223473 h 2140955"/>
              <a:gd name="connsiteX1" fmla="*/ 927895 w 1548888"/>
              <a:gd name="connsiteY1" fmla="*/ 2063291 h 2140955"/>
              <a:gd name="connsiteX2" fmla="*/ 674290 w 1548888"/>
              <a:gd name="connsiteY2" fmla="*/ 2108009 h 2140955"/>
              <a:gd name="connsiteX3" fmla="*/ 77664 w 1548888"/>
              <a:gd name="connsiteY3" fmla="*/ 1690246 h 2140955"/>
              <a:gd name="connsiteX4" fmla="*/ 32947 w 1548888"/>
              <a:gd name="connsiteY4" fmla="*/ 1436642 h 2140955"/>
              <a:gd name="connsiteX5" fmla="*/ 620994 w 1548888"/>
              <a:gd name="connsiteY5" fmla="*/ 596823 h 2140955"/>
              <a:gd name="connsiteX6" fmla="*/ 673370 w 1548888"/>
              <a:gd name="connsiteY6" fmla="*/ 546971 h 2140955"/>
              <a:gd name="connsiteX7" fmla="*/ 677293 w 1548888"/>
              <a:gd name="connsiteY7" fmla="*/ 545464 h 2140955"/>
              <a:gd name="connsiteX8" fmla="*/ 811397 w 1548888"/>
              <a:gd name="connsiteY8" fmla="*/ 0 h 2140955"/>
              <a:gd name="connsiteX9" fmla="*/ 962217 w 1548888"/>
              <a:gd name="connsiteY9" fmla="*/ 613457 h 2140955"/>
              <a:gd name="connsiteX10" fmla="*/ 1471225 w 1548888"/>
              <a:gd name="connsiteY10" fmla="*/ 969868 h 2140955"/>
              <a:gd name="connsiteX11" fmla="*/ 1515942 w 1548888"/>
              <a:gd name="connsiteY11" fmla="*/ 1223473 h 2140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48888" h="2140955">
                <a:moveTo>
                  <a:pt x="1515942" y="1223473"/>
                </a:moveTo>
                <a:lnTo>
                  <a:pt x="927895" y="2063291"/>
                </a:lnTo>
                <a:cubicBezTo>
                  <a:pt x="870212" y="2145671"/>
                  <a:pt x="756670" y="2165691"/>
                  <a:pt x="674290" y="2108009"/>
                </a:cubicBezTo>
                <a:lnTo>
                  <a:pt x="77664" y="1690246"/>
                </a:lnTo>
                <a:cubicBezTo>
                  <a:pt x="-4716" y="1632564"/>
                  <a:pt x="-24736" y="1519021"/>
                  <a:pt x="32947" y="1436642"/>
                </a:cubicBezTo>
                <a:lnTo>
                  <a:pt x="620994" y="596823"/>
                </a:lnTo>
                <a:cubicBezTo>
                  <a:pt x="635414" y="576229"/>
                  <a:pt x="653326" y="559531"/>
                  <a:pt x="673370" y="546971"/>
                </a:cubicBezTo>
                <a:lnTo>
                  <a:pt x="677293" y="545464"/>
                </a:lnTo>
                <a:lnTo>
                  <a:pt x="811397" y="0"/>
                </a:lnTo>
                <a:lnTo>
                  <a:pt x="962217" y="613457"/>
                </a:lnTo>
                <a:lnTo>
                  <a:pt x="1471225" y="969868"/>
                </a:lnTo>
                <a:cubicBezTo>
                  <a:pt x="1553604" y="1027551"/>
                  <a:pt x="1573625" y="1141093"/>
                  <a:pt x="1515942" y="1223473"/>
                </a:cubicBezTo>
                <a:close/>
              </a:path>
            </a:pathLst>
          </a:custGeom>
          <a:gradFill>
            <a:gsLst>
              <a:gs pos="0">
                <a:schemeClr val="accent1">
                  <a:lumMod val="5000"/>
                  <a:lumOff val="95000"/>
                </a:schemeClr>
              </a:gs>
              <a:gs pos="100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9" name="文本框 8">
            <a:extLst>
              <a:ext uri="{FF2B5EF4-FFF2-40B4-BE49-F238E27FC236}">
                <a16:creationId xmlns:a16="http://schemas.microsoft.com/office/drawing/2014/main" id="{B8D3F641-D070-0194-6C3D-82DD10EC432D}"/>
              </a:ext>
            </a:extLst>
          </p:cNvPr>
          <p:cNvSpPr txBox="1"/>
          <p:nvPr/>
        </p:nvSpPr>
        <p:spPr>
          <a:xfrm>
            <a:off x="5627469" y="3198167"/>
            <a:ext cx="1150457" cy="461665"/>
          </a:xfrm>
          <a:prstGeom prst="rect">
            <a:avLst/>
          </a:prstGeom>
          <a:noFill/>
        </p:spPr>
        <p:txBody>
          <a:bodyPr wrap="square" rtlCol="0">
            <a:spAutoFit/>
          </a:bodyPr>
          <a:lstStyle/>
          <a:p>
            <a:r>
              <a:rPr lang="zh-CN" altLang="en-US" sz="1200" b="1" dirty="0">
                <a:effectLst/>
                <a:latin typeface="Microsoft YaHei" panose="020B0503020204020204" pitchFamily="34" charset="-122"/>
                <a:ea typeface="Microsoft YaHei" panose="020B0503020204020204" pitchFamily="34" charset="-122"/>
              </a:rPr>
              <a:t>点击“同意” 跳转下个页面 </a:t>
            </a:r>
            <a:endParaRPr lang="zh-CN" altLang="en-US" sz="1200" b="1" dirty="0">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47FFBA3B-A1A2-2404-9E73-7F38FD99B85E}"/>
              </a:ext>
            </a:extLst>
          </p:cNvPr>
          <p:cNvSpPr txBox="1"/>
          <p:nvPr/>
        </p:nvSpPr>
        <p:spPr>
          <a:xfrm>
            <a:off x="9631720" y="3659832"/>
            <a:ext cx="2375366" cy="1884555"/>
          </a:xfrm>
          <a:prstGeom prst="rect">
            <a:avLst/>
          </a:prstGeom>
          <a:noFill/>
        </p:spPr>
        <p:txBody>
          <a:bodyPr wrap="square" rtlCol="0">
            <a:spAutoFit/>
          </a:bodyPr>
          <a:lstStyle/>
          <a:p>
            <a:pPr>
              <a:lnSpc>
                <a:spcPct val="150000"/>
              </a:lnSpc>
            </a:pPr>
            <a:r>
              <a:rPr lang="zh-CN" altLang="en-US" sz="2000" b="1" dirty="0">
                <a:effectLst/>
                <a:latin typeface="Microsoft YaHei" panose="020B0503020204020204" pitchFamily="34" charset="-122"/>
                <a:ea typeface="Microsoft YaHei" panose="020B0503020204020204" pitchFamily="34" charset="-122"/>
              </a:rPr>
              <a:t>点击“同意协议并开使用”</a:t>
            </a:r>
            <a:endParaRPr lang="en-US" altLang="zh-CN" sz="2000" b="1" dirty="0">
              <a:effectLst/>
              <a:latin typeface="Microsoft YaHei" panose="020B0503020204020204" pitchFamily="34" charset="-122"/>
              <a:ea typeface="Microsoft YaHei" panose="020B0503020204020204" pitchFamily="34" charset="-122"/>
            </a:endParaRPr>
          </a:p>
          <a:p>
            <a:pPr>
              <a:lnSpc>
                <a:spcPct val="150000"/>
              </a:lnSpc>
            </a:pPr>
            <a:r>
              <a:rPr lang="zh-CN" altLang="en-US" sz="2000" b="1" dirty="0">
                <a:effectLst/>
                <a:latin typeface="Microsoft YaHei" panose="020B0503020204020204" pitchFamily="34" charset="-122"/>
                <a:ea typeface="Microsoft YaHei" panose="020B0503020204020204" pitchFamily="34" charset="-122"/>
              </a:rPr>
              <a:t>完成授权，只需授权一次 </a:t>
            </a:r>
            <a:endParaRPr lang="zh-CN" altLang="en-US" sz="1400" b="1" dirty="0">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913296B7-316D-9A45-5AEF-BF4A7F928B97}"/>
              </a:ext>
            </a:extLst>
          </p:cNvPr>
          <p:cNvSpPr txBox="1"/>
          <p:nvPr/>
        </p:nvSpPr>
        <p:spPr>
          <a:xfrm>
            <a:off x="1135000" y="6524363"/>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1</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2" name="文本框 11">
            <a:extLst>
              <a:ext uri="{FF2B5EF4-FFF2-40B4-BE49-F238E27FC236}">
                <a16:creationId xmlns:a16="http://schemas.microsoft.com/office/drawing/2014/main" id="{E542A43B-6A9E-6524-65D0-4D5192A9F329}"/>
              </a:ext>
            </a:extLst>
          </p:cNvPr>
          <p:cNvSpPr txBox="1"/>
          <p:nvPr/>
        </p:nvSpPr>
        <p:spPr>
          <a:xfrm>
            <a:off x="3866384" y="6507486"/>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2</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3" name="文本框 12">
            <a:extLst>
              <a:ext uri="{FF2B5EF4-FFF2-40B4-BE49-F238E27FC236}">
                <a16:creationId xmlns:a16="http://schemas.microsoft.com/office/drawing/2014/main" id="{45D5980B-691C-57F4-A4BC-292C729CE0B7}"/>
              </a:ext>
            </a:extLst>
          </p:cNvPr>
          <p:cNvSpPr txBox="1"/>
          <p:nvPr/>
        </p:nvSpPr>
        <p:spPr>
          <a:xfrm>
            <a:off x="7788239" y="6507486"/>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3</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4" name="任意形状 13">
            <a:extLst>
              <a:ext uri="{FF2B5EF4-FFF2-40B4-BE49-F238E27FC236}">
                <a16:creationId xmlns:a16="http://schemas.microsoft.com/office/drawing/2014/main" id="{6B8F734D-425B-9692-114D-48715C52F4AB}"/>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支付宝授权</a:t>
            </a:r>
          </a:p>
        </p:txBody>
      </p:sp>
    </p:spTree>
    <p:extLst>
      <p:ext uri="{BB962C8B-B14F-4D97-AF65-F5344CB8AC3E}">
        <p14:creationId xmlns:p14="http://schemas.microsoft.com/office/powerpoint/2010/main" val="215508063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C2A2-0533-2D72-B3F0-17670ED63CF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A32A401-3008-9422-7F5F-29BAA902554D}"/>
              </a:ext>
            </a:extLst>
          </p:cNvPr>
          <p:cNvSpPr/>
          <p:nvPr/>
        </p:nvSpPr>
        <p:spPr>
          <a:xfrm>
            <a:off x="155528" y="888976"/>
            <a:ext cx="11807374" cy="791627"/>
          </a:xfrm>
          <a:prstGeom prst="rect">
            <a:avLst/>
          </a:prstGeom>
        </p:spPr>
        <p:txBody>
          <a:bodyPr wrap="square">
            <a:spAutoFit/>
          </a:bodyPr>
          <a:lstStyle/>
          <a:p>
            <a:pPr defTabSz="344170">
              <a:lnSpc>
                <a:spcPct val="150000"/>
              </a:lnSpc>
            </a:pPr>
            <a:r>
              <a:rPr lang="zh-CN" altLang="en-US" sz="1600" b="1" dirty="0">
                <a:latin typeface="微软雅黑" panose="020B0503020204020204" pitchFamily="34" charset="-122"/>
                <a:ea typeface="微软雅黑" panose="020B0503020204020204" pitchFamily="34" charset="-122"/>
              </a:rPr>
              <a:t>支付</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出票</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员工在占座成功页面，点击“去支付”，</a:t>
            </a:r>
            <a:r>
              <a:rPr lang="zh-CN" altLang="en-US" sz="1600" b="1" dirty="0">
                <a:solidFill>
                  <a:srgbClr val="FF0000"/>
                </a:solidFill>
                <a:latin typeface="微软雅黑" panose="020B0503020204020204" pitchFamily="34" charset="-122"/>
                <a:ea typeface="微软雅黑" panose="020B0503020204020204" pitchFamily="34" charset="-122"/>
              </a:rPr>
              <a:t>跳转至支付宝 </a:t>
            </a:r>
            <a:r>
              <a:rPr lang="es-419" altLang="zh-CN" sz="1600" b="1" dirty="0">
                <a:solidFill>
                  <a:srgbClr val="FF0000"/>
                </a:solidFill>
                <a:latin typeface="微软雅黑" panose="020B0503020204020204" pitchFamily="34" charset="-122"/>
                <a:ea typeface="微软雅黑" panose="020B0503020204020204" pitchFamily="34" charset="-122"/>
              </a:rPr>
              <a:t>App-</a:t>
            </a:r>
            <a:r>
              <a:rPr lang="zh-CN" altLang="en-US" sz="1600" b="1" dirty="0">
                <a:solidFill>
                  <a:srgbClr val="FF0000"/>
                </a:solidFill>
                <a:latin typeface="微软雅黑" panose="020B0503020204020204" pitchFamily="34" charset="-122"/>
                <a:ea typeface="微软雅黑" panose="020B0503020204020204" pitchFamily="34" charset="-122"/>
              </a:rPr>
              <a:t>企业码小程序，弹出收银台，默认选中“因公付</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分贝通</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火车票因公付”</a:t>
            </a:r>
            <a:r>
              <a:rPr lang="zh-CN" altLang="en-US" sz="1600" b="1" dirty="0">
                <a:latin typeface="微软雅黑" panose="020B0503020204020204" pitchFamily="34" charset="-122"/>
                <a:ea typeface="微软雅黑" panose="020B0503020204020204" pitchFamily="34" charset="-122"/>
              </a:rPr>
              <a:t>。支付成功 </a:t>
            </a:r>
            <a:r>
              <a:rPr lang="en-US" altLang="zh-CN" sz="1600" b="1" dirty="0">
                <a:latin typeface="微软雅黑" panose="020B0503020204020204" pitchFamily="34" charset="-122"/>
                <a:ea typeface="微软雅黑" panose="020B0503020204020204" pitchFamily="34" charset="-122"/>
              </a:rPr>
              <a:t>10</a:t>
            </a:r>
            <a:r>
              <a:rPr lang="es-419" altLang="zh-CN" sz="1600" b="1" dirty="0">
                <a:latin typeface="微软雅黑" panose="020B0503020204020204" pitchFamily="34" charset="-122"/>
                <a:ea typeface="微软雅黑" panose="020B0503020204020204" pitchFamily="34" charset="-122"/>
              </a:rPr>
              <a:t>s </a:t>
            </a:r>
            <a:r>
              <a:rPr lang="zh-CN" altLang="en-US" sz="1600" b="1" dirty="0">
                <a:latin typeface="微软雅黑" panose="020B0503020204020204" pitchFamily="34" charset="-122"/>
                <a:ea typeface="微软雅黑" panose="020B0503020204020204" pitchFamily="34" charset="-122"/>
              </a:rPr>
              <a:t>后自动出票成功 </a:t>
            </a:r>
          </a:p>
        </p:txBody>
      </p:sp>
      <p:pic>
        <p:nvPicPr>
          <p:cNvPr id="3" name="图片 2">
            <a:extLst>
              <a:ext uri="{FF2B5EF4-FFF2-40B4-BE49-F238E27FC236}">
                <a16:creationId xmlns:a16="http://schemas.microsoft.com/office/drawing/2014/main" id="{7D25533F-7932-C625-0D29-36BD0FF06504}"/>
              </a:ext>
            </a:extLst>
          </p:cNvPr>
          <p:cNvPicPr>
            <a:picLocks noChangeAspect="1"/>
          </p:cNvPicPr>
          <p:nvPr/>
        </p:nvPicPr>
        <p:blipFill>
          <a:blip r:embed="rId2"/>
          <a:stretch>
            <a:fillRect/>
          </a:stretch>
        </p:blipFill>
        <p:spPr>
          <a:xfrm>
            <a:off x="424461" y="1898967"/>
            <a:ext cx="2153115" cy="4477019"/>
          </a:xfrm>
          <a:prstGeom prst="rect">
            <a:avLst/>
          </a:prstGeom>
        </p:spPr>
      </p:pic>
      <p:pic>
        <p:nvPicPr>
          <p:cNvPr id="4" name="图片 3">
            <a:extLst>
              <a:ext uri="{FF2B5EF4-FFF2-40B4-BE49-F238E27FC236}">
                <a16:creationId xmlns:a16="http://schemas.microsoft.com/office/drawing/2014/main" id="{46146EE8-19DA-3145-8FEC-654E38844A3E}"/>
              </a:ext>
            </a:extLst>
          </p:cNvPr>
          <p:cNvPicPr>
            <a:picLocks noChangeAspect="1"/>
          </p:cNvPicPr>
          <p:nvPr/>
        </p:nvPicPr>
        <p:blipFill>
          <a:blip r:embed="rId3"/>
          <a:stretch>
            <a:fillRect/>
          </a:stretch>
        </p:blipFill>
        <p:spPr>
          <a:xfrm>
            <a:off x="3329745" y="1894402"/>
            <a:ext cx="2306909" cy="4533441"/>
          </a:xfrm>
          <a:prstGeom prst="rect">
            <a:avLst/>
          </a:prstGeom>
        </p:spPr>
      </p:pic>
      <p:pic>
        <p:nvPicPr>
          <p:cNvPr id="5" name="图片 4">
            <a:extLst>
              <a:ext uri="{FF2B5EF4-FFF2-40B4-BE49-F238E27FC236}">
                <a16:creationId xmlns:a16="http://schemas.microsoft.com/office/drawing/2014/main" id="{D01DE967-7EE3-DF09-4547-70A492FE92B0}"/>
              </a:ext>
            </a:extLst>
          </p:cNvPr>
          <p:cNvPicPr>
            <a:picLocks noChangeAspect="1"/>
          </p:cNvPicPr>
          <p:nvPr/>
        </p:nvPicPr>
        <p:blipFill>
          <a:blip r:embed="rId4"/>
          <a:stretch>
            <a:fillRect/>
          </a:stretch>
        </p:blipFill>
        <p:spPr>
          <a:xfrm>
            <a:off x="6555348" y="1894719"/>
            <a:ext cx="2143503" cy="4532844"/>
          </a:xfrm>
          <a:prstGeom prst="rect">
            <a:avLst/>
          </a:prstGeom>
        </p:spPr>
      </p:pic>
      <p:pic>
        <p:nvPicPr>
          <p:cNvPr id="6" name="图片 5">
            <a:extLst>
              <a:ext uri="{FF2B5EF4-FFF2-40B4-BE49-F238E27FC236}">
                <a16:creationId xmlns:a16="http://schemas.microsoft.com/office/drawing/2014/main" id="{0FAE22E7-AC2B-36AC-5C4E-DE0C620D8EE9}"/>
              </a:ext>
            </a:extLst>
          </p:cNvPr>
          <p:cNvPicPr>
            <a:picLocks noChangeAspect="1"/>
          </p:cNvPicPr>
          <p:nvPr/>
        </p:nvPicPr>
        <p:blipFill>
          <a:blip r:embed="rId5"/>
          <a:stretch>
            <a:fillRect/>
          </a:stretch>
        </p:blipFill>
        <p:spPr>
          <a:xfrm>
            <a:off x="9617545" y="1843284"/>
            <a:ext cx="2345357" cy="4581267"/>
          </a:xfrm>
          <a:prstGeom prst="rect">
            <a:avLst/>
          </a:prstGeom>
        </p:spPr>
      </p:pic>
      <p:sp>
        <p:nvSpPr>
          <p:cNvPr id="7" name="文本框 6">
            <a:extLst>
              <a:ext uri="{FF2B5EF4-FFF2-40B4-BE49-F238E27FC236}">
                <a16:creationId xmlns:a16="http://schemas.microsoft.com/office/drawing/2014/main" id="{2E3ED2A5-3C7C-B4A2-5164-4126B5D6F57F}"/>
              </a:ext>
            </a:extLst>
          </p:cNvPr>
          <p:cNvSpPr txBox="1"/>
          <p:nvPr/>
        </p:nvSpPr>
        <p:spPr>
          <a:xfrm>
            <a:off x="286195" y="486888"/>
            <a:ext cx="6542117" cy="369332"/>
          </a:xfrm>
          <a:prstGeom prst="rect">
            <a:avLst/>
          </a:prstGeom>
          <a:noFill/>
        </p:spPr>
        <p:txBody>
          <a:bodyPr wrap="squar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订票与支付</a:t>
            </a:r>
          </a:p>
        </p:txBody>
      </p:sp>
      <p:sp>
        <p:nvSpPr>
          <p:cNvPr id="8" name="文本框 7">
            <a:extLst>
              <a:ext uri="{FF2B5EF4-FFF2-40B4-BE49-F238E27FC236}">
                <a16:creationId xmlns:a16="http://schemas.microsoft.com/office/drawing/2014/main" id="{059883C7-0C0D-6534-0686-76C63E72EE84}"/>
              </a:ext>
            </a:extLst>
          </p:cNvPr>
          <p:cNvSpPr txBox="1"/>
          <p:nvPr/>
        </p:nvSpPr>
        <p:spPr>
          <a:xfrm>
            <a:off x="1135000" y="6524363"/>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1</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9" name="文本框 8">
            <a:extLst>
              <a:ext uri="{FF2B5EF4-FFF2-40B4-BE49-F238E27FC236}">
                <a16:creationId xmlns:a16="http://schemas.microsoft.com/office/drawing/2014/main" id="{F168F69B-F61F-7879-2A89-236C2E85A34C}"/>
              </a:ext>
            </a:extLst>
          </p:cNvPr>
          <p:cNvSpPr txBox="1"/>
          <p:nvPr/>
        </p:nvSpPr>
        <p:spPr>
          <a:xfrm>
            <a:off x="4121390" y="6526345"/>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2</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0" name="文本框 9">
            <a:extLst>
              <a:ext uri="{FF2B5EF4-FFF2-40B4-BE49-F238E27FC236}">
                <a16:creationId xmlns:a16="http://schemas.microsoft.com/office/drawing/2014/main" id="{1B89A018-B877-7CD1-D71B-ABD8E6D18CB4}"/>
              </a:ext>
            </a:extLst>
          </p:cNvPr>
          <p:cNvSpPr txBox="1"/>
          <p:nvPr/>
        </p:nvSpPr>
        <p:spPr>
          <a:xfrm>
            <a:off x="7265290" y="6519446"/>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3</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1" name="文本框 10">
            <a:extLst>
              <a:ext uri="{FF2B5EF4-FFF2-40B4-BE49-F238E27FC236}">
                <a16:creationId xmlns:a16="http://schemas.microsoft.com/office/drawing/2014/main" id="{0CB70E53-31B1-076A-E5A5-4711634BBDF6}"/>
              </a:ext>
            </a:extLst>
          </p:cNvPr>
          <p:cNvSpPr txBox="1"/>
          <p:nvPr/>
        </p:nvSpPr>
        <p:spPr>
          <a:xfrm>
            <a:off x="10428414" y="6519446"/>
            <a:ext cx="723617" cy="338554"/>
          </a:xfrm>
          <a:prstGeom prst="rect">
            <a:avLst/>
          </a:prstGeom>
          <a:noFill/>
        </p:spPr>
        <p:txBody>
          <a:bodyPr wrap="square" rtlCol="0">
            <a:spAutoFit/>
          </a:bodyPr>
          <a:lstStyle/>
          <a:p>
            <a:r>
              <a:rPr kumimoji="1" lang="zh-CN" altLang="en-US" sz="1600" b="1" dirty="0">
                <a:solidFill>
                  <a:srgbClr val="0070C0"/>
                </a:solidFill>
                <a:latin typeface="Microsoft YaHei" panose="020B0503020204020204" pitchFamily="34" charset="-122"/>
                <a:ea typeface="Microsoft YaHei" panose="020B0503020204020204" pitchFamily="34" charset="-122"/>
              </a:rPr>
              <a:t>第</a:t>
            </a:r>
            <a:r>
              <a:rPr kumimoji="1" lang="en-US" altLang="zh-CN" sz="1600" b="1" dirty="0">
                <a:solidFill>
                  <a:srgbClr val="0070C0"/>
                </a:solidFill>
                <a:latin typeface="Microsoft YaHei" panose="020B0503020204020204" pitchFamily="34" charset="-122"/>
                <a:ea typeface="Microsoft YaHei" panose="020B0503020204020204" pitchFamily="34" charset="-122"/>
              </a:rPr>
              <a:t>4</a:t>
            </a:r>
            <a:r>
              <a:rPr kumimoji="1" lang="zh-CN" altLang="en-US" sz="1600" b="1" dirty="0">
                <a:solidFill>
                  <a:srgbClr val="0070C0"/>
                </a:solidFill>
                <a:latin typeface="Microsoft YaHei" panose="020B0503020204020204" pitchFamily="34" charset="-122"/>
                <a:ea typeface="Microsoft YaHei" panose="020B0503020204020204" pitchFamily="34" charset="-122"/>
              </a:rPr>
              <a:t>步</a:t>
            </a:r>
          </a:p>
        </p:txBody>
      </p:sp>
      <p:sp>
        <p:nvSpPr>
          <p:cNvPr id="12" name="任意形状 11">
            <a:extLst>
              <a:ext uri="{FF2B5EF4-FFF2-40B4-BE49-F238E27FC236}">
                <a16:creationId xmlns:a16="http://schemas.microsoft.com/office/drawing/2014/main" id="{38EF9BA6-57CF-EA5F-142C-EF82636124B5}"/>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火车</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高铁票订票与支付</a:t>
            </a:r>
          </a:p>
        </p:txBody>
      </p:sp>
    </p:spTree>
    <p:extLst>
      <p:ext uri="{BB962C8B-B14F-4D97-AF65-F5344CB8AC3E}">
        <p14:creationId xmlns:p14="http://schemas.microsoft.com/office/powerpoint/2010/main" val="237066501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CE958-9F39-8FDB-58D6-E979014F54F5}"/>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F28E19E6-2331-A52B-0167-D068F15D6159}"/>
              </a:ext>
            </a:extLst>
          </p:cNvPr>
          <p:cNvPicPr>
            <a:picLocks noChangeAspect="1"/>
          </p:cNvPicPr>
          <p:nvPr/>
        </p:nvPicPr>
        <p:blipFill>
          <a:blip r:embed="rId2"/>
          <a:stretch>
            <a:fillRect/>
          </a:stretch>
        </p:blipFill>
        <p:spPr>
          <a:xfrm>
            <a:off x="237130" y="1678674"/>
            <a:ext cx="2478775" cy="4908171"/>
          </a:xfrm>
          <a:prstGeom prst="rect">
            <a:avLst/>
          </a:prstGeom>
        </p:spPr>
      </p:pic>
      <p:sp>
        <p:nvSpPr>
          <p:cNvPr id="4" name="文本框 3">
            <a:extLst>
              <a:ext uri="{FF2B5EF4-FFF2-40B4-BE49-F238E27FC236}">
                <a16:creationId xmlns:a16="http://schemas.microsoft.com/office/drawing/2014/main" id="{A785D0EE-E638-D905-8D27-6E3B0153A607}"/>
              </a:ext>
            </a:extLst>
          </p:cNvPr>
          <p:cNvSpPr txBox="1"/>
          <p:nvPr/>
        </p:nvSpPr>
        <p:spPr>
          <a:xfrm>
            <a:off x="286195" y="486888"/>
            <a:ext cx="6542117" cy="369332"/>
          </a:xfrm>
          <a:prstGeom prst="rect">
            <a:avLst/>
          </a:prstGeom>
          <a:noFill/>
        </p:spPr>
        <p:txBody>
          <a:bodyPr wrap="squar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出票</a:t>
            </a:r>
          </a:p>
        </p:txBody>
      </p:sp>
      <p:sp>
        <p:nvSpPr>
          <p:cNvPr id="5" name="椭圆 4">
            <a:extLst>
              <a:ext uri="{FF2B5EF4-FFF2-40B4-BE49-F238E27FC236}">
                <a16:creationId xmlns:a16="http://schemas.microsoft.com/office/drawing/2014/main" id="{DF54A764-C25A-5FD9-3718-DA85FBE2F724}"/>
              </a:ext>
            </a:extLst>
          </p:cNvPr>
          <p:cNvSpPr/>
          <p:nvPr/>
        </p:nvSpPr>
        <p:spPr>
          <a:xfrm>
            <a:off x="818866" y="3052759"/>
            <a:ext cx="1080000" cy="10800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D177DC6B-764B-A788-1F2C-0CE12361B1F1}"/>
              </a:ext>
            </a:extLst>
          </p:cNvPr>
          <p:cNvSpPr/>
          <p:nvPr/>
        </p:nvSpPr>
        <p:spPr>
          <a:xfrm>
            <a:off x="4355911" y="2512759"/>
            <a:ext cx="2160000" cy="21600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8" name="直线连接符 7">
            <a:extLst>
              <a:ext uri="{FF2B5EF4-FFF2-40B4-BE49-F238E27FC236}">
                <a16:creationId xmlns:a16="http://schemas.microsoft.com/office/drawing/2014/main" id="{81B6077B-86C7-EFEF-7BEA-29529D6F8905}"/>
              </a:ext>
            </a:extLst>
          </p:cNvPr>
          <p:cNvCxnSpPr>
            <a:stCxn id="5" idx="0"/>
            <a:endCxn id="6" idx="0"/>
          </p:cNvCxnSpPr>
          <p:nvPr/>
        </p:nvCxnSpPr>
        <p:spPr>
          <a:xfrm flipV="1">
            <a:off x="1358866" y="2512759"/>
            <a:ext cx="4077045" cy="54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线连接符 9">
            <a:extLst>
              <a:ext uri="{FF2B5EF4-FFF2-40B4-BE49-F238E27FC236}">
                <a16:creationId xmlns:a16="http://schemas.microsoft.com/office/drawing/2014/main" id="{549C2A41-75A9-45DF-C65C-B175E1E61C93}"/>
              </a:ext>
            </a:extLst>
          </p:cNvPr>
          <p:cNvCxnSpPr>
            <a:stCxn id="5" idx="4"/>
            <a:endCxn id="6" idx="4"/>
          </p:cNvCxnSpPr>
          <p:nvPr/>
        </p:nvCxnSpPr>
        <p:spPr>
          <a:xfrm>
            <a:off x="1358866" y="4132759"/>
            <a:ext cx="4077045" cy="54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43BBCD4-9D34-56DA-9D43-DD1EE1381FD1}"/>
              </a:ext>
            </a:extLst>
          </p:cNvPr>
          <p:cNvSpPr txBox="1"/>
          <p:nvPr/>
        </p:nvSpPr>
        <p:spPr>
          <a:xfrm>
            <a:off x="4657989" y="2782759"/>
            <a:ext cx="1555844" cy="1346907"/>
          </a:xfrm>
          <a:prstGeom prst="rect">
            <a:avLst/>
          </a:prstGeom>
          <a:noFill/>
        </p:spPr>
        <p:txBody>
          <a:bodyPr wrap="square" rtlCol="0">
            <a:spAutoFit/>
          </a:bodyPr>
          <a:lstStyle/>
          <a:p>
            <a:pPr>
              <a:lnSpc>
                <a:spcPct val="150000"/>
              </a:lnSpc>
            </a:pPr>
            <a:r>
              <a:rPr lang="zh-CN" altLang="en-US" sz="1400" b="1" dirty="0">
                <a:effectLst/>
                <a:latin typeface="Microsoft YaHei" panose="020B0503020204020204" pitchFamily="34" charset="-122"/>
                <a:ea typeface="Microsoft YaHei" panose="020B0503020204020204" pitchFamily="34" charset="-122"/>
              </a:rPr>
              <a:t>本人支付宝该笔交易付款方式</a:t>
            </a:r>
            <a:r>
              <a:rPr lang="en-US" altLang="zh-CN" sz="1400" b="1" dirty="0">
                <a:effectLst/>
                <a:latin typeface="Microsoft YaHei" panose="020B0503020204020204" pitchFamily="34" charset="-122"/>
                <a:ea typeface="Microsoft YaHei" panose="020B0503020204020204" pitchFamily="34" charset="-122"/>
              </a:rPr>
              <a:t>: </a:t>
            </a:r>
            <a:r>
              <a:rPr lang="en-US" altLang="zh-CN" sz="1400" b="1" dirty="0">
                <a:solidFill>
                  <a:srgbClr val="FF0000"/>
                </a:solidFill>
                <a:effectLst/>
                <a:latin typeface="Microsoft YaHei" panose="020B0503020204020204" pitchFamily="34" charset="-122"/>
                <a:ea typeface="Microsoft YaHei" panose="020B0503020204020204" pitchFamily="34" charset="-122"/>
              </a:rPr>
              <a:t>“</a:t>
            </a:r>
            <a:r>
              <a:rPr lang="zh-CN" altLang="en-US" sz="1400" b="1" dirty="0">
                <a:solidFill>
                  <a:srgbClr val="FF0000"/>
                </a:solidFill>
                <a:effectLst/>
                <a:latin typeface="Microsoft YaHei" panose="020B0503020204020204" pitchFamily="34" charset="-122"/>
                <a:ea typeface="Microsoft YaHei" panose="020B0503020204020204" pitchFamily="34" charset="-122"/>
              </a:rPr>
              <a:t>因公付”</a:t>
            </a:r>
            <a:endParaRPr lang="en-US" altLang="zh-CN" sz="1400" b="1" dirty="0">
              <a:solidFill>
                <a:srgbClr val="FF0000"/>
              </a:solidFill>
              <a:effectLst/>
              <a:latin typeface="Microsoft YaHei" panose="020B0503020204020204" pitchFamily="34" charset="-122"/>
              <a:ea typeface="Microsoft YaHei" panose="020B0503020204020204" pitchFamily="34" charset="-122"/>
            </a:endParaRPr>
          </a:p>
          <a:p>
            <a:pPr>
              <a:lnSpc>
                <a:spcPct val="150000"/>
              </a:lnSpc>
            </a:pPr>
            <a:r>
              <a:rPr lang="zh-CN" altLang="en-US" sz="1400" b="1" dirty="0">
                <a:effectLst/>
                <a:latin typeface="Microsoft YaHei" panose="020B0503020204020204" pitchFamily="34" charset="-122"/>
                <a:ea typeface="Microsoft YaHei" panose="020B0503020204020204" pitchFamily="34" charset="-122"/>
              </a:rPr>
              <a:t>员工无需垫资 </a:t>
            </a:r>
            <a:endParaRPr lang="zh-CN" altLang="en-US" sz="1400" b="1" dirty="0">
              <a:latin typeface="Microsoft YaHei" panose="020B0503020204020204" pitchFamily="34" charset="-122"/>
              <a:ea typeface="Microsoft YaHei" panose="020B0503020204020204" pitchFamily="34" charset="-122"/>
            </a:endParaRPr>
          </a:p>
        </p:txBody>
      </p:sp>
      <p:sp>
        <p:nvSpPr>
          <p:cNvPr id="12" name="矩形 11">
            <a:extLst>
              <a:ext uri="{FF2B5EF4-FFF2-40B4-BE49-F238E27FC236}">
                <a16:creationId xmlns:a16="http://schemas.microsoft.com/office/drawing/2014/main" id="{37168264-94D9-A0C3-359D-D55AC5B04DE6}"/>
              </a:ext>
            </a:extLst>
          </p:cNvPr>
          <p:cNvSpPr/>
          <p:nvPr/>
        </p:nvSpPr>
        <p:spPr>
          <a:xfrm>
            <a:off x="6712423" y="1216680"/>
            <a:ext cx="5067899" cy="3003451"/>
          </a:xfrm>
          <a:prstGeom prst="rect">
            <a:avLst/>
          </a:prstGeom>
        </p:spPr>
        <p:txBody>
          <a:bodyPr wrap="square">
            <a:spAutoFit/>
          </a:bodyPr>
          <a:lstStyle/>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rPr>
              <a:t>这个模式</a:t>
            </a:r>
            <a:r>
              <a:rPr lang="zh-CN" altLang="en-US" sz="1600" b="1" dirty="0">
                <a:solidFill>
                  <a:srgbClr val="FF0000"/>
                </a:solidFill>
                <a:latin typeface="微软雅黑" panose="020B0503020204020204" pitchFamily="34" charset="-122"/>
                <a:ea typeface="微软雅黑" panose="020B0503020204020204" pitchFamily="34" charset="-122"/>
              </a:rPr>
              <a:t>无需员工垫付</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rPr>
              <a:t>，统一由</a:t>
            </a:r>
            <a:r>
              <a:rPr lang="zh-CN" altLang="en-US" sz="1600" b="1" dirty="0">
                <a:solidFill>
                  <a:srgbClr val="FF0000"/>
                </a:solidFill>
                <a:latin typeface="微软雅黑" panose="020B0503020204020204" pitchFamily="34" charset="-122"/>
                <a:ea typeface="微软雅黑" panose="020B0503020204020204" pitchFamily="34" charset="-122"/>
              </a:rPr>
              <a:t>公司垫付</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提交订单：出票成功后，预订人会</a:t>
            </a:r>
            <a:r>
              <a:rPr lang="zh-CN" altLang="en-US" sz="1600" b="1" dirty="0">
                <a:solidFill>
                  <a:srgbClr val="FF0000"/>
                </a:solidFill>
                <a:latin typeface="微软雅黑" panose="020B0503020204020204" pitchFamily="34" charset="-122"/>
                <a:ea typeface="微软雅黑" panose="020B0503020204020204" pitchFamily="34" charset="-122"/>
                <a:sym typeface="+mn-ea"/>
              </a:rPr>
              <a:t>收到短信及</a:t>
            </a:r>
            <a:r>
              <a:rPr lang="en-US" altLang="zh-CN" sz="1600" b="1" dirty="0">
                <a:solidFill>
                  <a:srgbClr val="FF0000"/>
                </a:solidFill>
                <a:latin typeface="微软雅黑" panose="020B0503020204020204" pitchFamily="34" charset="-122"/>
                <a:ea typeface="微软雅黑" panose="020B0503020204020204" pitchFamily="34" charset="-122"/>
                <a:sym typeface="+mn-ea"/>
              </a:rPr>
              <a:t>APP</a:t>
            </a:r>
            <a:r>
              <a:rPr lang="zh-CN" altLang="en-US" sz="1600" b="1" dirty="0">
                <a:solidFill>
                  <a:srgbClr val="FF0000"/>
                </a:solidFill>
                <a:latin typeface="微软雅黑" panose="020B0503020204020204" pitchFamily="34" charset="-122"/>
                <a:ea typeface="微软雅黑" panose="020B0503020204020204" pitchFamily="34" charset="-122"/>
                <a:sym typeface="+mn-ea"/>
              </a:rPr>
              <a:t>内提醒 </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sym typeface="+mn-ea"/>
              </a:rPr>
              <a:t> </a:t>
            </a:r>
            <a:endParaRPr lang="en-US" altLang="zh-CN" sz="1600" b="1" dirty="0">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latin typeface="微软雅黑" panose="020B0503020204020204" pitchFamily="34" charset="-122"/>
                <a:ea typeface="微软雅黑" panose="020B0503020204020204" pitchFamily="34" charset="-122"/>
                <a:sym typeface="+mn-ea"/>
              </a:rPr>
              <a:t> </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注：占座成功后需在</a:t>
            </a:r>
            <a:r>
              <a:rPr lang="en-US" altLang="zh-CN" sz="1600" b="1" dirty="0">
                <a:solidFill>
                  <a:srgbClr val="FF0000"/>
                </a:solidFill>
                <a:latin typeface="微软雅黑" panose="020B0503020204020204" pitchFamily="34" charset="-122"/>
                <a:ea typeface="微软雅黑" panose="020B0503020204020204" pitchFamily="34" charset="-122"/>
                <a:sym typeface="+mn-ea"/>
              </a:rPr>
              <a:t>15</a:t>
            </a:r>
            <a:r>
              <a:rPr lang="zh-CN" altLang="en-US" sz="1600" b="1" dirty="0">
                <a:solidFill>
                  <a:srgbClr val="FF0000"/>
                </a:solidFill>
                <a:latin typeface="微软雅黑" panose="020B0503020204020204" pitchFamily="34" charset="-122"/>
                <a:ea typeface="微软雅黑" panose="020B0503020204020204" pitchFamily="34" charset="-122"/>
                <a:sym typeface="+mn-ea"/>
              </a:rPr>
              <a:t>分钟内</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进行支付，超时未支付自动关闭此订单，</a:t>
            </a:r>
            <a:r>
              <a:rPr lang="zh-CN" altLang="en-US" sz="1600" b="1" dirty="0">
                <a:solidFill>
                  <a:srgbClr val="FF0000"/>
                </a:solidFill>
                <a:latin typeface="微软雅黑" panose="020B0503020204020204" pitchFamily="34" charset="-122"/>
                <a:ea typeface="微软雅黑" panose="020B0503020204020204" pitchFamily="34" charset="-122"/>
                <a:sym typeface="+mn-ea"/>
              </a:rPr>
              <a:t>同一个乘车人每天最多三次取消订单</a:t>
            </a:r>
            <a:r>
              <a:rPr lang="en-US" altLang="zh-CN" sz="1600" b="1" dirty="0">
                <a:solidFill>
                  <a:srgbClr val="FF0000"/>
                </a:solidFill>
                <a:latin typeface="微软雅黑" panose="020B0503020204020204" pitchFamily="34" charset="-122"/>
                <a:ea typeface="微软雅黑" panose="020B0503020204020204" pitchFamily="34" charset="-122"/>
                <a:sym typeface="+mn-ea"/>
              </a:rPr>
              <a:t>/</a:t>
            </a:r>
            <a:r>
              <a:rPr lang="zh-CN" altLang="en-US" sz="1600" b="1" dirty="0">
                <a:solidFill>
                  <a:srgbClr val="FF0000"/>
                </a:solidFill>
                <a:latin typeface="微软雅黑" panose="020B0503020204020204" pitchFamily="34" charset="-122"/>
                <a:ea typeface="微软雅黑" panose="020B0503020204020204" pitchFamily="34" charset="-122"/>
                <a:sym typeface="+mn-ea"/>
              </a:rPr>
              <a:t>关闭订单，</a:t>
            </a:r>
            <a:endParaRPr lang="en-US" altLang="zh-CN" sz="1600" b="1" dirty="0">
              <a:solidFill>
                <a:srgbClr val="FF0000"/>
              </a:solidFill>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rgbClr val="FF0000"/>
                </a:solidFill>
                <a:latin typeface="微软雅黑" panose="020B0503020204020204" pitchFamily="34" charset="-122"/>
                <a:ea typeface="微软雅黑" panose="020B0503020204020204" pitchFamily="34" charset="-122"/>
                <a:sym typeface="+mn-ea"/>
              </a:rPr>
              <a:t>超过则无法再次出票</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（如遇无座想好是不是要出行并支付）</a:t>
            </a:r>
          </a:p>
        </p:txBody>
      </p:sp>
      <p:sp>
        <p:nvSpPr>
          <p:cNvPr id="3" name="任意形状 2">
            <a:extLst>
              <a:ext uri="{FF2B5EF4-FFF2-40B4-BE49-F238E27FC236}">
                <a16:creationId xmlns:a16="http://schemas.microsoft.com/office/drawing/2014/main" id="{EE5E501C-D36C-65F6-7924-5513257716CB}"/>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火车</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高铁票支付提示</a:t>
            </a:r>
          </a:p>
        </p:txBody>
      </p:sp>
    </p:spTree>
    <p:extLst>
      <p:ext uri="{BB962C8B-B14F-4D97-AF65-F5344CB8AC3E}">
        <p14:creationId xmlns:p14="http://schemas.microsoft.com/office/powerpoint/2010/main" val="317781122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EB59E-8236-964F-7642-E98E8F75993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235B08D-97BA-2891-E677-975CFBCF1FF1}"/>
              </a:ext>
            </a:extLst>
          </p:cNvPr>
          <p:cNvSpPr/>
          <p:nvPr/>
        </p:nvSpPr>
        <p:spPr>
          <a:xfrm>
            <a:off x="192313" y="1124178"/>
            <a:ext cx="11807374" cy="1156792"/>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若</a:t>
            </a:r>
            <a:r>
              <a:rPr lang="zh-CN" altLang="en-US" sz="1600" b="1" dirty="0">
                <a:solidFill>
                  <a:srgbClr val="FF0000"/>
                </a:solidFill>
                <a:latin typeface="微软雅黑" panose="020B0503020204020204" pitchFamily="34" charset="-122"/>
                <a:ea typeface="微软雅黑" panose="020B0503020204020204" pitchFamily="34" charset="-122"/>
                <a:sym typeface="+mn-ea"/>
              </a:rPr>
              <a:t>纸质车票未取</a:t>
            </a:r>
            <a:r>
              <a:rPr lang="zh-CN" altLang="en-US" sz="1600" b="1" dirty="0">
                <a:latin typeface="微软雅黑" panose="020B0503020204020204" pitchFamily="34" charset="-122"/>
                <a:ea typeface="微软雅黑" panose="020B0503020204020204" pitchFamily="34" charset="-122"/>
                <a:sym typeface="+mn-ea"/>
              </a:rPr>
              <a:t>，</a:t>
            </a:r>
            <a:r>
              <a:rPr lang="zh-CN" altLang="en-US" sz="1600" b="1" dirty="0">
                <a:solidFill>
                  <a:srgbClr val="FF0000"/>
                </a:solidFill>
                <a:latin typeface="微软雅黑" panose="020B0503020204020204" pitchFamily="34" charset="-122"/>
                <a:ea typeface="微软雅黑" panose="020B0503020204020204" pitchFamily="34" charset="-122"/>
                <a:sym typeface="+mn-ea"/>
              </a:rPr>
              <a:t>可在线操作退票与改签</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，填写理由后即可退票改签成功，退票</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改签均会产生费用</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rgbClr val="FF0000"/>
                </a:solidFill>
                <a:latin typeface="微软雅黑" panose="020B0503020204020204" pitchFamily="34" charset="-122"/>
                <a:ea typeface="微软雅黑" panose="020B0503020204020204" pitchFamily="34" charset="-122"/>
                <a:sym typeface="+mn-ea"/>
              </a:rPr>
              <a:t>注：距发车时间前</a:t>
            </a:r>
            <a:r>
              <a:rPr lang="en-US" altLang="zh-CN" sz="1600" b="1" dirty="0">
                <a:solidFill>
                  <a:srgbClr val="FF0000"/>
                </a:solidFill>
                <a:latin typeface="微软雅黑" panose="020B0503020204020204" pitchFamily="34" charset="-122"/>
                <a:ea typeface="微软雅黑" panose="020B0503020204020204" pitchFamily="34" charset="-122"/>
                <a:sym typeface="+mn-ea"/>
              </a:rPr>
              <a:t>5</a:t>
            </a:r>
            <a:r>
              <a:rPr lang="zh-CN" altLang="en-US" sz="1600" b="1" dirty="0">
                <a:solidFill>
                  <a:srgbClr val="FF0000"/>
                </a:solidFill>
                <a:latin typeface="微软雅黑" panose="020B0503020204020204" pitchFamily="34" charset="-122"/>
                <a:ea typeface="微软雅黑" panose="020B0503020204020204" pitchFamily="34" charset="-122"/>
                <a:sym typeface="+mn-ea"/>
              </a:rPr>
              <a:t>分钟以上（实际时间以铁路局规定为准）可在线操作退票与改签</a:t>
            </a: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若</a:t>
            </a:r>
            <a:r>
              <a:rPr lang="zh-CN" altLang="en-US" sz="1600" b="1" dirty="0">
                <a:solidFill>
                  <a:srgbClr val="FF0000"/>
                </a:solidFill>
                <a:latin typeface="微软雅黑" panose="020B0503020204020204" pitchFamily="34" charset="-122"/>
                <a:ea typeface="微软雅黑" panose="020B0503020204020204" pitchFamily="34" charset="-122"/>
                <a:sym typeface="+mn-ea"/>
              </a:rPr>
              <a:t>纸质车票已取</a:t>
            </a:r>
            <a:r>
              <a:rPr lang="zh-CN" altLang="en-US" sz="1600" b="1" dirty="0">
                <a:latin typeface="微软雅黑" panose="020B0503020204020204" pitchFamily="34" charset="-122"/>
                <a:ea typeface="微软雅黑" panose="020B0503020204020204" pitchFamily="34" charset="-122"/>
                <a:sym typeface="+mn-ea"/>
              </a:rPr>
              <a:t>，</a:t>
            </a:r>
            <a:r>
              <a:rPr lang="zh-CN" altLang="en-US" sz="1600" b="1" dirty="0">
                <a:solidFill>
                  <a:srgbClr val="FF0000"/>
                </a:solidFill>
                <a:latin typeface="微软雅黑" panose="020B0503020204020204" pitchFamily="34" charset="-122"/>
                <a:ea typeface="微软雅黑" panose="020B0503020204020204" pitchFamily="34" charset="-122"/>
                <a:sym typeface="+mn-ea"/>
              </a:rPr>
              <a:t>需要前往火车站窗口进行退票与改签，同时从窗口拿回发票</a:t>
            </a:r>
            <a:endParaRPr lang="en-US" altLang="zh-CN" sz="1600" b="1" dirty="0">
              <a:solidFill>
                <a:srgbClr val="FF0000"/>
              </a:solidFill>
              <a:latin typeface="微软雅黑" panose="020B0503020204020204" pitchFamily="34" charset="-122"/>
              <a:ea typeface="微软雅黑" panose="020B0503020204020204" pitchFamily="34" charset="-122"/>
              <a:sym typeface="+mn-ea"/>
            </a:endParaRPr>
          </a:p>
        </p:txBody>
      </p:sp>
      <p:sp>
        <p:nvSpPr>
          <p:cNvPr id="3" name="文本框 2">
            <a:extLst>
              <a:ext uri="{FF2B5EF4-FFF2-40B4-BE49-F238E27FC236}">
                <a16:creationId xmlns:a16="http://schemas.microsoft.com/office/drawing/2014/main" id="{5CE72D05-5C04-366D-8C3E-D4E0176B943F}"/>
              </a:ext>
            </a:extLst>
          </p:cNvPr>
          <p:cNvSpPr txBox="1"/>
          <p:nvPr/>
        </p:nvSpPr>
        <p:spPr>
          <a:xfrm>
            <a:off x="286195" y="486888"/>
            <a:ext cx="6542117" cy="369332"/>
          </a:xfrm>
          <a:prstGeom prst="rect">
            <a:avLst/>
          </a:prstGeom>
          <a:noFill/>
        </p:spPr>
        <p:txBody>
          <a:bodyPr wrap="squar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退</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改票</a:t>
            </a:r>
          </a:p>
        </p:txBody>
      </p:sp>
      <p:pic>
        <p:nvPicPr>
          <p:cNvPr id="4" name="图片 3">
            <a:extLst>
              <a:ext uri="{FF2B5EF4-FFF2-40B4-BE49-F238E27FC236}">
                <a16:creationId xmlns:a16="http://schemas.microsoft.com/office/drawing/2014/main" id="{473279C2-9820-8182-AF01-2DD28B8DD325}"/>
              </a:ext>
            </a:extLst>
          </p:cNvPr>
          <p:cNvPicPr>
            <a:picLocks noChangeAspect="1"/>
          </p:cNvPicPr>
          <p:nvPr/>
        </p:nvPicPr>
        <p:blipFill>
          <a:blip r:embed="rId2"/>
          <a:stretch>
            <a:fillRect/>
          </a:stretch>
        </p:blipFill>
        <p:spPr>
          <a:xfrm>
            <a:off x="726702" y="2495168"/>
            <a:ext cx="2047528" cy="3922806"/>
          </a:xfrm>
          <a:prstGeom prst="rect">
            <a:avLst/>
          </a:prstGeom>
          <a:effectLst>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0EED34FC-30D9-4371-E739-886001FE9C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3589" y="2420257"/>
            <a:ext cx="2084224" cy="3989202"/>
          </a:xfrm>
          <a:prstGeom prst="rect">
            <a:avLst/>
          </a:prstGeom>
        </p:spPr>
        <p:style>
          <a:lnRef idx="0">
            <a:schemeClr val="accent3"/>
          </a:lnRef>
          <a:fillRef idx="3">
            <a:schemeClr val="accent3"/>
          </a:fillRef>
          <a:effectRef idx="3">
            <a:schemeClr val="accent3"/>
          </a:effectRef>
          <a:fontRef idx="minor">
            <a:schemeClr val="lt1"/>
          </a:fontRef>
        </p:style>
      </p:pic>
      <p:pic>
        <p:nvPicPr>
          <p:cNvPr id="6" name="图片 5">
            <a:extLst>
              <a:ext uri="{FF2B5EF4-FFF2-40B4-BE49-F238E27FC236}">
                <a16:creationId xmlns:a16="http://schemas.microsoft.com/office/drawing/2014/main" id="{96545CAC-A42E-A43B-D6B5-B31943BD06DC}"/>
              </a:ext>
            </a:extLst>
          </p:cNvPr>
          <p:cNvPicPr>
            <a:picLocks noChangeAspect="1"/>
          </p:cNvPicPr>
          <p:nvPr/>
        </p:nvPicPr>
        <p:blipFill>
          <a:blip r:embed="rId4" cstate="print"/>
          <a:stretch>
            <a:fillRect/>
          </a:stretch>
        </p:blipFill>
        <p:spPr>
          <a:xfrm>
            <a:off x="8891271" y="2420257"/>
            <a:ext cx="2084224" cy="3989201"/>
          </a:xfrm>
          <a:prstGeom prst="rect">
            <a:avLst/>
          </a:prstGeom>
        </p:spPr>
        <p:style>
          <a:lnRef idx="0">
            <a:schemeClr val="accent3"/>
          </a:lnRef>
          <a:fillRef idx="3">
            <a:schemeClr val="accent3"/>
          </a:fillRef>
          <a:effectRef idx="3">
            <a:schemeClr val="accent3"/>
          </a:effectRef>
          <a:fontRef idx="minor">
            <a:schemeClr val="lt1"/>
          </a:fontRef>
        </p:style>
      </p:pic>
      <p:pic>
        <p:nvPicPr>
          <p:cNvPr id="7" name="图片 6">
            <a:extLst>
              <a:ext uri="{FF2B5EF4-FFF2-40B4-BE49-F238E27FC236}">
                <a16:creationId xmlns:a16="http://schemas.microsoft.com/office/drawing/2014/main" id="{F2BEA5EC-A013-4887-C3B1-DE6E8FD12CE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56242" y="2420257"/>
            <a:ext cx="2084224" cy="3989202"/>
          </a:xfrm>
          <a:prstGeom prst="rect">
            <a:avLst/>
          </a:prstGeom>
        </p:spPr>
        <p:style>
          <a:lnRef idx="0">
            <a:schemeClr val="accent3"/>
          </a:lnRef>
          <a:fillRef idx="3">
            <a:schemeClr val="accent3"/>
          </a:fillRef>
          <a:effectRef idx="3">
            <a:schemeClr val="accent3"/>
          </a:effectRef>
          <a:fontRef idx="minor">
            <a:schemeClr val="lt1"/>
          </a:fontRef>
        </p:style>
      </p:pic>
      <p:sp>
        <p:nvSpPr>
          <p:cNvPr id="8" name="任意形状 7">
            <a:extLst>
              <a:ext uri="{FF2B5EF4-FFF2-40B4-BE49-F238E27FC236}">
                <a16:creationId xmlns:a16="http://schemas.microsoft.com/office/drawing/2014/main" id="{E84EE313-5E8F-DF9C-90EA-F118381F63AC}"/>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火车</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高铁票退票与改签</a:t>
            </a:r>
          </a:p>
        </p:txBody>
      </p:sp>
      <p:pic>
        <p:nvPicPr>
          <p:cNvPr id="9" name="图片 8">
            <a:extLst>
              <a:ext uri="{FF2B5EF4-FFF2-40B4-BE49-F238E27FC236}">
                <a16:creationId xmlns:a16="http://schemas.microsoft.com/office/drawing/2014/main" id="{602891DF-E289-0959-B85D-CE552563E487}"/>
              </a:ext>
            </a:extLst>
          </p:cNvPr>
          <p:cNvPicPr>
            <a:picLocks noChangeAspect="1"/>
          </p:cNvPicPr>
          <p:nvPr/>
        </p:nvPicPr>
        <p:blipFill>
          <a:blip r:embed="rId6"/>
          <a:stretch>
            <a:fillRect/>
          </a:stretch>
        </p:blipFill>
        <p:spPr>
          <a:xfrm>
            <a:off x="359311" y="5901212"/>
            <a:ext cx="1308100" cy="469900"/>
          </a:xfrm>
          <a:prstGeom prst="rect">
            <a:avLst/>
          </a:prstGeom>
        </p:spPr>
      </p:pic>
      <p:sp>
        <p:nvSpPr>
          <p:cNvPr id="10" name="文本框 9">
            <a:extLst>
              <a:ext uri="{FF2B5EF4-FFF2-40B4-BE49-F238E27FC236}">
                <a16:creationId xmlns:a16="http://schemas.microsoft.com/office/drawing/2014/main" id="{F600205B-4A12-9806-A3B5-4C04441C0122}"/>
              </a:ext>
            </a:extLst>
          </p:cNvPr>
          <p:cNvSpPr txBox="1"/>
          <p:nvPr/>
        </p:nvSpPr>
        <p:spPr>
          <a:xfrm>
            <a:off x="1318161" y="650207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12" name="文本框 11">
            <a:extLst>
              <a:ext uri="{FF2B5EF4-FFF2-40B4-BE49-F238E27FC236}">
                <a16:creationId xmlns:a16="http://schemas.microsoft.com/office/drawing/2014/main" id="{369D30B6-C6A6-D8FF-3287-3C011FE34780}"/>
              </a:ext>
            </a:extLst>
          </p:cNvPr>
          <p:cNvSpPr txBox="1"/>
          <p:nvPr/>
        </p:nvSpPr>
        <p:spPr>
          <a:xfrm>
            <a:off x="4170064" y="6499503"/>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3" name="文本框 12">
            <a:extLst>
              <a:ext uri="{FF2B5EF4-FFF2-40B4-BE49-F238E27FC236}">
                <a16:creationId xmlns:a16="http://schemas.microsoft.com/office/drawing/2014/main" id="{859B04A2-627D-C2E9-61DE-E991748A8C30}"/>
              </a:ext>
            </a:extLst>
          </p:cNvPr>
          <p:cNvSpPr txBox="1"/>
          <p:nvPr/>
        </p:nvSpPr>
        <p:spPr>
          <a:xfrm>
            <a:off x="6828312" y="650207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
        <p:nvSpPr>
          <p:cNvPr id="14" name="文本框 13">
            <a:extLst>
              <a:ext uri="{FF2B5EF4-FFF2-40B4-BE49-F238E27FC236}">
                <a16:creationId xmlns:a16="http://schemas.microsoft.com/office/drawing/2014/main" id="{AA1D71D6-1CD7-4DA7-C35A-CE583AAD668B}"/>
              </a:ext>
            </a:extLst>
          </p:cNvPr>
          <p:cNvSpPr txBox="1"/>
          <p:nvPr/>
        </p:nvSpPr>
        <p:spPr>
          <a:xfrm>
            <a:off x="9517746" y="650741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步骤四</a:t>
            </a:r>
          </a:p>
        </p:txBody>
      </p:sp>
    </p:spTree>
    <p:extLst>
      <p:ext uri="{BB962C8B-B14F-4D97-AF65-F5344CB8AC3E}">
        <p14:creationId xmlns:p14="http://schemas.microsoft.com/office/powerpoint/2010/main" val="3632366756"/>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187B-9DD0-ACCE-A27B-7F004B07FF8A}"/>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A106EC7C-0577-4F3A-9818-C9686610D143}"/>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FED8366B-1A6E-D4AE-E924-A886136B944D}"/>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分贝通可绑定个人会员号</a:t>
            </a:r>
          </a:p>
        </p:txBody>
      </p:sp>
      <p:sp>
        <p:nvSpPr>
          <p:cNvPr id="5" name="文本框 4">
            <a:extLst>
              <a:ext uri="{FF2B5EF4-FFF2-40B4-BE49-F238E27FC236}">
                <a16:creationId xmlns:a16="http://schemas.microsoft.com/office/drawing/2014/main" id="{81BBE6BF-F31F-10B5-1FAC-3D216B4DC3DA}"/>
              </a:ext>
            </a:extLst>
          </p:cNvPr>
          <p:cNvSpPr txBox="1"/>
          <p:nvPr/>
        </p:nvSpPr>
        <p:spPr>
          <a:xfrm>
            <a:off x="489218" y="1140031"/>
            <a:ext cx="7677102" cy="1156792"/>
          </a:xfrm>
          <a:prstGeom prst="rect">
            <a:avLst/>
          </a:prstGeom>
          <a:noFill/>
        </p:spPr>
        <p:txBody>
          <a:bodyPr wrap="none" rtlCol="0">
            <a:spAutoFit/>
          </a:bodyPr>
          <a:lstStyle/>
          <a:p>
            <a:pPr>
              <a:lnSpc>
                <a:spcPct val="150000"/>
              </a:lnSpc>
            </a:pPr>
            <a:r>
              <a:rPr lang="zh-CN" altLang="en-US" sz="1600" b="1" dirty="0">
                <a:latin typeface="Microsoft YaHei" panose="020B0503020204020204" pitchFamily="34" charset="-122"/>
                <a:ea typeface="Microsoft YaHei" panose="020B0503020204020204" pitchFamily="34" charset="-122"/>
                <a:sym typeface="+mn-ea"/>
              </a:rPr>
              <a:t>商务消费</a:t>
            </a:r>
            <a:r>
              <a:rPr lang="en-US" altLang="zh-CN" sz="1600" b="1" dirty="0">
                <a:latin typeface="Microsoft YaHei" panose="020B0503020204020204" pitchFamily="34" charset="-122"/>
                <a:ea typeface="Microsoft YaHei" panose="020B0503020204020204" pitchFamily="34" charset="-122"/>
                <a:sym typeface="+mn-ea"/>
              </a:rPr>
              <a:t>-</a:t>
            </a:r>
            <a:r>
              <a:rPr lang="zh-CN" altLang="en-US" sz="1600" b="1" dirty="0">
                <a:latin typeface="Microsoft YaHei" panose="020B0503020204020204" pitchFamily="34" charset="-122"/>
                <a:ea typeface="Microsoft YaHei" panose="020B0503020204020204" pitchFamily="34" charset="-122"/>
                <a:sym typeface="+mn-ea"/>
              </a:rPr>
              <a:t>酒店，选择城市、入住离店时间、录入地点酒店名等搜索</a:t>
            </a:r>
            <a:r>
              <a:rPr lang="en-US" altLang="zh-CN" sz="1600" b="1" dirty="0">
                <a:latin typeface="Microsoft YaHei" panose="020B0503020204020204" pitchFamily="34" charset="-122"/>
                <a:ea typeface="Microsoft YaHei" panose="020B0503020204020204" pitchFamily="34" charset="-122"/>
                <a:sym typeface="+mn-ea"/>
              </a:rPr>
              <a:t>—</a:t>
            </a:r>
            <a:r>
              <a:rPr lang="zh-CN" altLang="en-US" sz="1600" b="1" dirty="0">
                <a:latin typeface="Microsoft YaHei" panose="020B0503020204020204" pitchFamily="34" charset="-122"/>
                <a:ea typeface="Microsoft YaHei" panose="020B0503020204020204" pitchFamily="34" charset="-122"/>
                <a:sym typeface="+mn-ea"/>
              </a:rPr>
              <a:t>勾选企业协议</a:t>
            </a:r>
            <a:endParaRPr lang="en-US" altLang="zh-CN" sz="1600" b="1" dirty="0">
              <a:latin typeface="Microsoft YaHei" panose="020B0503020204020204" pitchFamily="34" charset="-122"/>
              <a:ea typeface="Microsoft YaHei" panose="020B0503020204020204" pitchFamily="34" charset="-122"/>
            </a:endParaRPr>
          </a:p>
          <a:p>
            <a:pPr>
              <a:lnSpc>
                <a:spcPct val="150000"/>
              </a:lnSpc>
            </a:pPr>
            <a:r>
              <a:rPr lang="zh-CN" altLang="en-US" sz="1600" b="1" dirty="0">
                <a:solidFill>
                  <a:srgbClr val="FF0000"/>
                </a:solidFill>
                <a:latin typeface="Microsoft YaHei" panose="020B0503020204020204" pitchFamily="34" charset="-122"/>
                <a:ea typeface="Microsoft YaHei" panose="020B0503020204020204" pitchFamily="34" charset="-122"/>
              </a:rPr>
              <a:t>无需打印发票，订房入住酒店时需要打卡</a:t>
            </a:r>
            <a:endParaRPr lang="en-US" altLang="zh-CN" sz="1600"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lang="zh-CN" altLang="en-US" sz="1600" b="1" dirty="0">
                <a:latin typeface="Microsoft YaHei" panose="020B0503020204020204" pitchFamily="34" charset="-122"/>
                <a:ea typeface="Microsoft YaHei" panose="020B0503020204020204" pitchFamily="34" charset="-122"/>
                <a:sym typeface="+mn-ea"/>
              </a:rPr>
              <a:t>可绑定个人美团会员、携程会员按照订房手机号享受个人会员折扣及积分</a:t>
            </a:r>
          </a:p>
        </p:txBody>
      </p:sp>
      <p:pic>
        <p:nvPicPr>
          <p:cNvPr id="6" name="图片 5">
            <a:extLst>
              <a:ext uri="{FF2B5EF4-FFF2-40B4-BE49-F238E27FC236}">
                <a16:creationId xmlns:a16="http://schemas.microsoft.com/office/drawing/2014/main" id="{7C02E755-8106-4D17-3FEB-B84FFD8A7F99}"/>
              </a:ext>
            </a:extLst>
          </p:cNvPr>
          <p:cNvPicPr>
            <a:picLocks noChangeAspect="1"/>
          </p:cNvPicPr>
          <p:nvPr/>
        </p:nvPicPr>
        <p:blipFill>
          <a:blip r:embed="rId3"/>
          <a:stretch>
            <a:fillRect/>
          </a:stretch>
        </p:blipFill>
        <p:spPr>
          <a:xfrm>
            <a:off x="1099332" y="2461435"/>
            <a:ext cx="1953006" cy="4136054"/>
          </a:xfrm>
          <a:prstGeom prst="rect">
            <a:avLst/>
          </a:prstGeom>
        </p:spPr>
      </p:pic>
      <p:pic>
        <p:nvPicPr>
          <p:cNvPr id="7" name="图片 6">
            <a:extLst>
              <a:ext uri="{FF2B5EF4-FFF2-40B4-BE49-F238E27FC236}">
                <a16:creationId xmlns:a16="http://schemas.microsoft.com/office/drawing/2014/main" id="{C9E361AB-3D09-E483-9309-B4D017DD4E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47332" y="2451963"/>
            <a:ext cx="1873931" cy="4059126"/>
          </a:xfrm>
          <a:prstGeom prst="rect">
            <a:avLst/>
          </a:prstGeom>
        </p:spPr>
      </p:pic>
      <p:pic>
        <p:nvPicPr>
          <p:cNvPr id="8" name="图片 7">
            <a:extLst>
              <a:ext uri="{FF2B5EF4-FFF2-40B4-BE49-F238E27FC236}">
                <a16:creationId xmlns:a16="http://schemas.microsoft.com/office/drawing/2014/main" id="{C1E26D15-C341-9487-35E4-7B887CECD3ED}"/>
              </a:ext>
            </a:extLst>
          </p:cNvPr>
          <p:cNvPicPr>
            <a:picLocks noChangeAspect="1"/>
          </p:cNvPicPr>
          <p:nvPr/>
        </p:nvPicPr>
        <p:blipFill>
          <a:blip r:embed="rId5" cstate="print"/>
          <a:stretch>
            <a:fillRect/>
          </a:stretch>
        </p:blipFill>
        <p:spPr>
          <a:xfrm>
            <a:off x="9758730" y="2418326"/>
            <a:ext cx="1821925" cy="3946474"/>
          </a:xfrm>
          <a:prstGeom prst="rect">
            <a:avLst/>
          </a:prstGeom>
        </p:spPr>
      </p:pic>
      <p:pic>
        <p:nvPicPr>
          <p:cNvPr id="9" name="图片 8">
            <a:extLst>
              <a:ext uri="{FF2B5EF4-FFF2-40B4-BE49-F238E27FC236}">
                <a16:creationId xmlns:a16="http://schemas.microsoft.com/office/drawing/2014/main" id="{1324939F-5573-E8B5-2F15-7AE8C5F20B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62869" y="2451963"/>
            <a:ext cx="1873931" cy="4059126"/>
          </a:xfrm>
          <a:prstGeom prst="rect">
            <a:avLst/>
          </a:prstGeom>
        </p:spPr>
      </p:pic>
      <p:sp>
        <p:nvSpPr>
          <p:cNvPr id="10" name="矩形 9">
            <a:extLst>
              <a:ext uri="{FF2B5EF4-FFF2-40B4-BE49-F238E27FC236}">
                <a16:creationId xmlns:a16="http://schemas.microsoft.com/office/drawing/2014/main" id="{B2026E53-EA42-F8AE-19AA-D2DC4AF4BFCE}"/>
              </a:ext>
            </a:extLst>
          </p:cNvPr>
          <p:cNvSpPr/>
          <p:nvPr/>
        </p:nvSpPr>
        <p:spPr>
          <a:xfrm>
            <a:off x="9857663" y="2914215"/>
            <a:ext cx="1624057" cy="242028"/>
          </a:xfrm>
          <a:prstGeom prst="rect">
            <a:avLst/>
          </a:prstGeom>
          <a:solidFill>
            <a:schemeClr val="bg1">
              <a:lumMod val="85000"/>
            </a:schemeClr>
          </a:solidFill>
          <a:ln w="28575">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2">
                  <a:lumMod val="75000"/>
                </a:schemeClr>
              </a:solidFill>
            </a:endParaRPr>
          </a:p>
        </p:txBody>
      </p:sp>
      <p:sp>
        <p:nvSpPr>
          <p:cNvPr id="11" name="文本框 10">
            <a:extLst>
              <a:ext uri="{FF2B5EF4-FFF2-40B4-BE49-F238E27FC236}">
                <a16:creationId xmlns:a16="http://schemas.microsoft.com/office/drawing/2014/main" id="{7A9C92E6-B238-F376-E3AD-91AAEFD93FF0}"/>
              </a:ext>
            </a:extLst>
          </p:cNvPr>
          <p:cNvSpPr txBox="1"/>
          <p:nvPr/>
        </p:nvSpPr>
        <p:spPr>
          <a:xfrm>
            <a:off x="1579418" y="6558171"/>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12" name="文本框 11">
            <a:extLst>
              <a:ext uri="{FF2B5EF4-FFF2-40B4-BE49-F238E27FC236}">
                <a16:creationId xmlns:a16="http://schemas.microsoft.com/office/drawing/2014/main" id="{F13748D8-AE0A-3BEF-BD45-BA51229C3C6F}"/>
              </a:ext>
            </a:extLst>
          </p:cNvPr>
          <p:cNvSpPr txBox="1"/>
          <p:nvPr/>
        </p:nvSpPr>
        <p:spPr>
          <a:xfrm>
            <a:off x="4431321" y="6555595"/>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3" name="文本框 12">
            <a:extLst>
              <a:ext uri="{FF2B5EF4-FFF2-40B4-BE49-F238E27FC236}">
                <a16:creationId xmlns:a16="http://schemas.microsoft.com/office/drawing/2014/main" id="{C3091F61-6701-3962-8243-BE98733E5442}"/>
              </a:ext>
            </a:extLst>
          </p:cNvPr>
          <p:cNvSpPr txBox="1"/>
          <p:nvPr/>
        </p:nvSpPr>
        <p:spPr>
          <a:xfrm>
            <a:off x="7335047" y="6555595"/>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
        <p:nvSpPr>
          <p:cNvPr id="14" name="文本框 13">
            <a:extLst>
              <a:ext uri="{FF2B5EF4-FFF2-40B4-BE49-F238E27FC236}">
                <a16:creationId xmlns:a16="http://schemas.microsoft.com/office/drawing/2014/main" id="{DE93D2DF-71A5-E3B3-8A8C-C26594F02AC9}"/>
              </a:ext>
            </a:extLst>
          </p:cNvPr>
          <p:cNvSpPr txBox="1"/>
          <p:nvPr/>
        </p:nvSpPr>
        <p:spPr>
          <a:xfrm>
            <a:off x="10254054" y="6538528"/>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步骤四</a:t>
            </a:r>
          </a:p>
        </p:txBody>
      </p:sp>
      <p:sp>
        <p:nvSpPr>
          <p:cNvPr id="15" name="矩形 14">
            <a:extLst>
              <a:ext uri="{FF2B5EF4-FFF2-40B4-BE49-F238E27FC236}">
                <a16:creationId xmlns:a16="http://schemas.microsoft.com/office/drawing/2014/main" id="{F04C2135-79BC-B577-7477-A6FED79DCAE4}"/>
              </a:ext>
            </a:extLst>
          </p:cNvPr>
          <p:cNvSpPr/>
          <p:nvPr/>
        </p:nvSpPr>
        <p:spPr>
          <a:xfrm>
            <a:off x="1543792" y="3165525"/>
            <a:ext cx="332510" cy="338554"/>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ED2B758C-A683-1289-E557-CBC28745D4D6}"/>
              </a:ext>
            </a:extLst>
          </p:cNvPr>
          <p:cNvSpPr/>
          <p:nvPr/>
        </p:nvSpPr>
        <p:spPr>
          <a:xfrm>
            <a:off x="1099331" y="4589279"/>
            <a:ext cx="1833873" cy="761635"/>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7" name="矩形 16">
            <a:extLst>
              <a:ext uri="{FF2B5EF4-FFF2-40B4-BE49-F238E27FC236}">
                <a16:creationId xmlns:a16="http://schemas.microsoft.com/office/drawing/2014/main" id="{82EB6C2D-6435-FACE-907F-EE0C7F5A7A65}"/>
              </a:ext>
            </a:extLst>
          </p:cNvPr>
          <p:cNvSpPr/>
          <p:nvPr/>
        </p:nvSpPr>
        <p:spPr>
          <a:xfrm>
            <a:off x="3947652" y="4694177"/>
            <a:ext cx="1833873" cy="4122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5D8598D3-346C-3A47-29D0-CFE6A435A17E}"/>
              </a:ext>
            </a:extLst>
          </p:cNvPr>
          <p:cNvSpPr/>
          <p:nvPr/>
        </p:nvSpPr>
        <p:spPr>
          <a:xfrm>
            <a:off x="4233555" y="5915023"/>
            <a:ext cx="395531" cy="4122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9" name="矩形 18">
            <a:extLst>
              <a:ext uri="{FF2B5EF4-FFF2-40B4-BE49-F238E27FC236}">
                <a16:creationId xmlns:a16="http://schemas.microsoft.com/office/drawing/2014/main" id="{26D5E2EA-86FB-6592-A74A-7B63FE0714C6}"/>
              </a:ext>
            </a:extLst>
          </p:cNvPr>
          <p:cNvSpPr/>
          <p:nvPr/>
        </p:nvSpPr>
        <p:spPr>
          <a:xfrm>
            <a:off x="6776501" y="3063834"/>
            <a:ext cx="395531" cy="307797"/>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Tree>
    <p:extLst>
      <p:ext uri="{BB962C8B-B14F-4D97-AF65-F5344CB8AC3E}">
        <p14:creationId xmlns:p14="http://schemas.microsoft.com/office/powerpoint/2010/main" val="371499673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9B40-3624-6A63-C90F-75982A627C99}"/>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21F9F73-57E0-D78F-1DC2-264E676C1DFA}"/>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17DB2D52-6F57-D3BB-5CB8-3FF6E4C2FFB0}"/>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分贝通订酒店</a:t>
            </a:r>
          </a:p>
        </p:txBody>
      </p:sp>
      <p:sp>
        <p:nvSpPr>
          <p:cNvPr id="4" name="矩形 3">
            <a:extLst>
              <a:ext uri="{FF2B5EF4-FFF2-40B4-BE49-F238E27FC236}">
                <a16:creationId xmlns:a16="http://schemas.microsoft.com/office/drawing/2014/main" id="{287CBD52-0D0D-D598-6BAB-E403A6A43D9C}"/>
              </a:ext>
            </a:extLst>
          </p:cNvPr>
          <p:cNvSpPr/>
          <p:nvPr/>
        </p:nvSpPr>
        <p:spPr>
          <a:xfrm>
            <a:off x="359311" y="1088561"/>
            <a:ext cx="12059982" cy="1895455"/>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填写事由，可在提交订单页面增加入住人</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添加同住人；</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酒店预订成功后，预订人、联系人和入住人均会收到手机短信提醒。</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认真查看所选酒店价格的退订政策、因个人原因未入住产生扣款需个人承担。</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注：认真查看酒店的规则：</a:t>
            </a:r>
            <a:r>
              <a:rPr lang="zh-CN" altLang="en-US" sz="1600" b="1" dirty="0">
                <a:solidFill>
                  <a:srgbClr val="FF0000"/>
                </a:solidFill>
                <a:latin typeface="微软雅黑" panose="020B0503020204020204" pitchFamily="34" charset="-122"/>
                <a:ea typeface="微软雅黑" panose="020B0503020204020204" pitchFamily="34" charset="-122"/>
                <a:sym typeface="+mn-ea"/>
              </a:rPr>
              <a:t>是否含早、提前预定时间、酒店订单确认时间、退订时间</a:t>
            </a: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选择入住人后可以添加同住人，系统自动识别其出差申请单</a:t>
            </a:r>
          </a:p>
        </p:txBody>
      </p:sp>
      <p:pic>
        <p:nvPicPr>
          <p:cNvPr id="5" name="图片 4">
            <a:extLst>
              <a:ext uri="{FF2B5EF4-FFF2-40B4-BE49-F238E27FC236}">
                <a16:creationId xmlns:a16="http://schemas.microsoft.com/office/drawing/2014/main" id="{308CB2C9-79D4-7E86-1766-ADA824E23B2B}"/>
              </a:ext>
            </a:extLst>
          </p:cNvPr>
          <p:cNvPicPr>
            <a:picLocks noChangeAspect="1"/>
          </p:cNvPicPr>
          <p:nvPr/>
        </p:nvPicPr>
        <p:blipFill>
          <a:blip r:embed="rId3" cstate="print"/>
          <a:stretch>
            <a:fillRect/>
          </a:stretch>
        </p:blipFill>
        <p:spPr>
          <a:xfrm>
            <a:off x="1562898" y="2984016"/>
            <a:ext cx="1764141" cy="3619231"/>
          </a:xfrm>
          <a:prstGeom prst="rect">
            <a:avLst/>
          </a:prstGeom>
        </p:spPr>
        <p:style>
          <a:lnRef idx="0">
            <a:schemeClr val="accent3"/>
          </a:lnRef>
          <a:fillRef idx="3">
            <a:schemeClr val="accent3"/>
          </a:fillRef>
          <a:effectRef idx="3">
            <a:schemeClr val="accent3"/>
          </a:effectRef>
          <a:fontRef idx="minor">
            <a:schemeClr val="lt1"/>
          </a:fontRef>
        </p:style>
      </p:pic>
      <p:pic>
        <p:nvPicPr>
          <p:cNvPr id="6" name="图片 5">
            <a:extLst>
              <a:ext uri="{FF2B5EF4-FFF2-40B4-BE49-F238E27FC236}">
                <a16:creationId xmlns:a16="http://schemas.microsoft.com/office/drawing/2014/main" id="{6DCBB205-66AC-C22E-19AB-D933C237720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1795" y="2983888"/>
            <a:ext cx="1764141" cy="3619231"/>
          </a:xfrm>
          <a:prstGeom prst="rect">
            <a:avLst/>
          </a:prstGeom>
        </p:spPr>
        <p:style>
          <a:lnRef idx="0">
            <a:schemeClr val="accent3"/>
          </a:lnRef>
          <a:fillRef idx="3">
            <a:schemeClr val="accent3"/>
          </a:fillRef>
          <a:effectRef idx="3">
            <a:schemeClr val="accent3"/>
          </a:effectRef>
          <a:fontRef idx="minor">
            <a:schemeClr val="lt1"/>
          </a:fontRef>
        </p:style>
      </p:pic>
      <p:pic>
        <p:nvPicPr>
          <p:cNvPr id="7" name="图片 6">
            <a:extLst>
              <a:ext uri="{FF2B5EF4-FFF2-40B4-BE49-F238E27FC236}">
                <a16:creationId xmlns:a16="http://schemas.microsoft.com/office/drawing/2014/main" id="{50CFD8E5-BC6C-F810-0234-79C09C854F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87402" y="2983888"/>
            <a:ext cx="1820971" cy="3619232"/>
          </a:xfrm>
          <a:prstGeom prst="rect">
            <a:avLst/>
          </a:prstGeom>
        </p:spPr>
        <p:style>
          <a:lnRef idx="0">
            <a:schemeClr val="accent3"/>
          </a:lnRef>
          <a:fillRef idx="3">
            <a:schemeClr val="accent3"/>
          </a:fillRef>
          <a:effectRef idx="3">
            <a:schemeClr val="accent3"/>
          </a:effectRef>
          <a:fontRef idx="minor">
            <a:schemeClr val="lt1"/>
          </a:fontRef>
        </p:style>
      </p:pic>
      <p:sp>
        <p:nvSpPr>
          <p:cNvPr id="8" name="文本框 7">
            <a:extLst>
              <a:ext uri="{FF2B5EF4-FFF2-40B4-BE49-F238E27FC236}">
                <a16:creationId xmlns:a16="http://schemas.microsoft.com/office/drawing/2014/main" id="{93315D48-B5C7-70F6-A4FA-45F027C4C8B2}"/>
              </a:ext>
            </a:extLst>
          </p:cNvPr>
          <p:cNvSpPr txBox="1"/>
          <p:nvPr/>
        </p:nvSpPr>
        <p:spPr>
          <a:xfrm>
            <a:off x="2052696" y="6605695"/>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9" name="文本框 8">
            <a:extLst>
              <a:ext uri="{FF2B5EF4-FFF2-40B4-BE49-F238E27FC236}">
                <a16:creationId xmlns:a16="http://schemas.microsoft.com/office/drawing/2014/main" id="{B02F3ACB-FE91-69CE-3F7C-4C751030065D}"/>
              </a:ext>
            </a:extLst>
          </p:cNvPr>
          <p:cNvSpPr txBox="1"/>
          <p:nvPr/>
        </p:nvSpPr>
        <p:spPr>
          <a:xfrm>
            <a:off x="4904599" y="660311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0" name="文本框 9">
            <a:extLst>
              <a:ext uri="{FF2B5EF4-FFF2-40B4-BE49-F238E27FC236}">
                <a16:creationId xmlns:a16="http://schemas.microsoft.com/office/drawing/2014/main" id="{39B4A362-6F53-1DBA-164E-810E4BE2E621}"/>
              </a:ext>
            </a:extLst>
          </p:cNvPr>
          <p:cNvSpPr txBox="1"/>
          <p:nvPr/>
        </p:nvSpPr>
        <p:spPr>
          <a:xfrm>
            <a:off x="7808325" y="660311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Tree>
    <p:extLst>
      <p:ext uri="{BB962C8B-B14F-4D97-AF65-F5344CB8AC3E}">
        <p14:creationId xmlns:p14="http://schemas.microsoft.com/office/powerpoint/2010/main" val="329567690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729EE-C1CF-2301-FFAE-61955620D76E}"/>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19D92965-215C-E157-A054-C34D49870AA6}"/>
              </a:ext>
            </a:extLst>
          </p:cNvPr>
          <p:cNvPicPr>
            <a:picLocks noChangeAspect="1"/>
          </p:cNvPicPr>
          <p:nvPr/>
        </p:nvPicPr>
        <p:blipFill>
          <a:blip r:embed="rId2"/>
          <a:stretch>
            <a:fillRect/>
          </a:stretch>
        </p:blipFill>
        <p:spPr>
          <a:xfrm>
            <a:off x="359311" y="5901212"/>
            <a:ext cx="1308100" cy="469900"/>
          </a:xfrm>
          <a:prstGeom prst="rect">
            <a:avLst/>
          </a:prstGeom>
        </p:spPr>
      </p:pic>
      <p:sp>
        <p:nvSpPr>
          <p:cNvPr id="4" name="任意形状 3">
            <a:extLst>
              <a:ext uri="{FF2B5EF4-FFF2-40B4-BE49-F238E27FC236}">
                <a16:creationId xmlns:a16="http://schemas.microsoft.com/office/drawing/2014/main" id="{4FB4D029-80E5-3346-9FDA-BFF1561CCA24}"/>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分贝通订酒店（超规支付）</a:t>
            </a:r>
          </a:p>
        </p:txBody>
      </p:sp>
      <p:pic>
        <p:nvPicPr>
          <p:cNvPr id="5" name="图片 4">
            <a:extLst>
              <a:ext uri="{FF2B5EF4-FFF2-40B4-BE49-F238E27FC236}">
                <a16:creationId xmlns:a16="http://schemas.microsoft.com/office/drawing/2014/main" id="{4540D91D-9DCF-4461-F49B-67428F616ABB}"/>
              </a:ext>
            </a:extLst>
          </p:cNvPr>
          <p:cNvPicPr>
            <a:picLocks noChangeAspect="1"/>
          </p:cNvPicPr>
          <p:nvPr/>
        </p:nvPicPr>
        <p:blipFill>
          <a:blip r:embed="rId3" cstate="print"/>
          <a:stretch>
            <a:fillRect/>
          </a:stretch>
        </p:blipFill>
        <p:spPr>
          <a:xfrm>
            <a:off x="844124" y="2066306"/>
            <a:ext cx="2128993" cy="4588935"/>
          </a:xfrm>
          <a:prstGeom prst="rect">
            <a:avLst/>
          </a:prstGeom>
        </p:spPr>
        <p:style>
          <a:lnRef idx="0">
            <a:schemeClr val="accent3"/>
          </a:lnRef>
          <a:fillRef idx="3">
            <a:schemeClr val="accent3"/>
          </a:fillRef>
          <a:effectRef idx="3">
            <a:schemeClr val="accent3"/>
          </a:effectRef>
          <a:fontRef idx="minor">
            <a:schemeClr val="lt1"/>
          </a:fontRef>
        </p:style>
      </p:pic>
      <p:pic>
        <p:nvPicPr>
          <p:cNvPr id="6" name="图片 5">
            <a:extLst>
              <a:ext uri="{FF2B5EF4-FFF2-40B4-BE49-F238E27FC236}">
                <a16:creationId xmlns:a16="http://schemas.microsoft.com/office/drawing/2014/main" id="{9D246E4D-9E09-6DD3-7CF9-E5A31BCC1438}"/>
              </a:ext>
            </a:extLst>
          </p:cNvPr>
          <p:cNvPicPr>
            <a:picLocks noChangeAspect="1"/>
          </p:cNvPicPr>
          <p:nvPr/>
        </p:nvPicPr>
        <p:blipFill>
          <a:blip r:embed="rId4" cstate="print"/>
          <a:stretch>
            <a:fillRect/>
          </a:stretch>
        </p:blipFill>
        <p:spPr>
          <a:xfrm>
            <a:off x="4449937" y="2066306"/>
            <a:ext cx="2128993" cy="4588935"/>
          </a:xfrm>
          <a:prstGeom prst="rect">
            <a:avLst/>
          </a:prstGeom>
        </p:spPr>
        <p:style>
          <a:lnRef idx="0">
            <a:schemeClr val="accent3"/>
          </a:lnRef>
          <a:fillRef idx="3">
            <a:schemeClr val="accent3"/>
          </a:fillRef>
          <a:effectRef idx="3">
            <a:schemeClr val="accent3"/>
          </a:effectRef>
          <a:fontRef idx="minor">
            <a:schemeClr val="lt1"/>
          </a:fontRef>
        </p:style>
      </p:pic>
      <p:sp>
        <p:nvSpPr>
          <p:cNvPr id="7" name="矩形 6">
            <a:extLst>
              <a:ext uri="{FF2B5EF4-FFF2-40B4-BE49-F238E27FC236}">
                <a16:creationId xmlns:a16="http://schemas.microsoft.com/office/drawing/2014/main" id="{92D430D6-CB83-80B9-EC0E-749FFA3A90C2}"/>
              </a:ext>
            </a:extLst>
          </p:cNvPr>
          <p:cNvSpPr/>
          <p:nvPr/>
        </p:nvSpPr>
        <p:spPr>
          <a:xfrm>
            <a:off x="210455" y="994654"/>
            <a:ext cx="10829270" cy="787523"/>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酒店订单超过消费规则，超规部分个人支付或者因公提交超规审批。</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rPr>
              <a:t>注：员工需在分贝通填写完支付密码，跳转到个人支付页面完成付款</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a:t>
            </a:r>
          </a:p>
        </p:txBody>
      </p:sp>
      <p:sp>
        <p:nvSpPr>
          <p:cNvPr id="8" name="矩形 7">
            <a:extLst>
              <a:ext uri="{FF2B5EF4-FFF2-40B4-BE49-F238E27FC236}">
                <a16:creationId xmlns:a16="http://schemas.microsoft.com/office/drawing/2014/main" id="{2B07285F-7781-1BB7-1823-08294E01FA04}"/>
              </a:ext>
            </a:extLst>
          </p:cNvPr>
          <p:cNvSpPr/>
          <p:nvPr/>
        </p:nvSpPr>
        <p:spPr>
          <a:xfrm>
            <a:off x="1840675" y="4762005"/>
            <a:ext cx="1092529" cy="4750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9" name="矩形 8">
            <a:extLst>
              <a:ext uri="{FF2B5EF4-FFF2-40B4-BE49-F238E27FC236}">
                <a16:creationId xmlns:a16="http://schemas.microsoft.com/office/drawing/2014/main" id="{E266A3B7-D099-106F-9DC0-4B480F92DE4F}"/>
              </a:ext>
            </a:extLst>
          </p:cNvPr>
          <p:cNvSpPr/>
          <p:nvPr/>
        </p:nvSpPr>
        <p:spPr>
          <a:xfrm>
            <a:off x="4433773" y="4600811"/>
            <a:ext cx="2128993" cy="4750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0" name="矩形 9">
            <a:extLst>
              <a:ext uri="{FF2B5EF4-FFF2-40B4-BE49-F238E27FC236}">
                <a16:creationId xmlns:a16="http://schemas.microsoft.com/office/drawing/2014/main" id="{7E775EB1-D43D-2CD2-E811-3B7B701E4373}"/>
              </a:ext>
            </a:extLst>
          </p:cNvPr>
          <p:cNvSpPr/>
          <p:nvPr/>
        </p:nvSpPr>
        <p:spPr>
          <a:xfrm>
            <a:off x="4449607" y="3746227"/>
            <a:ext cx="2128993" cy="4750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Tree>
    <p:extLst>
      <p:ext uri="{BB962C8B-B14F-4D97-AF65-F5344CB8AC3E}">
        <p14:creationId xmlns:p14="http://schemas.microsoft.com/office/powerpoint/2010/main" val="2486419447"/>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C7C83-758A-EDC0-2D80-14578D4712A6}"/>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1A0CEB4B-86A3-2E28-8891-E369FAD9AC00}"/>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48685B45-7946-422C-E20C-7FF6CC6643DA}"/>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分贝通订酒店（退订）</a:t>
            </a:r>
          </a:p>
        </p:txBody>
      </p:sp>
      <p:pic>
        <p:nvPicPr>
          <p:cNvPr id="4" name="图片 3">
            <a:extLst>
              <a:ext uri="{FF2B5EF4-FFF2-40B4-BE49-F238E27FC236}">
                <a16:creationId xmlns:a16="http://schemas.microsoft.com/office/drawing/2014/main" id="{8D53DBB2-2722-4CD2-C58D-BB4C7A987E7F}"/>
              </a:ext>
            </a:extLst>
          </p:cNvPr>
          <p:cNvPicPr>
            <a:picLocks noChangeAspect="1"/>
          </p:cNvPicPr>
          <p:nvPr/>
        </p:nvPicPr>
        <p:blipFill>
          <a:blip r:embed="rId3"/>
          <a:stretch>
            <a:fillRect/>
          </a:stretch>
        </p:blipFill>
        <p:spPr>
          <a:xfrm>
            <a:off x="819117" y="1872504"/>
            <a:ext cx="2134508" cy="4628160"/>
          </a:xfrm>
          <a:prstGeom prst="rect">
            <a:avLst/>
          </a:prstGeom>
          <a:effectLst>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E2DFBDC4-39A1-C9AA-1BBB-83608C4F06E6}"/>
              </a:ext>
            </a:extLst>
          </p:cNvPr>
          <p:cNvPicPr>
            <a:picLocks noChangeAspect="1"/>
          </p:cNvPicPr>
          <p:nvPr/>
        </p:nvPicPr>
        <p:blipFill>
          <a:blip r:embed="rId4" cstate="print"/>
          <a:stretch>
            <a:fillRect/>
          </a:stretch>
        </p:blipFill>
        <p:spPr>
          <a:xfrm>
            <a:off x="3546799" y="1872764"/>
            <a:ext cx="2126064" cy="4627874"/>
          </a:xfrm>
          <a:prstGeom prst="rect">
            <a:avLst/>
          </a:prstGeom>
        </p:spPr>
        <p:style>
          <a:lnRef idx="0">
            <a:schemeClr val="accent3"/>
          </a:lnRef>
          <a:fillRef idx="3">
            <a:schemeClr val="accent3"/>
          </a:fillRef>
          <a:effectRef idx="3">
            <a:schemeClr val="accent3"/>
          </a:effectRef>
          <a:fontRef idx="minor">
            <a:schemeClr val="lt1"/>
          </a:fontRef>
        </p:style>
      </p:pic>
      <p:pic>
        <p:nvPicPr>
          <p:cNvPr id="6" name="图片 5">
            <a:extLst>
              <a:ext uri="{FF2B5EF4-FFF2-40B4-BE49-F238E27FC236}">
                <a16:creationId xmlns:a16="http://schemas.microsoft.com/office/drawing/2014/main" id="{65FBDD93-129E-D48A-D958-F92DA3457C58}"/>
              </a:ext>
            </a:extLst>
          </p:cNvPr>
          <p:cNvPicPr>
            <a:picLocks noChangeAspect="1"/>
          </p:cNvPicPr>
          <p:nvPr/>
        </p:nvPicPr>
        <p:blipFill>
          <a:blip r:embed="rId5" cstate="print"/>
          <a:stretch>
            <a:fillRect/>
          </a:stretch>
        </p:blipFill>
        <p:spPr>
          <a:xfrm>
            <a:off x="6290108" y="1872585"/>
            <a:ext cx="2207226" cy="4629494"/>
          </a:xfrm>
          <a:prstGeom prst="rect">
            <a:avLst/>
          </a:prstGeom>
        </p:spPr>
        <p:style>
          <a:lnRef idx="0">
            <a:schemeClr val="accent3"/>
          </a:lnRef>
          <a:fillRef idx="3">
            <a:schemeClr val="accent3"/>
          </a:fillRef>
          <a:effectRef idx="3">
            <a:schemeClr val="accent3"/>
          </a:effectRef>
          <a:fontRef idx="minor">
            <a:schemeClr val="lt1"/>
          </a:fontRef>
        </p:style>
      </p:pic>
      <p:pic>
        <p:nvPicPr>
          <p:cNvPr id="7" name="图片 6">
            <a:extLst>
              <a:ext uri="{FF2B5EF4-FFF2-40B4-BE49-F238E27FC236}">
                <a16:creationId xmlns:a16="http://schemas.microsoft.com/office/drawing/2014/main" id="{6D8113F5-2B0E-E273-1C17-634671B97FCC}"/>
              </a:ext>
            </a:extLst>
          </p:cNvPr>
          <p:cNvPicPr>
            <a:picLocks noChangeAspect="1"/>
          </p:cNvPicPr>
          <p:nvPr/>
        </p:nvPicPr>
        <p:blipFill>
          <a:blip r:embed="rId6" cstate="print"/>
          <a:stretch>
            <a:fillRect/>
          </a:stretch>
        </p:blipFill>
        <p:spPr>
          <a:xfrm>
            <a:off x="9159152" y="1871143"/>
            <a:ext cx="2288936" cy="4629494"/>
          </a:xfrm>
          <a:prstGeom prst="rect">
            <a:avLst/>
          </a:prstGeom>
        </p:spPr>
        <p:style>
          <a:lnRef idx="0">
            <a:schemeClr val="accent3"/>
          </a:lnRef>
          <a:fillRef idx="3">
            <a:schemeClr val="accent3"/>
          </a:fillRef>
          <a:effectRef idx="3">
            <a:schemeClr val="accent3"/>
          </a:effectRef>
          <a:fontRef idx="minor">
            <a:schemeClr val="lt1"/>
          </a:fontRef>
        </p:style>
      </p:pic>
      <p:sp>
        <p:nvSpPr>
          <p:cNvPr id="8" name="文本框 7">
            <a:extLst>
              <a:ext uri="{FF2B5EF4-FFF2-40B4-BE49-F238E27FC236}">
                <a16:creationId xmlns:a16="http://schemas.microsoft.com/office/drawing/2014/main" id="{FA7E9617-4F9A-AB29-0342-37707D5BD7D2}"/>
              </a:ext>
            </a:extLst>
          </p:cNvPr>
          <p:cNvSpPr txBox="1"/>
          <p:nvPr/>
        </p:nvSpPr>
        <p:spPr>
          <a:xfrm>
            <a:off x="1385578" y="6522022"/>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9" name="文本框 8">
            <a:extLst>
              <a:ext uri="{FF2B5EF4-FFF2-40B4-BE49-F238E27FC236}">
                <a16:creationId xmlns:a16="http://schemas.microsoft.com/office/drawing/2014/main" id="{388F715B-42C6-13FD-1363-88638EC02125}"/>
              </a:ext>
            </a:extLst>
          </p:cNvPr>
          <p:cNvSpPr txBox="1"/>
          <p:nvPr/>
        </p:nvSpPr>
        <p:spPr>
          <a:xfrm>
            <a:off x="4237481" y="65194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0" name="文本框 9">
            <a:extLst>
              <a:ext uri="{FF2B5EF4-FFF2-40B4-BE49-F238E27FC236}">
                <a16:creationId xmlns:a16="http://schemas.microsoft.com/office/drawing/2014/main" id="{E3F1E756-65AA-C769-A4D6-AA2609161BF4}"/>
              </a:ext>
            </a:extLst>
          </p:cNvPr>
          <p:cNvSpPr txBox="1"/>
          <p:nvPr/>
        </p:nvSpPr>
        <p:spPr>
          <a:xfrm>
            <a:off x="7141207" y="65194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
        <p:nvSpPr>
          <p:cNvPr id="11" name="文本框 10">
            <a:extLst>
              <a:ext uri="{FF2B5EF4-FFF2-40B4-BE49-F238E27FC236}">
                <a16:creationId xmlns:a16="http://schemas.microsoft.com/office/drawing/2014/main" id="{1B94155D-3D87-D43F-3EEE-C4C8DCFF5BE4}"/>
              </a:ext>
            </a:extLst>
          </p:cNvPr>
          <p:cNvSpPr txBox="1"/>
          <p:nvPr/>
        </p:nvSpPr>
        <p:spPr>
          <a:xfrm>
            <a:off x="10060214" y="650237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步骤四</a:t>
            </a:r>
          </a:p>
        </p:txBody>
      </p:sp>
      <p:sp>
        <p:nvSpPr>
          <p:cNvPr id="12" name="矩形 11">
            <a:extLst>
              <a:ext uri="{FF2B5EF4-FFF2-40B4-BE49-F238E27FC236}">
                <a16:creationId xmlns:a16="http://schemas.microsoft.com/office/drawing/2014/main" id="{751A75D5-E3BA-B4EA-ED21-E1321C29F0FA}"/>
              </a:ext>
            </a:extLst>
          </p:cNvPr>
          <p:cNvSpPr/>
          <p:nvPr/>
        </p:nvSpPr>
        <p:spPr>
          <a:xfrm>
            <a:off x="359311" y="954068"/>
            <a:ext cx="11294776" cy="787523"/>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退订前请查看酒店取消规则，确认酒店是否可以退订（如酒店</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12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00</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前可退订，则超过</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12</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点不可退订），填写理由后退订</a:t>
            </a: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酒店退订成功后预订人、联系人和入住人均会收到手机短信提醒</a:t>
            </a:r>
          </a:p>
        </p:txBody>
      </p:sp>
      <p:sp>
        <p:nvSpPr>
          <p:cNvPr id="13" name="矩形 12">
            <a:extLst>
              <a:ext uri="{FF2B5EF4-FFF2-40B4-BE49-F238E27FC236}">
                <a16:creationId xmlns:a16="http://schemas.microsoft.com/office/drawing/2014/main" id="{60D5541E-BF71-FB7E-D00A-2837ECFF34E1}"/>
              </a:ext>
            </a:extLst>
          </p:cNvPr>
          <p:cNvSpPr/>
          <p:nvPr/>
        </p:nvSpPr>
        <p:spPr>
          <a:xfrm>
            <a:off x="886718" y="2707574"/>
            <a:ext cx="1833873" cy="354660"/>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55B39B9A-02BF-9788-589B-00185692E3B2}"/>
              </a:ext>
            </a:extLst>
          </p:cNvPr>
          <p:cNvSpPr/>
          <p:nvPr/>
        </p:nvSpPr>
        <p:spPr>
          <a:xfrm>
            <a:off x="3546799" y="2352914"/>
            <a:ext cx="2081491" cy="532790"/>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Tree>
    <p:extLst>
      <p:ext uri="{BB962C8B-B14F-4D97-AF65-F5344CB8AC3E}">
        <p14:creationId xmlns:p14="http://schemas.microsoft.com/office/powerpoint/2010/main" val="126499300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B89B6-83D1-7B5F-32D8-5D101D18E78C}"/>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E3C23FD-9AAE-7E4A-915B-88959D4FC471}"/>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7F570FD6-A6E2-CC5D-E727-4DA1672F17CA}"/>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分贝通订机票</a:t>
            </a:r>
          </a:p>
        </p:txBody>
      </p:sp>
      <p:sp>
        <p:nvSpPr>
          <p:cNvPr id="4" name="矩形 3">
            <a:extLst>
              <a:ext uri="{FF2B5EF4-FFF2-40B4-BE49-F238E27FC236}">
                <a16:creationId xmlns:a16="http://schemas.microsoft.com/office/drawing/2014/main" id="{96ECDF07-36C3-BB70-E276-45047E9FD883}"/>
              </a:ext>
            </a:extLst>
          </p:cNvPr>
          <p:cNvSpPr/>
          <p:nvPr/>
        </p:nvSpPr>
        <p:spPr>
          <a:xfrm>
            <a:off x="246080" y="984891"/>
            <a:ext cx="10829270" cy="1156792"/>
          </a:xfrm>
          <a:prstGeom prst="rect">
            <a:avLst/>
          </a:prstGeom>
        </p:spPr>
        <p:txBody>
          <a:bodyPr wrap="square">
            <a:spAutoFit/>
          </a:bodyPr>
          <a:lstStyle/>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Microsoft YaHei" panose="020B0503020204020204" pitchFamily="34" charset="-122"/>
                <a:ea typeface="Microsoft YaHei" panose="020B0503020204020204" pitchFamily="34" charset="-122"/>
                <a:sym typeface="+mn-ea"/>
              </a:rPr>
              <a:t>商务消费</a:t>
            </a:r>
            <a:r>
              <a:rPr lang="en-US" altLang="zh-CN" sz="1600" b="1" dirty="0">
                <a:solidFill>
                  <a:schemeClr val="tx1">
                    <a:lumMod val="95000"/>
                    <a:lumOff val="5000"/>
                  </a:schemeClr>
                </a:solidFill>
                <a:latin typeface="Microsoft YaHei" panose="020B0503020204020204" pitchFamily="34" charset="-122"/>
                <a:ea typeface="Microsoft YaHei" panose="020B0503020204020204" pitchFamily="34" charset="-122"/>
                <a:sym typeface="+mn-ea"/>
              </a:rPr>
              <a:t>-</a:t>
            </a:r>
            <a:r>
              <a:rPr lang="zh-CN" altLang="en-US" sz="1600" b="1" dirty="0">
                <a:solidFill>
                  <a:schemeClr val="tx1">
                    <a:lumMod val="95000"/>
                    <a:lumOff val="5000"/>
                  </a:schemeClr>
                </a:solidFill>
                <a:latin typeface="Microsoft YaHei" panose="020B0503020204020204" pitchFamily="34" charset="-122"/>
                <a:ea typeface="Microsoft YaHei" panose="020B0503020204020204" pitchFamily="34" charset="-122"/>
                <a:sym typeface="+mn-ea"/>
              </a:rPr>
              <a:t>国内机票，选择城市、出行时间，搜索机票</a:t>
            </a:r>
            <a:endParaRPr lang="en-US" altLang="zh-CN" sz="1600" b="1" dirty="0">
              <a:solidFill>
                <a:schemeClr val="tx1">
                  <a:lumMod val="95000"/>
                  <a:lumOff val="5000"/>
                </a:schemeClr>
              </a:solidFill>
              <a:latin typeface="Microsoft YaHei" panose="020B0503020204020204" pitchFamily="34" charset="-122"/>
              <a:ea typeface="Microsoft YaHei"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Microsoft YaHei" panose="020B0503020204020204" pitchFamily="34" charset="-122"/>
                <a:ea typeface="Microsoft YaHei" panose="020B0503020204020204" pitchFamily="34" charset="-122"/>
              </a:rPr>
              <a:t>退改签规则遵循航空公司规定，建议仔细阅读  注：非身份证件信息需填写有效期和国籍（例：护照）</a:t>
            </a: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rgbClr val="FF0000"/>
                </a:solidFill>
                <a:latin typeface="Microsoft YaHei" panose="020B0503020204020204" pitchFamily="34" charset="-122"/>
                <a:ea typeface="Microsoft YaHei" panose="020B0503020204020204" pitchFamily="34" charset="-122"/>
              </a:rPr>
              <a:t>注：无需打印行程单</a:t>
            </a:r>
            <a:endParaRPr lang="en-US" altLang="zh-CN" sz="1600" b="1" dirty="0">
              <a:solidFill>
                <a:srgbClr val="FF0000"/>
              </a:solidFill>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D061241D-63F3-AEAE-588B-19763A07E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575" y="2226769"/>
            <a:ext cx="1929878" cy="4181402"/>
          </a:xfrm>
          <a:prstGeom prst="rect">
            <a:avLst/>
          </a:prstGeom>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DE47328B-03D2-96FC-F039-1C34C4F6AE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15821" y="2218803"/>
            <a:ext cx="1916950" cy="4152309"/>
          </a:xfrm>
          <a:prstGeom prst="rect">
            <a:avLst/>
          </a:prstGeom>
          <a:effectLst>
            <a:outerShdw blurRad="50800" dist="38100" dir="2700000" algn="tl" rotWithShape="0">
              <a:prstClr val="black">
                <a:alpha val="40000"/>
              </a:prstClr>
            </a:outerShdw>
          </a:effectLst>
        </p:spPr>
      </p:pic>
      <p:pic>
        <p:nvPicPr>
          <p:cNvPr id="7" name="图片 6">
            <a:extLst>
              <a:ext uri="{FF2B5EF4-FFF2-40B4-BE49-F238E27FC236}">
                <a16:creationId xmlns:a16="http://schemas.microsoft.com/office/drawing/2014/main" id="{2DA87338-499D-EAE9-0709-82D938D6FE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25931" y="2162653"/>
            <a:ext cx="1916950" cy="4152308"/>
          </a:xfrm>
          <a:prstGeom prst="rect">
            <a:avLst/>
          </a:prstGeom>
          <a:effectLst>
            <a:outerShdw blurRad="50800" dist="38100" dir="2700000" algn="tl" rotWithShape="0">
              <a:prstClr val="black">
                <a:alpha val="40000"/>
              </a:prstClr>
            </a:outerShdw>
          </a:effectLst>
        </p:spPr>
      </p:pic>
      <p:sp>
        <p:nvSpPr>
          <p:cNvPr id="8" name="矩形 7">
            <a:extLst>
              <a:ext uri="{FF2B5EF4-FFF2-40B4-BE49-F238E27FC236}">
                <a16:creationId xmlns:a16="http://schemas.microsoft.com/office/drawing/2014/main" id="{B028F0E7-9090-A499-E472-D864F8D6917B}"/>
              </a:ext>
            </a:extLst>
          </p:cNvPr>
          <p:cNvSpPr/>
          <p:nvPr/>
        </p:nvSpPr>
        <p:spPr>
          <a:xfrm>
            <a:off x="574882" y="2953987"/>
            <a:ext cx="434521" cy="382979"/>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9" name="矩形 8">
            <a:extLst>
              <a:ext uri="{FF2B5EF4-FFF2-40B4-BE49-F238E27FC236}">
                <a16:creationId xmlns:a16="http://schemas.microsoft.com/office/drawing/2014/main" id="{FA249D39-A9BD-2C91-DD5E-3735A5654EF1}"/>
              </a:ext>
            </a:extLst>
          </p:cNvPr>
          <p:cNvSpPr/>
          <p:nvPr/>
        </p:nvSpPr>
        <p:spPr>
          <a:xfrm>
            <a:off x="574882" y="4317470"/>
            <a:ext cx="1929878" cy="622665"/>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0" name="文本框 9">
            <a:extLst>
              <a:ext uri="{FF2B5EF4-FFF2-40B4-BE49-F238E27FC236}">
                <a16:creationId xmlns:a16="http://schemas.microsoft.com/office/drawing/2014/main" id="{C3B272B7-3A53-D2F4-05CA-DF437530E9C7}"/>
              </a:ext>
            </a:extLst>
          </p:cNvPr>
          <p:cNvSpPr txBox="1"/>
          <p:nvPr/>
        </p:nvSpPr>
        <p:spPr>
          <a:xfrm>
            <a:off x="1148071" y="6490234"/>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11" name="文本框 10">
            <a:extLst>
              <a:ext uri="{FF2B5EF4-FFF2-40B4-BE49-F238E27FC236}">
                <a16:creationId xmlns:a16="http://schemas.microsoft.com/office/drawing/2014/main" id="{250C92C1-33BA-117D-E772-3E4E76ACE13F}"/>
              </a:ext>
            </a:extLst>
          </p:cNvPr>
          <p:cNvSpPr txBox="1"/>
          <p:nvPr/>
        </p:nvSpPr>
        <p:spPr>
          <a:xfrm>
            <a:off x="4983927" y="6487658"/>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2" name="文本框 11">
            <a:extLst>
              <a:ext uri="{FF2B5EF4-FFF2-40B4-BE49-F238E27FC236}">
                <a16:creationId xmlns:a16="http://schemas.microsoft.com/office/drawing/2014/main" id="{B07FEB7E-C584-F453-9FCD-009EA5485A8E}"/>
              </a:ext>
            </a:extLst>
          </p:cNvPr>
          <p:cNvSpPr txBox="1"/>
          <p:nvPr/>
        </p:nvSpPr>
        <p:spPr>
          <a:xfrm>
            <a:off x="8140313" y="6487658"/>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Tree>
    <p:extLst>
      <p:ext uri="{BB962C8B-B14F-4D97-AF65-F5344CB8AC3E}">
        <p14:creationId xmlns:p14="http://schemas.microsoft.com/office/powerpoint/2010/main" val="1042843253"/>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2555-E8FA-6A5B-7266-FD620E3BF087}"/>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BFFD1D1C-D7D2-07ED-120F-2E16F94EE367}"/>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E0AC6CE9-FA17-B8C1-D0F9-D0827E65DF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37023" y="1675666"/>
            <a:ext cx="2248883" cy="4871310"/>
          </a:xfrm>
          <a:prstGeom prst="rect">
            <a:avLst/>
          </a:prstGeom>
        </p:spPr>
        <p:style>
          <a:lnRef idx="0">
            <a:schemeClr val="accent3"/>
          </a:lnRef>
          <a:fillRef idx="3">
            <a:schemeClr val="accent3"/>
          </a:fillRef>
          <a:effectRef idx="3">
            <a:schemeClr val="accent3"/>
          </a:effectRef>
          <a:fontRef idx="minor">
            <a:schemeClr val="lt1"/>
          </a:fontRef>
        </p:style>
      </p:pic>
      <p:pic>
        <p:nvPicPr>
          <p:cNvPr id="4" name="图片 3">
            <a:extLst>
              <a:ext uri="{FF2B5EF4-FFF2-40B4-BE49-F238E27FC236}">
                <a16:creationId xmlns:a16="http://schemas.microsoft.com/office/drawing/2014/main" id="{AF07AEBD-F457-BCB1-0049-7A695B86ED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89679" y="1674421"/>
            <a:ext cx="2248883" cy="4871310"/>
          </a:xfrm>
          <a:prstGeom prst="rect">
            <a:avLst/>
          </a:prstGeom>
        </p:spPr>
        <p:style>
          <a:lnRef idx="0">
            <a:schemeClr val="accent3"/>
          </a:lnRef>
          <a:fillRef idx="3">
            <a:schemeClr val="accent3"/>
          </a:fillRef>
          <a:effectRef idx="3">
            <a:schemeClr val="accent3"/>
          </a:effectRef>
          <a:fontRef idx="minor">
            <a:schemeClr val="lt1"/>
          </a:fontRef>
        </p:style>
      </p:pic>
      <p:pic>
        <p:nvPicPr>
          <p:cNvPr id="5" name="图片 4">
            <a:extLst>
              <a:ext uri="{FF2B5EF4-FFF2-40B4-BE49-F238E27FC236}">
                <a16:creationId xmlns:a16="http://schemas.microsoft.com/office/drawing/2014/main" id="{DFF29B4B-FFBE-2001-0421-C8437AC054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4378" y="1673153"/>
            <a:ext cx="2248882" cy="4872578"/>
          </a:xfrm>
          <a:prstGeom prst="rect">
            <a:avLst/>
          </a:prstGeom>
        </p:spPr>
        <p:style>
          <a:lnRef idx="0">
            <a:schemeClr val="accent3"/>
          </a:lnRef>
          <a:fillRef idx="3">
            <a:schemeClr val="accent3"/>
          </a:fillRef>
          <a:effectRef idx="3">
            <a:schemeClr val="accent3"/>
          </a:effectRef>
          <a:fontRef idx="minor">
            <a:schemeClr val="lt1"/>
          </a:fontRef>
        </p:style>
      </p:pic>
      <p:sp>
        <p:nvSpPr>
          <p:cNvPr id="6" name="文本框 5">
            <a:extLst>
              <a:ext uri="{FF2B5EF4-FFF2-40B4-BE49-F238E27FC236}">
                <a16:creationId xmlns:a16="http://schemas.microsoft.com/office/drawing/2014/main" id="{8B2382B7-F3F3-6A2D-9681-9D5A8C2FC9CB}"/>
              </a:ext>
            </a:extLst>
          </p:cNvPr>
          <p:cNvSpPr txBox="1"/>
          <p:nvPr/>
        </p:nvSpPr>
        <p:spPr>
          <a:xfrm>
            <a:off x="1575582" y="6522022"/>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7" name="文本框 6">
            <a:extLst>
              <a:ext uri="{FF2B5EF4-FFF2-40B4-BE49-F238E27FC236}">
                <a16:creationId xmlns:a16="http://schemas.microsoft.com/office/drawing/2014/main" id="{F1A32222-CA95-55D5-7892-2D8DF6F21C46}"/>
              </a:ext>
            </a:extLst>
          </p:cNvPr>
          <p:cNvSpPr txBox="1"/>
          <p:nvPr/>
        </p:nvSpPr>
        <p:spPr>
          <a:xfrm>
            <a:off x="5445827" y="6545731"/>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8" name="文本框 7">
            <a:extLst>
              <a:ext uri="{FF2B5EF4-FFF2-40B4-BE49-F238E27FC236}">
                <a16:creationId xmlns:a16="http://schemas.microsoft.com/office/drawing/2014/main" id="{F78B9E31-D524-CF86-66AE-B9D6BEF33CC5}"/>
              </a:ext>
            </a:extLst>
          </p:cNvPr>
          <p:cNvSpPr txBox="1"/>
          <p:nvPr/>
        </p:nvSpPr>
        <p:spPr>
          <a:xfrm>
            <a:off x="9698483" y="6545731"/>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
        <p:nvSpPr>
          <p:cNvPr id="9" name="矩形 8">
            <a:extLst>
              <a:ext uri="{FF2B5EF4-FFF2-40B4-BE49-F238E27FC236}">
                <a16:creationId xmlns:a16="http://schemas.microsoft.com/office/drawing/2014/main" id="{E077C14C-4973-D95C-A8A3-E795F0E766CF}"/>
              </a:ext>
            </a:extLst>
          </p:cNvPr>
          <p:cNvSpPr/>
          <p:nvPr/>
        </p:nvSpPr>
        <p:spPr>
          <a:xfrm>
            <a:off x="201916" y="885630"/>
            <a:ext cx="11788168" cy="787523"/>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选择相应航班，添加乘机人</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航空公司个人会员权益依据身份证号自动识别</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提交订票，根据不同航班供应商出票时间不一样；机票出票成功后，预订人、联系人和乘机人均会收到手机短信提醒；</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0" name="任意形状 9">
            <a:extLst>
              <a:ext uri="{FF2B5EF4-FFF2-40B4-BE49-F238E27FC236}">
                <a16:creationId xmlns:a16="http://schemas.microsoft.com/office/drawing/2014/main" id="{0EBEE3A4-88BA-60FD-8010-649DD64A00A7}"/>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分贝通订机票</a:t>
            </a:r>
          </a:p>
        </p:txBody>
      </p:sp>
    </p:spTree>
    <p:extLst>
      <p:ext uri="{BB962C8B-B14F-4D97-AF65-F5344CB8AC3E}">
        <p14:creationId xmlns:p14="http://schemas.microsoft.com/office/powerpoint/2010/main" val="176665400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597EE-06C3-37D8-C4D8-6B83F3D0596A}"/>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F05D2A78-6FE6-9D92-A21B-F141E41E5195}"/>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3D46A5A8-1577-5325-34E8-C98013891B46}"/>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分贝通机票退票</a:t>
            </a:r>
          </a:p>
        </p:txBody>
      </p:sp>
      <p:sp>
        <p:nvSpPr>
          <p:cNvPr id="4" name="矩形 3">
            <a:extLst>
              <a:ext uri="{FF2B5EF4-FFF2-40B4-BE49-F238E27FC236}">
                <a16:creationId xmlns:a16="http://schemas.microsoft.com/office/drawing/2014/main" id="{F60AFACF-E49B-6E5B-6F1E-3B27E82BD559}"/>
              </a:ext>
            </a:extLst>
          </p:cNvPr>
          <p:cNvSpPr/>
          <p:nvPr/>
        </p:nvSpPr>
        <p:spPr>
          <a:xfrm>
            <a:off x="222330" y="996766"/>
            <a:ext cx="11230964" cy="1156792"/>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填写退票理由后自助退票：因乘机人行程原因：</a:t>
            </a:r>
            <a:r>
              <a:rPr lang="zh-CN" altLang="en-US" sz="1600" b="1" dirty="0">
                <a:solidFill>
                  <a:srgbClr val="FF0000"/>
                </a:solidFill>
                <a:latin typeface="微软雅黑" panose="020B0503020204020204" pitchFamily="34" charset="-122"/>
                <a:ea typeface="微软雅黑" panose="020B0503020204020204" pitchFamily="34" charset="-122"/>
                <a:sym typeface="+mn-ea"/>
              </a:rPr>
              <a:t>自愿退票、非自愿退票</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两种情况</a:t>
            </a: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联系客服退票：本系统线上无法判断因航空公司航班取消、变更原因导致的乘机人非自愿退票（客服电话：</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400-817-6868</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机票退票成功后，预订人、联系人和乘机人均会收到手机短信提醒</a:t>
            </a:r>
          </a:p>
        </p:txBody>
      </p:sp>
      <p:pic>
        <p:nvPicPr>
          <p:cNvPr id="5" name="图片 4">
            <a:extLst>
              <a:ext uri="{FF2B5EF4-FFF2-40B4-BE49-F238E27FC236}">
                <a16:creationId xmlns:a16="http://schemas.microsoft.com/office/drawing/2014/main" id="{4550516C-1F21-60DE-BF47-33DED8D1E9A0}"/>
              </a:ext>
            </a:extLst>
          </p:cNvPr>
          <p:cNvPicPr>
            <a:picLocks noChangeAspect="1"/>
          </p:cNvPicPr>
          <p:nvPr/>
        </p:nvPicPr>
        <p:blipFill>
          <a:blip r:embed="rId3" cstate="print"/>
          <a:stretch>
            <a:fillRect/>
          </a:stretch>
        </p:blipFill>
        <p:spPr>
          <a:xfrm>
            <a:off x="695025" y="2258268"/>
            <a:ext cx="2013420" cy="4122716"/>
          </a:xfrm>
          <a:prstGeom prst="rect">
            <a:avLst/>
          </a:prstGeom>
          <a:effectLst>
            <a:outerShdw blurRad="50800" dist="38100" dir="2700000" algn="tl" rotWithShape="0">
              <a:srgbClr val="92D050">
                <a:alpha val="40000"/>
              </a:srgbClr>
            </a:outerShdw>
          </a:effectLst>
        </p:spPr>
      </p:pic>
      <p:pic>
        <p:nvPicPr>
          <p:cNvPr id="6" name="图片 5">
            <a:extLst>
              <a:ext uri="{FF2B5EF4-FFF2-40B4-BE49-F238E27FC236}">
                <a16:creationId xmlns:a16="http://schemas.microsoft.com/office/drawing/2014/main" id="{369BEC99-0622-1BFA-C8D0-59C6CDF10BD3}"/>
              </a:ext>
            </a:extLst>
          </p:cNvPr>
          <p:cNvPicPr>
            <a:picLocks noChangeAspect="1"/>
          </p:cNvPicPr>
          <p:nvPr/>
        </p:nvPicPr>
        <p:blipFill>
          <a:blip r:embed="rId4" cstate="print"/>
          <a:stretch>
            <a:fillRect/>
          </a:stretch>
        </p:blipFill>
        <p:spPr>
          <a:xfrm>
            <a:off x="3613953" y="2422566"/>
            <a:ext cx="1813978" cy="3948547"/>
          </a:xfrm>
          <a:prstGeom prst="rect">
            <a:avLst/>
          </a:prstGeom>
          <a:effectLst>
            <a:outerShdw blurRad="50800" dist="38100" dir="2700000" algn="tl" rotWithShape="0">
              <a:srgbClr val="92D050">
                <a:alpha val="40000"/>
              </a:srgbClr>
            </a:outerShdw>
          </a:effectLst>
        </p:spPr>
      </p:pic>
      <p:pic>
        <p:nvPicPr>
          <p:cNvPr id="7" name="图片 6">
            <a:extLst>
              <a:ext uri="{FF2B5EF4-FFF2-40B4-BE49-F238E27FC236}">
                <a16:creationId xmlns:a16="http://schemas.microsoft.com/office/drawing/2014/main" id="{267D3C9F-55FC-0F89-207D-130679E4CD35}"/>
              </a:ext>
            </a:extLst>
          </p:cNvPr>
          <p:cNvPicPr>
            <a:picLocks noChangeAspect="1"/>
          </p:cNvPicPr>
          <p:nvPr/>
        </p:nvPicPr>
        <p:blipFill>
          <a:blip r:embed="rId5" cstate="print"/>
          <a:stretch>
            <a:fillRect/>
          </a:stretch>
        </p:blipFill>
        <p:spPr>
          <a:xfrm>
            <a:off x="6237841" y="2422566"/>
            <a:ext cx="1832548" cy="3948547"/>
          </a:xfrm>
          <a:prstGeom prst="rect">
            <a:avLst/>
          </a:prstGeom>
          <a:effectLst>
            <a:outerShdw blurRad="50800" dist="38100" dir="2700000" algn="tl" rotWithShape="0">
              <a:srgbClr val="92D050">
                <a:alpha val="40000"/>
              </a:srgbClr>
            </a:outerShdw>
          </a:effectLst>
        </p:spPr>
      </p:pic>
      <p:pic>
        <p:nvPicPr>
          <p:cNvPr id="8" name="图片 7" descr="upload_582340837">
            <a:extLst>
              <a:ext uri="{FF2B5EF4-FFF2-40B4-BE49-F238E27FC236}">
                <a16:creationId xmlns:a16="http://schemas.microsoft.com/office/drawing/2014/main" id="{F2883FB6-5E34-12AB-F01C-5642C8F66E59}"/>
              </a:ext>
            </a:extLst>
          </p:cNvPr>
          <p:cNvPicPr>
            <a:picLocks noChangeAspect="1"/>
          </p:cNvPicPr>
          <p:nvPr/>
        </p:nvPicPr>
        <p:blipFill>
          <a:blip r:embed="rId6" cstate="print"/>
          <a:srcRect t="3993" b="15361"/>
          <a:stretch>
            <a:fillRect/>
          </a:stretch>
        </p:blipFill>
        <p:spPr>
          <a:xfrm>
            <a:off x="9087592" y="2422566"/>
            <a:ext cx="2183191" cy="3948546"/>
          </a:xfrm>
          <a:prstGeom prst="rect">
            <a:avLst/>
          </a:prstGeom>
          <a:effectLst>
            <a:outerShdw blurRad="50800" dist="38100" dir="2700000" algn="tl" rotWithShape="0">
              <a:srgbClr val="92D050">
                <a:alpha val="40000"/>
              </a:srgbClr>
            </a:outerShdw>
          </a:effectLst>
        </p:spPr>
      </p:pic>
      <p:sp>
        <p:nvSpPr>
          <p:cNvPr id="9" name="文本框 8">
            <a:extLst>
              <a:ext uri="{FF2B5EF4-FFF2-40B4-BE49-F238E27FC236}">
                <a16:creationId xmlns:a16="http://schemas.microsoft.com/office/drawing/2014/main" id="{D5F2DBA2-8896-252F-54E1-E423B9629243}"/>
              </a:ext>
            </a:extLst>
          </p:cNvPr>
          <p:cNvSpPr txBox="1"/>
          <p:nvPr/>
        </p:nvSpPr>
        <p:spPr>
          <a:xfrm>
            <a:off x="1064944" y="6521722"/>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10" name="文本框 9">
            <a:extLst>
              <a:ext uri="{FF2B5EF4-FFF2-40B4-BE49-F238E27FC236}">
                <a16:creationId xmlns:a16="http://schemas.microsoft.com/office/drawing/2014/main" id="{29E05869-A6A9-8601-8660-B16AF6A9C28F}"/>
              </a:ext>
            </a:extLst>
          </p:cNvPr>
          <p:cNvSpPr txBox="1"/>
          <p:nvPr/>
        </p:nvSpPr>
        <p:spPr>
          <a:xfrm>
            <a:off x="3916847" y="65191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1" name="文本框 10">
            <a:extLst>
              <a:ext uri="{FF2B5EF4-FFF2-40B4-BE49-F238E27FC236}">
                <a16:creationId xmlns:a16="http://schemas.microsoft.com/office/drawing/2014/main" id="{189EE466-97BB-1303-8085-E25DFD30A150}"/>
              </a:ext>
            </a:extLst>
          </p:cNvPr>
          <p:cNvSpPr txBox="1"/>
          <p:nvPr/>
        </p:nvSpPr>
        <p:spPr>
          <a:xfrm>
            <a:off x="6820573" y="65191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
        <p:nvSpPr>
          <p:cNvPr id="12" name="文本框 11">
            <a:extLst>
              <a:ext uri="{FF2B5EF4-FFF2-40B4-BE49-F238E27FC236}">
                <a16:creationId xmlns:a16="http://schemas.microsoft.com/office/drawing/2014/main" id="{9D99C01E-67FF-6DC9-52ED-AF4B07FACC6C}"/>
              </a:ext>
            </a:extLst>
          </p:cNvPr>
          <p:cNvSpPr txBox="1"/>
          <p:nvPr/>
        </p:nvSpPr>
        <p:spPr>
          <a:xfrm>
            <a:off x="9739580" y="650207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步骤四</a:t>
            </a:r>
          </a:p>
        </p:txBody>
      </p:sp>
      <p:sp>
        <p:nvSpPr>
          <p:cNvPr id="13" name="矩形 12">
            <a:extLst>
              <a:ext uri="{FF2B5EF4-FFF2-40B4-BE49-F238E27FC236}">
                <a16:creationId xmlns:a16="http://schemas.microsoft.com/office/drawing/2014/main" id="{C3CE2990-E241-06A2-9F0E-3D1F712C6D61}"/>
              </a:ext>
            </a:extLst>
          </p:cNvPr>
          <p:cNvSpPr/>
          <p:nvPr/>
        </p:nvSpPr>
        <p:spPr>
          <a:xfrm>
            <a:off x="6191212" y="2953987"/>
            <a:ext cx="629362" cy="4750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Tree>
    <p:extLst>
      <p:ext uri="{BB962C8B-B14F-4D97-AF65-F5344CB8AC3E}">
        <p14:creationId xmlns:p14="http://schemas.microsoft.com/office/powerpoint/2010/main" val="989907332"/>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EF2D6-1273-B555-E30E-312DB88FD14E}"/>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3C6B8E69-D8D4-69CB-8D14-23F72B6321E1}"/>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5C4AC9D6-085E-4D2F-A4BE-AF2F1555A4A4}"/>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分贝通机票改签</a:t>
            </a:r>
          </a:p>
        </p:txBody>
      </p:sp>
      <p:pic>
        <p:nvPicPr>
          <p:cNvPr id="4" name="图片 3">
            <a:extLst>
              <a:ext uri="{FF2B5EF4-FFF2-40B4-BE49-F238E27FC236}">
                <a16:creationId xmlns:a16="http://schemas.microsoft.com/office/drawing/2014/main" id="{5D1B3A61-8D14-2821-A7D2-C2B03409E875}"/>
              </a:ext>
            </a:extLst>
          </p:cNvPr>
          <p:cNvPicPr>
            <a:picLocks noChangeAspect="1"/>
          </p:cNvPicPr>
          <p:nvPr/>
        </p:nvPicPr>
        <p:blipFill>
          <a:blip r:embed="rId3" cstate="print"/>
          <a:stretch>
            <a:fillRect/>
          </a:stretch>
        </p:blipFill>
        <p:spPr>
          <a:xfrm>
            <a:off x="671275" y="2501874"/>
            <a:ext cx="1990967" cy="3962579"/>
          </a:xfrm>
          <a:prstGeom prst="rect">
            <a:avLst/>
          </a:prstGeom>
          <a:ln>
            <a:solidFill>
              <a:schemeClr val="bg2">
                <a:lumMod val="75000"/>
              </a:schemeClr>
            </a:solidFill>
          </a:ln>
          <a:effectLst>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5F7FE5AE-1EB8-75DC-F5B0-11365A338183}"/>
              </a:ext>
            </a:extLst>
          </p:cNvPr>
          <p:cNvPicPr>
            <a:picLocks noChangeAspect="1"/>
          </p:cNvPicPr>
          <p:nvPr/>
        </p:nvPicPr>
        <p:blipFill>
          <a:blip r:embed="rId4" cstate="print"/>
          <a:stretch>
            <a:fillRect/>
          </a:stretch>
        </p:blipFill>
        <p:spPr>
          <a:xfrm>
            <a:off x="3590203" y="2494228"/>
            <a:ext cx="1823937" cy="3970225"/>
          </a:xfrm>
          <a:prstGeom prst="rect">
            <a:avLst/>
          </a:prstGeom>
          <a:ln>
            <a:solidFill>
              <a:schemeClr val="bg2">
                <a:lumMod val="75000"/>
              </a:schemeClr>
            </a:solidFill>
          </a:ln>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9057761E-A8D6-6B7A-D9A6-75F3EC6CCF52}"/>
              </a:ext>
            </a:extLst>
          </p:cNvPr>
          <p:cNvPicPr>
            <a:picLocks noChangeAspect="1"/>
          </p:cNvPicPr>
          <p:nvPr/>
        </p:nvPicPr>
        <p:blipFill>
          <a:blip r:embed="rId5" cstate="print"/>
          <a:stretch>
            <a:fillRect/>
          </a:stretch>
        </p:blipFill>
        <p:spPr>
          <a:xfrm>
            <a:off x="6169743" y="2501875"/>
            <a:ext cx="1839059" cy="3962576"/>
          </a:xfrm>
          <a:prstGeom prst="rect">
            <a:avLst/>
          </a:prstGeom>
          <a:ln>
            <a:solidFill>
              <a:schemeClr val="bg2">
                <a:lumMod val="75000"/>
              </a:schemeClr>
            </a:solidFill>
          </a:ln>
          <a:effectLst>
            <a:outerShdw blurRad="50800" dist="38100" dir="2700000" algn="tl" rotWithShape="0">
              <a:prstClr val="black">
                <a:alpha val="40000"/>
              </a:prstClr>
            </a:outerShdw>
          </a:effectLst>
        </p:spPr>
      </p:pic>
      <p:pic>
        <p:nvPicPr>
          <p:cNvPr id="7" name="图片 6">
            <a:extLst>
              <a:ext uri="{FF2B5EF4-FFF2-40B4-BE49-F238E27FC236}">
                <a16:creationId xmlns:a16="http://schemas.microsoft.com/office/drawing/2014/main" id="{726C79D9-4E8F-25CC-BD8B-44DEE53883EB}"/>
              </a:ext>
            </a:extLst>
          </p:cNvPr>
          <p:cNvPicPr/>
          <p:nvPr/>
        </p:nvPicPr>
        <p:blipFill rotWithShape="1">
          <a:blip r:embed="rId6" cstate="screen"/>
          <a:srcRect/>
          <a:stretch>
            <a:fillRect/>
          </a:stretch>
        </p:blipFill>
        <p:spPr>
          <a:xfrm>
            <a:off x="8846228" y="2499138"/>
            <a:ext cx="1724625" cy="4002941"/>
          </a:xfrm>
          <a:prstGeom prst="rect">
            <a:avLst/>
          </a:prstGeom>
          <a:ln>
            <a:solidFill>
              <a:schemeClr val="bg2">
                <a:lumMod val="75000"/>
              </a:schemeClr>
            </a:solidFill>
          </a:ln>
          <a:effectLst>
            <a:outerShdw blurRad="50800" dist="38100" dir="2700000" algn="tl" rotWithShape="0">
              <a:prstClr val="black">
                <a:alpha val="40000"/>
              </a:prstClr>
            </a:outerShdw>
          </a:effectLst>
        </p:spPr>
      </p:pic>
      <p:sp>
        <p:nvSpPr>
          <p:cNvPr id="8" name="文本框 7">
            <a:extLst>
              <a:ext uri="{FF2B5EF4-FFF2-40B4-BE49-F238E27FC236}">
                <a16:creationId xmlns:a16="http://schemas.microsoft.com/office/drawing/2014/main" id="{43506A34-C89B-D6AB-1950-35BD2CFA7497}"/>
              </a:ext>
            </a:extLst>
          </p:cNvPr>
          <p:cNvSpPr txBox="1"/>
          <p:nvPr/>
        </p:nvSpPr>
        <p:spPr>
          <a:xfrm>
            <a:off x="1064944" y="6521722"/>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9" name="文本框 8">
            <a:extLst>
              <a:ext uri="{FF2B5EF4-FFF2-40B4-BE49-F238E27FC236}">
                <a16:creationId xmlns:a16="http://schemas.microsoft.com/office/drawing/2014/main" id="{1BDE807F-85B7-2A99-4681-D45B8E923168}"/>
              </a:ext>
            </a:extLst>
          </p:cNvPr>
          <p:cNvSpPr txBox="1"/>
          <p:nvPr/>
        </p:nvSpPr>
        <p:spPr>
          <a:xfrm>
            <a:off x="3916847" y="65191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0" name="文本框 9">
            <a:extLst>
              <a:ext uri="{FF2B5EF4-FFF2-40B4-BE49-F238E27FC236}">
                <a16:creationId xmlns:a16="http://schemas.microsoft.com/office/drawing/2014/main" id="{EFA12CDB-41A9-6EB8-39FA-0E5C25251187}"/>
              </a:ext>
            </a:extLst>
          </p:cNvPr>
          <p:cNvSpPr txBox="1"/>
          <p:nvPr/>
        </p:nvSpPr>
        <p:spPr>
          <a:xfrm>
            <a:off x="6612609" y="65191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
        <p:nvSpPr>
          <p:cNvPr id="11" name="文本框 10">
            <a:extLst>
              <a:ext uri="{FF2B5EF4-FFF2-40B4-BE49-F238E27FC236}">
                <a16:creationId xmlns:a16="http://schemas.microsoft.com/office/drawing/2014/main" id="{D9892221-C141-6E02-2F23-C10D328A87E1}"/>
              </a:ext>
            </a:extLst>
          </p:cNvPr>
          <p:cNvSpPr txBox="1"/>
          <p:nvPr/>
        </p:nvSpPr>
        <p:spPr>
          <a:xfrm>
            <a:off x="9292903" y="65194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步骤四</a:t>
            </a:r>
          </a:p>
        </p:txBody>
      </p:sp>
      <p:sp>
        <p:nvSpPr>
          <p:cNvPr id="12" name="矩形 11">
            <a:extLst>
              <a:ext uri="{FF2B5EF4-FFF2-40B4-BE49-F238E27FC236}">
                <a16:creationId xmlns:a16="http://schemas.microsoft.com/office/drawing/2014/main" id="{CD9673DC-3543-DC90-1FF7-6509C1470665}"/>
              </a:ext>
            </a:extLst>
          </p:cNvPr>
          <p:cNvSpPr/>
          <p:nvPr/>
        </p:nvSpPr>
        <p:spPr>
          <a:xfrm>
            <a:off x="269502" y="973015"/>
            <a:ext cx="11652995" cy="1526123"/>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填写改签理由后自助改期：自愿改期：因乘机人原因自愿改期   </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                                        </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非自愿改签：需联系分贝通客服进行线下改签</a:t>
            </a: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在线提交改期申请后，改期费和航班信息仅供参考，如果发生变价分贝通客服人员会通过电话回复的方式告知机票的最终改期费用和座位情况</a:t>
            </a:r>
          </a:p>
        </p:txBody>
      </p:sp>
      <p:sp>
        <p:nvSpPr>
          <p:cNvPr id="13" name="矩形 12">
            <a:extLst>
              <a:ext uri="{FF2B5EF4-FFF2-40B4-BE49-F238E27FC236}">
                <a16:creationId xmlns:a16="http://schemas.microsoft.com/office/drawing/2014/main" id="{C49C3B70-54F2-8A77-F6E6-2EA15724EF8A}"/>
              </a:ext>
            </a:extLst>
          </p:cNvPr>
          <p:cNvSpPr/>
          <p:nvPr/>
        </p:nvSpPr>
        <p:spPr>
          <a:xfrm>
            <a:off x="6774591" y="3116232"/>
            <a:ext cx="629362" cy="4750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Tree>
    <p:extLst>
      <p:ext uri="{BB962C8B-B14F-4D97-AF65-F5344CB8AC3E}">
        <p14:creationId xmlns:p14="http://schemas.microsoft.com/office/powerpoint/2010/main" val="1494812061"/>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95D3-7481-3B06-79A8-831767310EDB}"/>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DE52D9D7-D06A-0206-560A-5FFA24894A4F}"/>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DB14CBE6-A845-AF88-2F4E-0A3F9222E882}"/>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分贝通出差使用网约车</a:t>
            </a:r>
          </a:p>
        </p:txBody>
      </p:sp>
      <p:pic>
        <p:nvPicPr>
          <p:cNvPr id="4" name="图片 3">
            <a:extLst>
              <a:ext uri="{FF2B5EF4-FFF2-40B4-BE49-F238E27FC236}">
                <a16:creationId xmlns:a16="http://schemas.microsoft.com/office/drawing/2014/main" id="{405E5951-A6C6-692A-1FAF-6AB92CB98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1934" y="1732255"/>
            <a:ext cx="2201457" cy="4769824"/>
          </a:xfrm>
          <a:prstGeom prst="rect">
            <a:avLst/>
          </a:prstGeom>
          <a:effectLst>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B0BA21ED-2DB2-F0E0-F298-A988EACE93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311" y="1732256"/>
            <a:ext cx="2201457" cy="4769823"/>
          </a:xfrm>
          <a:prstGeom prst="rect">
            <a:avLst/>
          </a:prstGeom>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658710F5-4E58-D5C0-DF2C-BDA8EDF7B655}"/>
              </a:ext>
            </a:extLst>
          </p:cNvPr>
          <p:cNvPicPr>
            <a:picLocks noChangeAspect="1"/>
          </p:cNvPicPr>
          <p:nvPr/>
        </p:nvPicPr>
        <p:blipFill>
          <a:blip r:embed="rId5"/>
          <a:stretch>
            <a:fillRect/>
          </a:stretch>
        </p:blipFill>
        <p:spPr>
          <a:xfrm>
            <a:off x="5720782" y="2785316"/>
            <a:ext cx="5741931" cy="2392471"/>
          </a:xfrm>
          <a:prstGeom prst="rect">
            <a:avLst/>
          </a:prstGeom>
        </p:spPr>
      </p:pic>
      <p:pic>
        <p:nvPicPr>
          <p:cNvPr id="7" name="图片 6">
            <a:extLst>
              <a:ext uri="{FF2B5EF4-FFF2-40B4-BE49-F238E27FC236}">
                <a16:creationId xmlns:a16="http://schemas.microsoft.com/office/drawing/2014/main" id="{DA293C72-9389-38D0-8E65-AC6077D5B5DD}"/>
              </a:ext>
            </a:extLst>
          </p:cNvPr>
          <p:cNvPicPr>
            <a:picLocks noChangeAspect="1"/>
          </p:cNvPicPr>
          <p:nvPr/>
        </p:nvPicPr>
        <p:blipFill>
          <a:blip r:embed="rId6"/>
          <a:stretch>
            <a:fillRect/>
          </a:stretch>
        </p:blipFill>
        <p:spPr>
          <a:xfrm>
            <a:off x="8109302" y="2785316"/>
            <a:ext cx="2787489" cy="3280850"/>
          </a:xfrm>
          <a:prstGeom prst="rect">
            <a:avLst/>
          </a:prstGeom>
        </p:spPr>
      </p:pic>
      <p:sp>
        <p:nvSpPr>
          <p:cNvPr id="8" name="矩形 7">
            <a:extLst>
              <a:ext uri="{FF2B5EF4-FFF2-40B4-BE49-F238E27FC236}">
                <a16:creationId xmlns:a16="http://schemas.microsoft.com/office/drawing/2014/main" id="{3D186429-571C-2856-D3D2-5F9785FC97FB}"/>
              </a:ext>
            </a:extLst>
          </p:cNvPr>
          <p:cNvSpPr/>
          <p:nvPr/>
        </p:nvSpPr>
        <p:spPr>
          <a:xfrm>
            <a:off x="359311" y="984891"/>
            <a:ext cx="10829270" cy="787460"/>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商务消费</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用车</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出差，出差申请单选择了分贝通网约车</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出差用车，可以直接关联申请单用车</a:t>
            </a:r>
            <a:endPar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rgbClr val="C00000"/>
                </a:solidFill>
                <a:latin typeface="微软雅黑" panose="020B0503020204020204" pitchFamily="34" charset="-122"/>
                <a:ea typeface="微软雅黑" panose="020B0503020204020204" pitchFamily="34" charset="-122"/>
                <a:sym typeface="+mn-ea"/>
              </a:rPr>
              <a:t>注：出差使用网约车无需拿票</a:t>
            </a:r>
            <a:endParaRPr lang="en-US" altLang="zh-CN" sz="1600" b="1" dirty="0">
              <a:solidFill>
                <a:srgbClr val="C00000"/>
              </a:solidFill>
              <a:latin typeface="微软雅黑" panose="020B0503020204020204" pitchFamily="34" charset="-122"/>
              <a:ea typeface="微软雅黑" panose="020B0503020204020204" pitchFamily="34" charset="-122"/>
              <a:sym typeface="+mn-ea"/>
            </a:endParaRPr>
          </a:p>
        </p:txBody>
      </p:sp>
      <p:sp>
        <p:nvSpPr>
          <p:cNvPr id="9" name="矩形 8">
            <a:extLst>
              <a:ext uri="{FF2B5EF4-FFF2-40B4-BE49-F238E27FC236}">
                <a16:creationId xmlns:a16="http://schemas.microsoft.com/office/drawing/2014/main" id="{CD120D50-89DF-7C1D-E9CB-F2E5C76D6E5B}"/>
              </a:ext>
            </a:extLst>
          </p:cNvPr>
          <p:cNvSpPr/>
          <p:nvPr/>
        </p:nvSpPr>
        <p:spPr>
          <a:xfrm>
            <a:off x="1564298" y="2574308"/>
            <a:ext cx="629362" cy="4750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0" name="矩形 9">
            <a:extLst>
              <a:ext uri="{FF2B5EF4-FFF2-40B4-BE49-F238E27FC236}">
                <a16:creationId xmlns:a16="http://schemas.microsoft.com/office/drawing/2014/main" id="{1DA8E360-B350-DC9E-167A-CF477B7EE7B1}"/>
              </a:ext>
            </a:extLst>
          </p:cNvPr>
          <p:cNvSpPr/>
          <p:nvPr/>
        </p:nvSpPr>
        <p:spPr>
          <a:xfrm>
            <a:off x="3221934" y="4295898"/>
            <a:ext cx="629362" cy="4750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6F124B97-2AFD-95E8-04B3-71DCFC8C253D}"/>
              </a:ext>
            </a:extLst>
          </p:cNvPr>
          <p:cNvSpPr txBox="1"/>
          <p:nvPr/>
        </p:nvSpPr>
        <p:spPr>
          <a:xfrm>
            <a:off x="1064944" y="6521722"/>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12" name="文本框 11">
            <a:extLst>
              <a:ext uri="{FF2B5EF4-FFF2-40B4-BE49-F238E27FC236}">
                <a16:creationId xmlns:a16="http://schemas.microsoft.com/office/drawing/2014/main" id="{952D52CE-F859-9F83-D7FA-6D19B2A7E89F}"/>
              </a:ext>
            </a:extLst>
          </p:cNvPr>
          <p:cNvSpPr txBox="1"/>
          <p:nvPr/>
        </p:nvSpPr>
        <p:spPr>
          <a:xfrm>
            <a:off x="3916847" y="65191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3" name="文本框 12">
            <a:extLst>
              <a:ext uri="{FF2B5EF4-FFF2-40B4-BE49-F238E27FC236}">
                <a16:creationId xmlns:a16="http://schemas.microsoft.com/office/drawing/2014/main" id="{B68DEFCD-D1F6-8862-2CF6-B0CC64226F56}"/>
              </a:ext>
            </a:extLst>
          </p:cNvPr>
          <p:cNvSpPr txBox="1"/>
          <p:nvPr/>
        </p:nvSpPr>
        <p:spPr>
          <a:xfrm>
            <a:off x="6612609" y="65191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Tree>
    <p:extLst>
      <p:ext uri="{BB962C8B-B14F-4D97-AF65-F5344CB8AC3E}">
        <p14:creationId xmlns:p14="http://schemas.microsoft.com/office/powerpoint/2010/main" val="3103254178"/>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E6071-1D4A-4F2B-EBD8-3286303BBAF9}"/>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0B3EA662-40E5-8AE0-FB27-21419FA4F3AA}"/>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1074992C-1BEF-6B68-DC2E-7B1E16558AD7}"/>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分贝通员工内部聚餐（分贝通申请）</a:t>
            </a:r>
          </a:p>
        </p:txBody>
      </p:sp>
      <p:sp>
        <p:nvSpPr>
          <p:cNvPr id="15" name="文本框 14">
            <a:extLst>
              <a:ext uri="{FF2B5EF4-FFF2-40B4-BE49-F238E27FC236}">
                <a16:creationId xmlns:a16="http://schemas.microsoft.com/office/drawing/2014/main" id="{D33D5400-BB01-BC11-3BAE-F5C0FEF59A89}"/>
              </a:ext>
            </a:extLst>
          </p:cNvPr>
          <p:cNvSpPr txBox="1"/>
          <p:nvPr/>
        </p:nvSpPr>
        <p:spPr>
          <a:xfrm>
            <a:off x="1028700" y="6502079"/>
            <a:ext cx="1231900" cy="369332"/>
          </a:xfrm>
          <a:prstGeom prst="rect">
            <a:avLst/>
          </a:prstGeom>
          <a:noFill/>
        </p:spPr>
        <p:txBody>
          <a:bodyPr wrap="square" rtlCol="0">
            <a:spAutoFit/>
          </a:bodyPr>
          <a:lstStyle/>
          <a:p>
            <a:pPr algn="ctr"/>
            <a:r>
              <a:rPr kumimoji="1" lang="zh-CN" altLang="en-US" dirty="0"/>
              <a:t>第一步</a:t>
            </a:r>
          </a:p>
        </p:txBody>
      </p:sp>
      <p:sp>
        <p:nvSpPr>
          <p:cNvPr id="16" name="文本框 15">
            <a:extLst>
              <a:ext uri="{FF2B5EF4-FFF2-40B4-BE49-F238E27FC236}">
                <a16:creationId xmlns:a16="http://schemas.microsoft.com/office/drawing/2014/main" id="{83A31B90-46FD-0E68-20E4-8A10D667244A}"/>
              </a:ext>
            </a:extLst>
          </p:cNvPr>
          <p:cNvSpPr txBox="1"/>
          <p:nvPr/>
        </p:nvSpPr>
        <p:spPr>
          <a:xfrm>
            <a:off x="3610439" y="6502079"/>
            <a:ext cx="1231900" cy="369332"/>
          </a:xfrm>
          <a:prstGeom prst="rect">
            <a:avLst/>
          </a:prstGeom>
          <a:noFill/>
        </p:spPr>
        <p:txBody>
          <a:bodyPr wrap="square" rtlCol="0">
            <a:spAutoFit/>
          </a:bodyPr>
          <a:lstStyle/>
          <a:p>
            <a:pPr algn="ctr"/>
            <a:r>
              <a:rPr kumimoji="1" lang="zh-CN" altLang="en-US" dirty="0"/>
              <a:t>第二步</a:t>
            </a:r>
          </a:p>
        </p:txBody>
      </p:sp>
      <p:sp>
        <p:nvSpPr>
          <p:cNvPr id="17" name="文本框 16">
            <a:extLst>
              <a:ext uri="{FF2B5EF4-FFF2-40B4-BE49-F238E27FC236}">
                <a16:creationId xmlns:a16="http://schemas.microsoft.com/office/drawing/2014/main" id="{41B3651B-F00A-B253-2C15-D58AC29DC93D}"/>
              </a:ext>
            </a:extLst>
          </p:cNvPr>
          <p:cNvSpPr txBox="1"/>
          <p:nvPr/>
        </p:nvSpPr>
        <p:spPr>
          <a:xfrm>
            <a:off x="6187085" y="6534024"/>
            <a:ext cx="1231900" cy="369332"/>
          </a:xfrm>
          <a:prstGeom prst="rect">
            <a:avLst/>
          </a:prstGeom>
          <a:noFill/>
        </p:spPr>
        <p:txBody>
          <a:bodyPr wrap="square" rtlCol="0">
            <a:spAutoFit/>
          </a:bodyPr>
          <a:lstStyle/>
          <a:p>
            <a:pPr algn="ctr"/>
            <a:r>
              <a:rPr kumimoji="1" lang="zh-CN" altLang="en-US" dirty="0"/>
              <a:t>第三步</a:t>
            </a:r>
          </a:p>
        </p:txBody>
      </p:sp>
      <p:sp>
        <p:nvSpPr>
          <p:cNvPr id="18" name="文本框 17">
            <a:extLst>
              <a:ext uri="{FF2B5EF4-FFF2-40B4-BE49-F238E27FC236}">
                <a16:creationId xmlns:a16="http://schemas.microsoft.com/office/drawing/2014/main" id="{EA27059E-FB4C-3820-1DF0-E701A366ECDD}"/>
              </a:ext>
            </a:extLst>
          </p:cNvPr>
          <p:cNvSpPr txBox="1"/>
          <p:nvPr/>
        </p:nvSpPr>
        <p:spPr>
          <a:xfrm>
            <a:off x="8759878" y="6534024"/>
            <a:ext cx="1231900" cy="369332"/>
          </a:xfrm>
          <a:prstGeom prst="rect">
            <a:avLst/>
          </a:prstGeom>
          <a:noFill/>
        </p:spPr>
        <p:txBody>
          <a:bodyPr wrap="square" rtlCol="0">
            <a:spAutoFit/>
          </a:bodyPr>
          <a:lstStyle/>
          <a:p>
            <a:pPr algn="ctr"/>
            <a:r>
              <a:rPr kumimoji="1" lang="zh-CN" altLang="en-US" dirty="0"/>
              <a:t>第四步</a:t>
            </a:r>
          </a:p>
        </p:txBody>
      </p:sp>
      <p:pic>
        <p:nvPicPr>
          <p:cNvPr id="20" name="图片 19">
            <a:extLst>
              <a:ext uri="{FF2B5EF4-FFF2-40B4-BE49-F238E27FC236}">
                <a16:creationId xmlns:a16="http://schemas.microsoft.com/office/drawing/2014/main" id="{96EB2485-A984-5FBA-2F4F-7CBE541E9E16}"/>
              </a:ext>
            </a:extLst>
          </p:cNvPr>
          <p:cNvPicPr>
            <a:picLocks noChangeAspect="1"/>
          </p:cNvPicPr>
          <p:nvPr/>
        </p:nvPicPr>
        <p:blipFill>
          <a:blip r:embed="rId3"/>
          <a:stretch>
            <a:fillRect/>
          </a:stretch>
        </p:blipFill>
        <p:spPr>
          <a:xfrm>
            <a:off x="8420920" y="2237638"/>
            <a:ext cx="2004343" cy="4264440"/>
          </a:xfrm>
          <a:prstGeom prst="rect">
            <a:avLst/>
          </a:prstGeom>
        </p:spPr>
      </p:pic>
      <p:pic>
        <p:nvPicPr>
          <p:cNvPr id="21" name="图片 20">
            <a:extLst>
              <a:ext uri="{FF2B5EF4-FFF2-40B4-BE49-F238E27FC236}">
                <a16:creationId xmlns:a16="http://schemas.microsoft.com/office/drawing/2014/main" id="{3661D612-0E63-F8C3-E4E2-2ADAF4478142}"/>
              </a:ext>
            </a:extLst>
          </p:cNvPr>
          <p:cNvPicPr>
            <a:picLocks noChangeAspect="1"/>
          </p:cNvPicPr>
          <p:nvPr/>
        </p:nvPicPr>
        <p:blipFill>
          <a:blip r:embed="rId4"/>
          <a:stretch>
            <a:fillRect/>
          </a:stretch>
        </p:blipFill>
        <p:spPr>
          <a:xfrm>
            <a:off x="5803554" y="2237638"/>
            <a:ext cx="2004342" cy="4352437"/>
          </a:xfrm>
          <a:prstGeom prst="rect">
            <a:avLst/>
          </a:prstGeom>
        </p:spPr>
      </p:pic>
      <p:pic>
        <p:nvPicPr>
          <p:cNvPr id="23" name="图片 22">
            <a:extLst>
              <a:ext uri="{FF2B5EF4-FFF2-40B4-BE49-F238E27FC236}">
                <a16:creationId xmlns:a16="http://schemas.microsoft.com/office/drawing/2014/main" id="{76A177FF-4246-9A12-E076-94EA376D6DED}"/>
              </a:ext>
            </a:extLst>
          </p:cNvPr>
          <p:cNvPicPr>
            <a:picLocks noChangeAspect="1"/>
          </p:cNvPicPr>
          <p:nvPr/>
        </p:nvPicPr>
        <p:blipFill>
          <a:blip r:embed="rId5"/>
          <a:stretch>
            <a:fillRect/>
          </a:stretch>
        </p:blipFill>
        <p:spPr>
          <a:xfrm>
            <a:off x="649759" y="2237638"/>
            <a:ext cx="1972887" cy="4268515"/>
          </a:xfrm>
          <a:prstGeom prst="rect">
            <a:avLst/>
          </a:prstGeom>
        </p:spPr>
      </p:pic>
      <p:pic>
        <p:nvPicPr>
          <p:cNvPr id="24" name="图片 23">
            <a:extLst>
              <a:ext uri="{FF2B5EF4-FFF2-40B4-BE49-F238E27FC236}">
                <a16:creationId xmlns:a16="http://schemas.microsoft.com/office/drawing/2014/main" id="{E877A006-0CFE-73A3-DA93-40BBDFE82D0C}"/>
              </a:ext>
            </a:extLst>
          </p:cNvPr>
          <p:cNvPicPr>
            <a:picLocks noChangeAspect="1"/>
          </p:cNvPicPr>
          <p:nvPr/>
        </p:nvPicPr>
        <p:blipFill>
          <a:blip r:embed="rId6"/>
          <a:stretch>
            <a:fillRect/>
          </a:stretch>
        </p:blipFill>
        <p:spPr>
          <a:xfrm>
            <a:off x="3262247" y="2237639"/>
            <a:ext cx="1928283" cy="4133473"/>
          </a:xfrm>
          <a:prstGeom prst="rect">
            <a:avLst/>
          </a:prstGeom>
        </p:spPr>
      </p:pic>
      <p:sp>
        <p:nvSpPr>
          <p:cNvPr id="25" name="文本框 24">
            <a:extLst>
              <a:ext uri="{FF2B5EF4-FFF2-40B4-BE49-F238E27FC236}">
                <a16:creationId xmlns:a16="http://schemas.microsoft.com/office/drawing/2014/main" id="{0E2848D1-6173-9FE3-33C2-A1A24EBEFB2F}"/>
              </a:ext>
            </a:extLst>
          </p:cNvPr>
          <p:cNvSpPr txBox="1"/>
          <p:nvPr/>
        </p:nvSpPr>
        <p:spPr>
          <a:xfrm>
            <a:off x="649759" y="1138989"/>
            <a:ext cx="10515546" cy="923330"/>
          </a:xfrm>
          <a:prstGeom prst="rect">
            <a:avLst/>
          </a:prstGeom>
          <a:noFill/>
        </p:spPr>
        <p:txBody>
          <a:bodyPr wrap="squar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在用餐前请务必在分贝通上搜索聚餐的商家是否是美团合作商家。如果不是，请更换用餐地点</a:t>
            </a:r>
            <a:endParaRPr kumimoji="1" lang="en-US" altLang="zh-CN" dirty="0">
              <a:solidFill>
                <a:srgbClr val="FF0000"/>
              </a:solidFill>
              <a:latin typeface="Microsoft YaHei" panose="020B0503020204020204" pitchFamily="34" charset="-122"/>
              <a:ea typeface="Microsoft YaHei" panose="020B0503020204020204" pitchFamily="34" charset="-122"/>
            </a:endParaRPr>
          </a:p>
          <a:p>
            <a:r>
              <a:rPr kumimoji="1" lang="zh-CN" altLang="en-US" dirty="0">
                <a:latin typeface="Microsoft YaHei" panose="020B0503020204020204" pitchFamily="34" charset="-122"/>
                <a:ea typeface="Microsoft YaHei" panose="020B0503020204020204" pitchFamily="34" charset="-122"/>
              </a:rPr>
              <a:t>如何检查：如下步骤操作。</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点击首页上的用餐。</a:t>
            </a:r>
            <a:r>
              <a:rPr kumimoji="1" lang="en-US" altLang="zh-CN" dirty="0">
                <a:latin typeface="Microsoft YaHei" panose="020B0503020204020204" pitchFamily="34" charset="-122"/>
                <a:ea typeface="Microsoft YaHei" panose="020B0503020204020204" pitchFamily="34" charset="-122"/>
              </a:rPr>
              <a:t>2.</a:t>
            </a:r>
            <a:r>
              <a:rPr kumimoji="1" lang="zh-CN" altLang="en-US" dirty="0">
                <a:latin typeface="Microsoft YaHei" panose="020B0503020204020204" pitchFamily="34" charset="-122"/>
                <a:ea typeface="Microsoft YaHei" panose="020B0503020204020204" pitchFamily="34" charset="-122"/>
              </a:rPr>
              <a:t>点击美团按钮。</a:t>
            </a:r>
            <a:r>
              <a:rPr kumimoji="1" lang="en-US" altLang="zh-CN" dirty="0">
                <a:latin typeface="Microsoft YaHei" panose="020B0503020204020204" pitchFamily="34" charset="-122"/>
                <a:ea typeface="Microsoft YaHei" panose="020B0503020204020204" pitchFamily="34" charset="-122"/>
              </a:rPr>
              <a:t>3.</a:t>
            </a:r>
            <a:r>
              <a:rPr kumimoji="1" lang="zh-CN" altLang="en-US" dirty="0">
                <a:latin typeface="Microsoft YaHei" panose="020B0503020204020204" pitchFamily="34" charset="-122"/>
                <a:ea typeface="Microsoft YaHei" panose="020B0503020204020204" pitchFamily="34" charset="-122"/>
              </a:rPr>
              <a:t>登陆美团账号。</a:t>
            </a:r>
            <a:r>
              <a:rPr kumimoji="1" lang="en-US" altLang="zh-CN" dirty="0">
                <a:latin typeface="Microsoft YaHei" panose="020B0503020204020204" pitchFamily="34" charset="-122"/>
                <a:ea typeface="Microsoft YaHei" panose="020B0503020204020204" pitchFamily="34" charset="-122"/>
              </a:rPr>
              <a:t>4.</a:t>
            </a:r>
            <a:r>
              <a:rPr kumimoji="1" lang="zh-CN" altLang="en-US" dirty="0">
                <a:latin typeface="Microsoft YaHei" panose="020B0503020204020204" pitchFamily="34" charset="-122"/>
                <a:ea typeface="Microsoft YaHei" panose="020B0503020204020204" pitchFamily="34" charset="-122"/>
              </a:rPr>
              <a:t>搜索店家，如果显示则表示为美团合作商家，如果搜索不到则表示非美团合作商家，请更换用餐地点。</a:t>
            </a:r>
          </a:p>
        </p:txBody>
      </p:sp>
    </p:spTree>
    <p:extLst>
      <p:ext uri="{BB962C8B-B14F-4D97-AF65-F5344CB8AC3E}">
        <p14:creationId xmlns:p14="http://schemas.microsoft.com/office/powerpoint/2010/main" val="1081470028"/>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E6071-1D4A-4F2B-EBD8-3286303BBAF9}"/>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0B3EA662-40E5-8AE0-FB27-21419FA4F3AA}"/>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1074992C-1BEF-6B68-DC2E-7B1E16558AD7}"/>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分贝通员工内部聚餐（分贝通申请</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美团）</a:t>
            </a:r>
          </a:p>
        </p:txBody>
      </p:sp>
      <p:sp>
        <p:nvSpPr>
          <p:cNvPr id="15" name="文本框 14">
            <a:extLst>
              <a:ext uri="{FF2B5EF4-FFF2-40B4-BE49-F238E27FC236}">
                <a16:creationId xmlns:a16="http://schemas.microsoft.com/office/drawing/2014/main" id="{D33D5400-BB01-BC11-3BAE-F5C0FEF59A89}"/>
              </a:ext>
            </a:extLst>
          </p:cNvPr>
          <p:cNvSpPr txBox="1"/>
          <p:nvPr/>
        </p:nvSpPr>
        <p:spPr>
          <a:xfrm>
            <a:off x="1028700" y="6502079"/>
            <a:ext cx="1231900" cy="369332"/>
          </a:xfrm>
          <a:prstGeom prst="rect">
            <a:avLst/>
          </a:prstGeom>
          <a:noFill/>
        </p:spPr>
        <p:txBody>
          <a:bodyPr wrap="square" rtlCol="0">
            <a:spAutoFit/>
          </a:bodyPr>
          <a:lstStyle/>
          <a:p>
            <a:pPr algn="ctr"/>
            <a:r>
              <a:rPr kumimoji="1" lang="zh-CN" altLang="en-US" dirty="0"/>
              <a:t>第一步</a:t>
            </a:r>
          </a:p>
        </p:txBody>
      </p:sp>
      <p:sp>
        <p:nvSpPr>
          <p:cNvPr id="16" name="文本框 15">
            <a:extLst>
              <a:ext uri="{FF2B5EF4-FFF2-40B4-BE49-F238E27FC236}">
                <a16:creationId xmlns:a16="http://schemas.microsoft.com/office/drawing/2014/main" id="{83A31B90-46FD-0E68-20E4-8A10D667244A}"/>
              </a:ext>
            </a:extLst>
          </p:cNvPr>
          <p:cNvSpPr txBox="1"/>
          <p:nvPr/>
        </p:nvSpPr>
        <p:spPr>
          <a:xfrm>
            <a:off x="3610439" y="6502079"/>
            <a:ext cx="1231900" cy="369332"/>
          </a:xfrm>
          <a:prstGeom prst="rect">
            <a:avLst/>
          </a:prstGeom>
          <a:noFill/>
        </p:spPr>
        <p:txBody>
          <a:bodyPr wrap="square" rtlCol="0">
            <a:spAutoFit/>
          </a:bodyPr>
          <a:lstStyle/>
          <a:p>
            <a:pPr algn="ctr"/>
            <a:r>
              <a:rPr kumimoji="1" lang="zh-CN" altLang="en-US" dirty="0"/>
              <a:t>第二步</a:t>
            </a:r>
          </a:p>
        </p:txBody>
      </p:sp>
      <p:sp>
        <p:nvSpPr>
          <p:cNvPr id="17" name="文本框 16">
            <a:extLst>
              <a:ext uri="{FF2B5EF4-FFF2-40B4-BE49-F238E27FC236}">
                <a16:creationId xmlns:a16="http://schemas.microsoft.com/office/drawing/2014/main" id="{41B3651B-F00A-B253-2C15-D58AC29DC93D}"/>
              </a:ext>
            </a:extLst>
          </p:cNvPr>
          <p:cNvSpPr txBox="1"/>
          <p:nvPr/>
        </p:nvSpPr>
        <p:spPr>
          <a:xfrm>
            <a:off x="6187085" y="6534024"/>
            <a:ext cx="1231900" cy="369332"/>
          </a:xfrm>
          <a:prstGeom prst="rect">
            <a:avLst/>
          </a:prstGeom>
          <a:noFill/>
        </p:spPr>
        <p:txBody>
          <a:bodyPr wrap="square" rtlCol="0">
            <a:spAutoFit/>
          </a:bodyPr>
          <a:lstStyle/>
          <a:p>
            <a:pPr algn="ctr"/>
            <a:r>
              <a:rPr kumimoji="1" lang="zh-CN" altLang="en-US" dirty="0"/>
              <a:t>第三步</a:t>
            </a:r>
          </a:p>
        </p:txBody>
      </p:sp>
      <p:sp>
        <p:nvSpPr>
          <p:cNvPr id="18" name="文本框 17">
            <a:extLst>
              <a:ext uri="{FF2B5EF4-FFF2-40B4-BE49-F238E27FC236}">
                <a16:creationId xmlns:a16="http://schemas.microsoft.com/office/drawing/2014/main" id="{EA27059E-FB4C-3820-1DF0-E701A366ECDD}"/>
              </a:ext>
            </a:extLst>
          </p:cNvPr>
          <p:cNvSpPr txBox="1"/>
          <p:nvPr/>
        </p:nvSpPr>
        <p:spPr>
          <a:xfrm>
            <a:off x="8759878" y="6534024"/>
            <a:ext cx="1231900" cy="369332"/>
          </a:xfrm>
          <a:prstGeom prst="rect">
            <a:avLst/>
          </a:prstGeom>
          <a:noFill/>
        </p:spPr>
        <p:txBody>
          <a:bodyPr wrap="square" rtlCol="0">
            <a:spAutoFit/>
          </a:bodyPr>
          <a:lstStyle/>
          <a:p>
            <a:pPr algn="ctr"/>
            <a:r>
              <a:rPr kumimoji="1" lang="zh-CN" altLang="en-US" dirty="0"/>
              <a:t>第四步</a:t>
            </a:r>
          </a:p>
        </p:txBody>
      </p:sp>
      <p:pic>
        <p:nvPicPr>
          <p:cNvPr id="20" name="图片 19">
            <a:extLst>
              <a:ext uri="{FF2B5EF4-FFF2-40B4-BE49-F238E27FC236}">
                <a16:creationId xmlns:a16="http://schemas.microsoft.com/office/drawing/2014/main" id="{96EB2485-A984-5FBA-2F4F-7CBE541E9E16}"/>
              </a:ext>
            </a:extLst>
          </p:cNvPr>
          <p:cNvPicPr>
            <a:picLocks noChangeAspect="1"/>
          </p:cNvPicPr>
          <p:nvPr/>
        </p:nvPicPr>
        <p:blipFill>
          <a:blip r:embed="rId3"/>
          <a:stretch>
            <a:fillRect/>
          </a:stretch>
        </p:blipFill>
        <p:spPr>
          <a:xfrm>
            <a:off x="8420920" y="2237638"/>
            <a:ext cx="2004343" cy="4264440"/>
          </a:xfrm>
          <a:prstGeom prst="rect">
            <a:avLst/>
          </a:prstGeom>
        </p:spPr>
      </p:pic>
      <p:pic>
        <p:nvPicPr>
          <p:cNvPr id="21" name="图片 20">
            <a:extLst>
              <a:ext uri="{FF2B5EF4-FFF2-40B4-BE49-F238E27FC236}">
                <a16:creationId xmlns:a16="http://schemas.microsoft.com/office/drawing/2014/main" id="{3661D612-0E63-F8C3-E4E2-2ADAF4478142}"/>
              </a:ext>
            </a:extLst>
          </p:cNvPr>
          <p:cNvPicPr>
            <a:picLocks noChangeAspect="1"/>
          </p:cNvPicPr>
          <p:nvPr/>
        </p:nvPicPr>
        <p:blipFill>
          <a:blip r:embed="rId4"/>
          <a:stretch>
            <a:fillRect/>
          </a:stretch>
        </p:blipFill>
        <p:spPr>
          <a:xfrm>
            <a:off x="5803554" y="2237638"/>
            <a:ext cx="2004342" cy="4352437"/>
          </a:xfrm>
          <a:prstGeom prst="rect">
            <a:avLst/>
          </a:prstGeom>
        </p:spPr>
      </p:pic>
      <p:pic>
        <p:nvPicPr>
          <p:cNvPr id="23" name="图片 22">
            <a:extLst>
              <a:ext uri="{FF2B5EF4-FFF2-40B4-BE49-F238E27FC236}">
                <a16:creationId xmlns:a16="http://schemas.microsoft.com/office/drawing/2014/main" id="{76A177FF-4246-9A12-E076-94EA376D6DED}"/>
              </a:ext>
            </a:extLst>
          </p:cNvPr>
          <p:cNvPicPr>
            <a:picLocks noChangeAspect="1"/>
          </p:cNvPicPr>
          <p:nvPr/>
        </p:nvPicPr>
        <p:blipFill>
          <a:blip r:embed="rId5"/>
          <a:stretch>
            <a:fillRect/>
          </a:stretch>
        </p:blipFill>
        <p:spPr>
          <a:xfrm>
            <a:off x="649759" y="2237638"/>
            <a:ext cx="1972887" cy="4268515"/>
          </a:xfrm>
          <a:prstGeom prst="rect">
            <a:avLst/>
          </a:prstGeom>
        </p:spPr>
      </p:pic>
      <p:pic>
        <p:nvPicPr>
          <p:cNvPr id="24" name="图片 23">
            <a:extLst>
              <a:ext uri="{FF2B5EF4-FFF2-40B4-BE49-F238E27FC236}">
                <a16:creationId xmlns:a16="http://schemas.microsoft.com/office/drawing/2014/main" id="{E877A006-0CFE-73A3-DA93-40BBDFE82D0C}"/>
              </a:ext>
            </a:extLst>
          </p:cNvPr>
          <p:cNvPicPr>
            <a:picLocks noChangeAspect="1"/>
          </p:cNvPicPr>
          <p:nvPr/>
        </p:nvPicPr>
        <p:blipFill>
          <a:blip r:embed="rId6"/>
          <a:stretch>
            <a:fillRect/>
          </a:stretch>
        </p:blipFill>
        <p:spPr>
          <a:xfrm>
            <a:off x="3262247" y="2237639"/>
            <a:ext cx="1928283" cy="4133473"/>
          </a:xfrm>
          <a:prstGeom prst="rect">
            <a:avLst/>
          </a:prstGeom>
        </p:spPr>
      </p:pic>
      <p:sp>
        <p:nvSpPr>
          <p:cNvPr id="25" name="文本框 24">
            <a:extLst>
              <a:ext uri="{FF2B5EF4-FFF2-40B4-BE49-F238E27FC236}">
                <a16:creationId xmlns:a16="http://schemas.microsoft.com/office/drawing/2014/main" id="{0E2848D1-6173-9FE3-33C2-A1A24EBEFB2F}"/>
              </a:ext>
            </a:extLst>
          </p:cNvPr>
          <p:cNvSpPr txBox="1"/>
          <p:nvPr/>
        </p:nvSpPr>
        <p:spPr>
          <a:xfrm>
            <a:off x="649759" y="1138989"/>
            <a:ext cx="10515546" cy="923330"/>
          </a:xfrm>
          <a:prstGeom prst="rect">
            <a:avLst/>
          </a:prstGeom>
          <a:noFill/>
        </p:spPr>
        <p:txBody>
          <a:bodyPr wrap="squar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在用餐前请务必在分贝通上搜索聚餐的商家是否是美团合作商家。如果不是，请更换用餐地点</a:t>
            </a:r>
            <a:endParaRPr kumimoji="1" lang="en-US" altLang="zh-CN" dirty="0">
              <a:solidFill>
                <a:srgbClr val="FF0000"/>
              </a:solidFill>
              <a:latin typeface="Microsoft YaHei" panose="020B0503020204020204" pitchFamily="34" charset="-122"/>
              <a:ea typeface="Microsoft YaHei" panose="020B0503020204020204" pitchFamily="34" charset="-122"/>
            </a:endParaRPr>
          </a:p>
          <a:p>
            <a:r>
              <a:rPr kumimoji="1" lang="zh-CN" altLang="en-US" dirty="0">
                <a:latin typeface="Microsoft YaHei" panose="020B0503020204020204" pitchFamily="34" charset="-122"/>
                <a:ea typeface="Microsoft YaHei" panose="020B0503020204020204" pitchFamily="34" charset="-122"/>
              </a:rPr>
              <a:t>如何检查：如下步骤操作。</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点击首页上的用餐。</a:t>
            </a:r>
            <a:r>
              <a:rPr kumimoji="1" lang="en-US" altLang="zh-CN" dirty="0">
                <a:latin typeface="Microsoft YaHei" panose="020B0503020204020204" pitchFamily="34" charset="-122"/>
                <a:ea typeface="Microsoft YaHei" panose="020B0503020204020204" pitchFamily="34" charset="-122"/>
              </a:rPr>
              <a:t>2.</a:t>
            </a:r>
            <a:r>
              <a:rPr kumimoji="1" lang="zh-CN" altLang="en-US" dirty="0">
                <a:latin typeface="Microsoft YaHei" panose="020B0503020204020204" pitchFamily="34" charset="-122"/>
                <a:ea typeface="Microsoft YaHei" panose="020B0503020204020204" pitchFamily="34" charset="-122"/>
              </a:rPr>
              <a:t>点击美团按钮。</a:t>
            </a:r>
            <a:r>
              <a:rPr kumimoji="1" lang="en-US" altLang="zh-CN" dirty="0">
                <a:latin typeface="Microsoft YaHei" panose="020B0503020204020204" pitchFamily="34" charset="-122"/>
                <a:ea typeface="Microsoft YaHei" panose="020B0503020204020204" pitchFamily="34" charset="-122"/>
              </a:rPr>
              <a:t>3.</a:t>
            </a:r>
            <a:r>
              <a:rPr kumimoji="1" lang="zh-CN" altLang="en-US" dirty="0">
                <a:latin typeface="Microsoft YaHei" panose="020B0503020204020204" pitchFamily="34" charset="-122"/>
                <a:ea typeface="Microsoft YaHei" panose="020B0503020204020204" pitchFamily="34" charset="-122"/>
              </a:rPr>
              <a:t>登陆美团账号。</a:t>
            </a:r>
            <a:r>
              <a:rPr kumimoji="1" lang="en-US" altLang="zh-CN" dirty="0">
                <a:latin typeface="Microsoft YaHei" panose="020B0503020204020204" pitchFamily="34" charset="-122"/>
                <a:ea typeface="Microsoft YaHei" panose="020B0503020204020204" pitchFamily="34" charset="-122"/>
              </a:rPr>
              <a:t>4.</a:t>
            </a:r>
            <a:r>
              <a:rPr kumimoji="1" lang="zh-CN" altLang="en-US" dirty="0">
                <a:latin typeface="Microsoft YaHei" panose="020B0503020204020204" pitchFamily="34" charset="-122"/>
                <a:ea typeface="Microsoft YaHei" panose="020B0503020204020204" pitchFamily="34" charset="-122"/>
              </a:rPr>
              <a:t>搜索店家，如果显示则表示为美团合作商家，如果搜索不到则表示非美团合作商家，请更换用餐地点。</a:t>
            </a:r>
          </a:p>
        </p:txBody>
      </p:sp>
    </p:spTree>
    <p:extLst>
      <p:ext uri="{BB962C8B-B14F-4D97-AF65-F5344CB8AC3E}">
        <p14:creationId xmlns:p14="http://schemas.microsoft.com/office/powerpoint/2010/main" val="338679855"/>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DF00D-BE1E-648A-26D2-50E92DC8D9F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C56BE3EE-EF3D-B3FA-D016-A972613852B9}"/>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BE73D6BF-0A32-C9BC-9C5B-D07741E920CE}"/>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分贝通员工内部聚餐（分贝通申请</a:t>
            </a:r>
            <a:r>
              <a:rPr kumimoji="1" lang="en-US" altLang="zh-CN" b="1" dirty="0">
                <a:solidFill>
                  <a:schemeClr val="bg1"/>
                </a:solidFill>
                <a:latin typeface="Microsoft YaHei" panose="020B0503020204020204" pitchFamily="34" charset="-122"/>
                <a:ea typeface="Microsoft YaHei" panose="020B0503020204020204" pitchFamily="34" charset="-122"/>
              </a:rPr>
              <a:t>-</a:t>
            </a:r>
            <a:r>
              <a:rPr kumimoji="1" lang="zh-CN" altLang="en-US" b="1" dirty="0">
                <a:solidFill>
                  <a:schemeClr val="bg1"/>
                </a:solidFill>
                <a:latin typeface="Microsoft YaHei" panose="020B0503020204020204" pitchFamily="34" charset="-122"/>
                <a:ea typeface="Microsoft YaHei" panose="020B0503020204020204" pitchFamily="34" charset="-122"/>
              </a:rPr>
              <a:t>支付宝）</a:t>
            </a:r>
          </a:p>
        </p:txBody>
      </p:sp>
      <p:sp>
        <p:nvSpPr>
          <p:cNvPr id="15" name="文本框 14">
            <a:extLst>
              <a:ext uri="{FF2B5EF4-FFF2-40B4-BE49-F238E27FC236}">
                <a16:creationId xmlns:a16="http://schemas.microsoft.com/office/drawing/2014/main" id="{E580DF05-35E3-CE6A-8C21-F1E9CEEB1927}"/>
              </a:ext>
            </a:extLst>
          </p:cNvPr>
          <p:cNvSpPr txBox="1"/>
          <p:nvPr/>
        </p:nvSpPr>
        <p:spPr>
          <a:xfrm>
            <a:off x="1028700" y="6502079"/>
            <a:ext cx="1231900" cy="369332"/>
          </a:xfrm>
          <a:prstGeom prst="rect">
            <a:avLst/>
          </a:prstGeom>
          <a:noFill/>
        </p:spPr>
        <p:txBody>
          <a:bodyPr wrap="square" rtlCol="0">
            <a:spAutoFit/>
          </a:bodyPr>
          <a:lstStyle/>
          <a:p>
            <a:pPr algn="ctr"/>
            <a:r>
              <a:rPr kumimoji="1" lang="zh-CN" altLang="en-US" dirty="0"/>
              <a:t>第一步</a:t>
            </a:r>
          </a:p>
        </p:txBody>
      </p:sp>
      <p:sp>
        <p:nvSpPr>
          <p:cNvPr id="16" name="文本框 15">
            <a:extLst>
              <a:ext uri="{FF2B5EF4-FFF2-40B4-BE49-F238E27FC236}">
                <a16:creationId xmlns:a16="http://schemas.microsoft.com/office/drawing/2014/main" id="{0F9F7955-7154-9B1C-8C47-55F81F0F7301}"/>
              </a:ext>
            </a:extLst>
          </p:cNvPr>
          <p:cNvSpPr txBox="1"/>
          <p:nvPr/>
        </p:nvSpPr>
        <p:spPr>
          <a:xfrm>
            <a:off x="3610439" y="6502079"/>
            <a:ext cx="1231900" cy="369332"/>
          </a:xfrm>
          <a:prstGeom prst="rect">
            <a:avLst/>
          </a:prstGeom>
          <a:noFill/>
        </p:spPr>
        <p:txBody>
          <a:bodyPr wrap="square" rtlCol="0">
            <a:spAutoFit/>
          </a:bodyPr>
          <a:lstStyle/>
          <a:p>
            <a:pPr algn="ctr"/>
            <a:r>
              <a:rPr kumimoji="1" lang="zh-CN" altLang="en-US" dirty="0"/>
              <a:t>第二步</a:t>
            </a:r>
          </a:p>
        </p:txBody>
      </p:sp>
      <p:pic>
        <p:nvPicPr>
          <p:cNvPr id="23" name="图片 22">
            <a:extLst>
              <a:ext uri="{FF2B5EF4-FFF2-40B4-BE49-F238E27FC236}">
                <a16:creationId xmlns:a16="http://schemas.microsoft.com/office/drawing/2014/main" id="{3EBD5B31-518D-367F-270C-9177150E109C}"/>
              </a:ext>
            </a:extLst>
          </p:cNvPr>
          <p:cNvPicPr>
            <a:picLocks noChangeAspect="1"/>
          </p:cNvPicPr>
          <p:nvPr/>
        </p:nvPicPr>
        <p:blipFill>
          <a:blip r:embed="rId3"/>
          <a:stretch>
            <a:fillRect/>
          </a:stretch>
        </p:blipFill>
        <p:spPr>
          <a:xfrm>
            <a:off x="649759" y="2237638"/>
            <a:ext cx="1972887" cy="4268515"/>
          </a:xfrm>
          <a:prstGeom prst="rect">
            <a:avLst/>
          </a:prstGeom>
        </p:spPr>
      </p:pic>
      <p:sp>
        <p:nvSpPr>
          <p:cNvPr id="25" name="文本框 24">
            <a:extLst>
              <a:ext uri="{FF2B5EF4-FFF2-40B4-BE49-F238E27FC236}">
                <a16:creationId xmlns:a16="http://schemas.microsoft.com/office/drawing/2014/main" id="{116BA2C4-F743-0A0C-298C-752A48CD63FD}"/>
              </a:ext>
            </a:extLst>
          </p:cNvPr>
          <p:cNvSpPr txBox="1"/>
          <p:nvPr/>
        </p:nvSpPr>
        <p:spPr>
          <a:xfrm>
            <a:off x="510059" y="984891"/>
            <a:ext cx="10515546" cy="1151405"/>
          </a:xfrm>
          <a:prstGeom prst="rect">
            <a:avLst/>
          </a:prstGeom>
          <a:noFill/>
        </p:spPr>
        <p:txBody>
          <a:bodyPr wrap="square" rtlCol="0">
            <a:spAutoFit/>
          </a:bodyPr>
          <a:lstStyle/>
          <a:p>
            <a:pPr>
              <a:lnSpc>
                <a:spcPct val="150000"/>
              </a:lnSpc>
              <a:buNone/>
            </a:pPr>
            <a:r>
              <a:rPr kumimoji="1" lang="zh-CN" altLang="en-US" dirty="0">
                <a:latin typeface="Microsoft YaHei" panose="020B0503020204020204" pitchFamily="34" charset="-122"/>
                <a:ea typeface="Microsoft YaHei" panose="020B0503020204020204" pitchFamily="34" charset="-122"/>
                <a:sym typeface="等线" panose="02010600030101010101" pitchFamily="2" charset="-122"/>
              </a:rPr>
              <a:t>美团支持在线买单的商家太少，不满足日常用餐</a:t>
            </a:r>
            <a:r>
              <a:rPr kumimoji="1" lang="en-US" altLang="zh-CN" dirty="0">
                <a:latin typeface="Microsoft YaHei" panose="020B0503020204020204" pitchFamily="34" charset="-122"/>
                <a:ea typeface="Microsoft YaHei" panose="020B0503020204020204" pitchFamily="34" charset="-122"/>
                <a:sym typeface="等线" panose="02010600030101010101" pitchFamily="2" charset="-122"/>
              </a:rPr>
              <a:t>/</a:t>
            </a:r>
            <a:r>
              <a:rPr kumimoji="1" lang="zh-CN" altLang="en-US" dirty="0">
                <a:latin typeface="Microsoft YaHei" panose="020B0503020204020204" pitchFamily="34" charset="-122"/>
                <a:ea typeface="Microsoft YaHei" panose="020B0503020204020204" pitchFamily="34" charset="-122"/>
                <a:sym typeface="等线" panose="02010600030101010101" pitchFamily="2" charset="-122"/>
              </a:rPr>
              <a:t>招待需求，希望接入更多用餐商家</a:t>
            </a:r>
            <a:endParaRPr kumimoji="1" lang="en-US" altLang="zh-CN" dirty="0">
              <a:latin typeface="Microsoft YaHei" panose="020B0503020204020204" pitchFamily="34" charset="-122"/>
              <a:ea typeface="Microsoft YaHei" panose="020B0503020204020204" pitchFamily="34" charset="-122"/>
            </a:endParaRPr>
          </a:p>
          <a:p>
            <a:r>
              <a:rPr kumimoji="1" lang="zh-CN" altLang="en-US" dirty="0">
                <a:solidFill>
                  <a:srgbClr val="FF0000"/>
                </a:solidFill>
                <a:latin typeface="Microsoft YaHei" panose="020B0503020204020204" pitchFamily="34" charset="-122"/>
                <a:ea typeface="Microsoft YaHei" panose="020B0503020204020204" pitchFamily="34" charset="-122"/>
              </a:rPr>
              <a:t>在用餐前请务必询问用餐商家是否支持支付宝支付。如果不支持，请更换用餐地点。</a:t>
            </a:r>
            <a:endParaRPr kumimoji="1" lang="en-US" altLang="zh-CN"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dirty="0">
                <a:latin typeface="Microsoft YaHei" panose="020B0503020204020204" pitchFamily="34" charset="-122"/>
                <a:ea typeface="Microsoft YaHei" panose="020B0503020204020204" pitchFamily="34" charset="-122"/>
              </a:rPr>
              <a:t>支付宝企业码操作可参考火车票授权“支付宝（企业码）”操作。</a:t>
            </a:r>
          </a:p>
        </p:txBody>
      </p:sp>
      <p:pic>
        <p:nvPicPr>
          <p:cNvPr id="4" name="图片 3">
            <a:extLst>
              <a:ext uri="{FF2B5EF4-FFF2-40B4-BE49-F238E27FC236}">
                <a16:creationId xmlns:a16="http://schemas.microsoft.com/office/drawing/2014/main" id="{E963FBC5-2A0F-7412-A7BE-9D13D8605E22}"/>
              </a:ext>
            </a:extLst>
          </p:cNvPr>
          <p:cNvPicPr>
            <a:picLocks noChangeAspect="1"/>
          </p:cNvPicPr>
          <p:nvPr/>
        </p:nvPicPr>
        <p:blipFill>
          <a:blip r:embed="rId4"/>
          <a:stretch>
            <a:fillRect/>
          </a:stretch>
        </p:blipFill>
        <p:spPr>
          <a:xfrm>
            <a:off x="3239945" y="2239683"/>
            <a:ext cx="2195655" cy="4294341"/>
          </a:xfrm>
          <a:prstGeom prst="rect">
            <a:avLst/>
          </a:prstGeom>
        </p:spPr>
      </p:pic>
      <p:sp>
        <p:nvSpPr>
          <p:cNvPr id="5" name="文本框 4">
            <a:extLst>
              <a:ext uri="{FF2B5EF4-FFF2-40B4-BE49-F238E27FC236}">
                <a16:creationId xmlns:a16="http://schemas.microsoft.com/office/drawing/2014/main" id="{33ED02A3-6A52-7E34-BA62-7EE69E3A4BCB}"/>
              </a:ext>
            </a:extLst>
          </p:cNvPr>
          <p:cNvSpPr txBox="1"/>
          <p:nvPr/>
        </p:nvSpPr>
        <p:spPr>
          <a:xfrm>
            <a:off x="5981700" y="2237638"/>
            <a:ext cx="5765800" cy="3277820"/>
          </a:xfrm>
          <a:prstGeom prst="rect">
            <a:avLst/>
          </a:prstGeom>
          <a:noFill/>
        </p:spPr>
        <p:txBody>
          <a:bodyPr wrap="square" rtlCol="0">
            <a:spAutoFit/>
          </a:bodyPr>
          <a:lstStyle/>
          <a:p>
            <a:pPr indent="0" fontAlgn="auto">
              <a:lnSpc>
                <a:spcPct val="150000"/>
              </a:lnSpc>
            </a:pPr>
            <a:r>
              <a:rPr lang="zh-CN" altLang="en-US" dirty="0">
                <a:latin typeface="Microsoft YaHei" panose="020B0503020204020204" pitchFamily="34" charset="-122"/>
                <a:ea typeface="Microsoft YaHei" panose="020B0503020204020204" pitchFamily="34" charset="-122"/>
              </a:rPr>
              <a:t>Q：哪些餐厅可以用</a:t>
            </a:r>
          </a:p>
          <a:p>
            <a:pPr indent="0" fontAlgn="auto">
              <a:lnSpc>
                <a:spcPct val="150000"/>
              </a:lnSpc>
            </a:pPr>
            <a:r>
              <a:rPr lang="zh-CN" altLang="en-US" dirty="0">
                <a:latin typeface="Microsoft YaHei" panose="020B0503020204020204" pitchFamily="34" charset="-122"/>
                <a:ea typeface="Microsoft YaHei" panose="020B0503020204020204" pitchFamily="34" charset="-122"/>
              </a:rPr>
              <a:t>A：支持支付宝收款的餐厅都可以用，包括中高档餐厅及街边小吃店</a:t>
            </a:r>
          </a:p>
          <a:p>
            <a:pPr indent="0" fontAlgn="auto">
              <a:lnSpc>
                <a:spcPct val="150000"/>
              </a:lnSpc>
            </a:pP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扫描餐厅的支付宝二维码付款，以及出示付款码由餐厅的扫码机扫描均可以</a:t>
            </a:r>
          </a:p>
          <a:p>
            <a:pPr indent="0" fontAlgn="auto">
              <a:lnSpc>
                <a:spcPct val="150000"/>
              </a:lnSpc>
            </a:pP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注意：如为线上点餐模式，注意不要线上买单支付，需要按上条描述的方式线下付款</a:t>
            </a:r>
          </a:p>
          <a:p>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6182637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35CD-EC5A-4CE1-452A-233E5665FEDF}"/>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27176283-742F-B8D1-47DA-C00775A243ED}"/>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8B8CE807-CBD2-ADA3-1962-13922CD2DEFB}"/>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分贝通员工内部聚餐（分贝通申请）</a:t>
            </a:r>
          </a:p>
        </p:txBody>
      </p:sp>
      <p:pic>
        <p:nvPicPr>
          <p:cNvPr id="5" name="图片 4">
            <a:extLst>
              <a:ext uri="{FF2B5EF4-FFF2-40B4-BE49-F238E27FC236}">
                <a16:creationId xmlns:a16="http://schemas.microsoft.com/office/drawing/2014/main" id="{D3F8E72A-8664-52EC-9321-E980CC39BCC7}"/>
              </a:ext>
            </a:extLst>
          </p:cNvPr>
          <p:cNvPicPr>
            <a:picLocks noChangeAspect="1"/>
          </p:cNvPicPr>
          <p:nvPr/>
        </p:nvPicPr>
        <p:blipFill>
          <a:blip r:embed="rId3"/>
          <a:stretch>
            <a:fillRect/>
          </a:stretch>
        </p:blipFill>
        <p:spPr>
          <a:xfrm>
            <a:off x="209996" y="2621361"/>
            <a:ext cx="6566065" cy="3880718"/>
          </a:xfrm>
          <a:prstGeom prst="rect">
            <a:avLst/>
          </a:prstGeom>
        </p:spPr>
      </p:pic>
      <p:sp>
        <p:nvSpPr>
          <p:cNvPr id="6" name="文本框 5">
            <a:extLst>
              <a:ext uri="{FF2B5EF4-FFF2-40B4-BE49-F238E27FC236}">
                <a16:creationId xmlns:a16="http://schemas.microsoft.com/office/drawing/2014/main" id="{D0B6984E-B23F-3B77-0E1B-3DD6F15F0E1C}"/>
              </a:ext>
            </a:extLst>
          </p:cNvPr>
          <p:cNvSpPr txBox="1"/>
          <p:nvPr/>
        </p:nvSpPr>
        <p:spPr>
          <a:xfrm>
            <a:off x="359311" y="1147156"/>
            <a:ext cx="6922638" cy="787460"/>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在</a:t>
            </a:r>
            <a:r>
              <a:rPr kumimoji="1" lang="en-US" altLang="zh-CN" sz="1600" b="1" dirty="0">
                <a:latin typeface="Microsoft YaHei" panose="020B0503020204020204" pitchFamily="34" charset="-122"/>
                <a:ea typeface="Microsoft YaHei" panose="020B0503020204020204" pitchFamily="34" charset="-122"/>
              </a:rPr>
              <a:t>SFA—</a:t>
            </a:r>
            <a:r>
              <a:rPr kumimoji="1" lang="zh-CN" altLang="en-US" sz="1600" b="1" dirty="0">
                <a:latin typeface="Microsoft YaHei" panose="020B0503020204020204" pitchFamily="34" charset="-122"/>
                <a:ea typeface="Microsoft YaHei" panose="020B0503020204020204" pitchFamily="34" charset="-122"/>
              </a:rPr>
              <a:t>销售管理</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差旅管理</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创建</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根据不同需要选择不同申请单</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造旺聚餐申请</a:t>
            </a:r>
            <a:endParaRPr kumimoji="1" lang="en-US" altLang="zh-CN" sz="1600" b="1" dirty="0">
              <a:latin typeface="Microsoft YaHei" panose="020B0503020204020204" pitchFamily="34" charset="-122"/>
              <a:ea typeface="Microsoft YaHei" panose="020B0503020204020204" pitchFamily="34" charset="-122"/>
            </a:endParaRPr>
          </a:p>
        </p:txBody>
      </p:sp>
      <p:sp>
        <p:nvSpPr>
          <p:cNvPr id="7" name="椭圆 6">
            <a:extLst>
              <a:ext uri="{FF2B5EF4-FFF2-40B4-BE49-F238E27FC236}">
                <a16:creationId xmlns:a16="http://schemas.microsoft.com/office/drawing/2014/main" id="{00E393EE-1C07-0560-C9F3-E95442A668D3}"/>
              </a:ext>
            </a:extLst>
          </p:cNvPr>
          <p:cNvSpPr/>
          <p:nvPr/>
        </p:nvSpPr>
        <p:spPr>
          <a:xfrm>
            <a:off x="5379522" y="3099460"/>
            <a:ext cx="308759" cy="329540"/>
          </a:xfrm>
          <a:prstGeom prst="ellipse">
            <a:avLst/>
          </a:prstGeom>
          <a:no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284BEBA4-ED3E-B631-F646-64F9BA39BDF7}"/>
              </a:ext>
            </a:extLst>
          </p:cNvPr>
          <p:cNvSpPr/>
          <p:nvPr/>
        </p:nvSpPr>
        <p:spPr>
          <a:xfrm rot="1500000">
            <a:off x="5416379" y="3405372"/>
            <a:ext cx="45719" cy="26067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1" name="图片 10">
            <a:extLst>
              <a:ext uri="{FF2B5EF4-FFF2-40B4-BE49-F238E27FC236}">
                <a16:creationId xmlns:a16="http://schemas.microsoft.com/office/drawing/2014/main" id="{35424B30-0549-FE7D-456A-ACA7C82C4FB5}"/>
              </a:ext>
            </a:extLst>
          </p:cNvPr>
          <p:cNvPicPr>
            <a:picLocks noChangeAspect="1"/>
          </p:cNvPicPr>
          <p:nvPr/>
        </p:nvPicPr>
        <p:blipFill>
          <a:blip r:embed="rId4"/>
          <a:stretch>
            <a:fillRect/>
          </a:stretch>
        </p:blipFill>
        <p:spPr>
          <a:xfrm>
            <a:off x="8251194" y="1291112"/>
            <a:ext cx="3975100" cy="5080000"/>
          </a:xfrm>
          <a:prstGeom prst="rect">
            <a:avLst/>
          </a:prstGeom>
        </p:spPr>
      </p:pic>
      <p:sp>
        <p:nvSpPr>
          <p:cNvPr id="9" name="椭圆 8">
            <a:extLst>
              <a:ext uri="{FF2B5EF4-FFF2-40B4-BE49-F238E27FC236}">
                <a16:creationId xmlns:a16="http://schemas.microsoft.com/office/drawing/2014/main" id="{823455ED-697B-665F-C15A-ADA8A5741642}"/>
              </a:ext>
            </a:extLst>
          </p:cNvPr>
          <p:cNvSpPr/>
          <p:nvPr/>
        </p:nvSpPr>
        <p:spPr>
          <a:xfrm>
            <a:off x="7298035" y="1429789"/>
            <a:ext cx="4406285" cy="4189615"/>
          </a:xfrm>
          <a:prstGeom prst="ellipse">
            <a:avLst/>
          </a:prstGeom>
          <a:noFill/>
          <a:ln w="1111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任意形状 9">
            <a:extLst>
              <a:ext uri="{FF2B5EF4-FFF2-40B4-BE49-F238E27FC236}">
                <a16:creationId xmlns:a16="http://schemas.microsoft.com/office/drawing/2014/main" id="{8B7B5DCD-CC6F-B8C4-0595-E64572D1B1E6}"/>
              </a:ext>
            </a:extLst>
          </p:cNvPr>
          <p:cNvSpPr/>
          <p:nvPr/>
        </p:nvSpPr>
        <p:spPr>
          <a:xfrm>
            <a:off x="8448487" y="5501071"/>
            <a:ext cx="722237" cy="1356928"/>
          </a:xfrm>
          <a:custGeom>
            <a:avLst/>
            <a:gdLst>
              <a:gd name="connsiteX0" fmla="*/ 363587 w 722237"/>
              <a:gd name="connsiteY0" fmla="*/ 0 h 1356928"/>
              <a:gd name="connsiteX1" fmla="*/ 722237 w 722237"/>
              <a:gd name="connsiteY1" fmla="*/ 96100 h 1356928"/>
              <a:gd name="connsiteX2" fmla="*/ 384400 w 722237"/>
              <a:gd name="connsiteY2" fmla="*/ 1356928 h 1356928"/>
              <a:gd name="connsiteX3" fmla="*/ 0 w 722237"/>
              <a:gd name="connsiteY3" fmla="*/ 1356928 h 1356928"/>
              <a:gd name="connsiteX4" fmla="*/ 363587 w 722237"/>
              <a:gd name="connsiteY4" fmla="*/ 0 h 1356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2237" h="1356928">
                <a:moveTo>
                  <a:pt x="363587" y="0"/>
                </a:moveTo>
                <a:lnTo>
                  <a:pt x="722237" y="96100"/>
                </a:lnTo>
                <a:lnTo>
                  <a:pt x="384400" y="1356928"/>
                </a:lnTo>
                <a:lnTo>
                  <a:pt x="0" y="1356928"/>
                </a:lnTo>
                <a:lnTo>
                  <a:pt x="363587" y="0"/>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Tree>
    <p:extLst>
      <p:ext uri="{BB962C8B-B14F-4D97-AF65-F5344CB8AC3E}">
        <p14:creationId xmlns:p14="http://schemas.microsoft.com/office/powerpoint/2010/main" val="1383478992"/>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A66B3-304C-6232-7D46-FE3B10FFD532}"/>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C8F8AFBE-622B-0D3A-D7AD-86B8516A17F8}"/>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6B0855C8-2064-C1C1-69EB-145C118968A6}"/>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分贝通员工内部聚餐（分贝通申请）</a:t>
            </a:r>
          </a:p>
        </p:txBody>
      </p:sp>
      <p:pic>
        <p:nvPicPr>
          <p:cNvPr id="5" name="图片 4">
            <a:extLst>
              <a:ext uri="{FF2B5EF4-FFF2-40B4-BE49-F238E27FC236}">
                <a16:creationId xmlns:a16="http://schemas.microsoft.com/office/drawing/2014/main" id="{4136BF53-4CB6-9F40-C443-1C7AD8A1738D}"/>
              </a:ext>
            </a:extLst>
          </p:cNvPr>
          <p:cNvPicPr>
            <a:picLocks noChangeAspect="1"/>
          </p:cNvPicPr>
          <p:nvPr/>
        </p:nvPicPr>
        <p:blipFill>
          <a:blip r:embed="rId3"/>
          <a:stretch>
            <a:fillRect/>
          </a:stretch>
        </p:blipFill>
        <p:spPr>
          <a:xfrm>
            <a:off x="86400" y="1052573"/>
            <a:ext cx="3162022" cy="5744095"/>
          </a:xfrm>
          <a:prstGeom prst="rect">
            <a:avLst/>
          </a:prstGeom>
        </p:spPr>
      </p:pic>
      <p:sp>
        <p:nvSpPr>
          <p:cNvPr id="6" name="文本框 5">
            <a:extLst>
              <a:ext uri="{FF2B5EF4-FFF2-40B4-BE49-F238E27FC236}">
                <a16:creationId xmlns:a16="http://schemas.microsoft.com/office/drawing/2014/main" id="{8537B864-718D-9D6B-8E45-16F29C9EBBCB}"/>
              </a:ext>
            </a:extLst>
          </p:cNvPr>
          <p:cNvSpPr txBox="1"/>
          <p:nvPr/>
        </p:nvSpPr>
        <p:spPr>
          <a:xfrm>
            <a:off x="7292898" y="2011476"/>
            <a:ext cx="4274469" cy="1895455"/>
          </a:xfrm>
          <a:prstGeom prst="rect">
            <a:avLst/>
          </a:prstGeom>
          <a:noFill/>
        </p:spPr>
        <p:txBody>
          <a:bodyPr wrap="square" rtlCol="0">
            <a:spAutoFit/>
          </a:bodyPr>
          <a:lstStyle/>
          <a:p>
            <a:pPr>
              <a:lnSpc>
                <a:spcPct val="150000"/>
              </a:lnSpc>
            </a:pPr>
            <a:r>
              <a:rPr kumimoji="1" lang="zh-CN" altLang="en-US" sz="1600" b="1" dirty="0">
                <a:latin typeface="Microsoft YaHei" panose="020B0503020204020204" pitchFamily="34" charset="-122"/>
                <a:ea typeface="Microsoft YaHei" panose="020B0503020204020204" pitchFamily="34" charset="-122"/>
              </a:rPr>
              <a:t>填写聚餐日期及聚餐人员、预估金额（预估金额可参考</a:t>
            </a:r>
            <a:r>
              <a:rPr kumimoji="1" lang="en-US" altLang="zh-CN" sz="1600" b="1" dirty="0">
                <a:latin typeface="Microsoft YaHei" panose="020B0503020204020204" pitchFamily="34" charset="-122"/>
                <a:ea typeface="Microsoft YaHei" panose="020B0503020204020204" pitchFamily="34" charset="-122"/>
              </a:rPr>
              <a:t>SFA</a:t>
            </a:r>
            <a:r>
              <a:rPr kumimoji="1" lang="zh-CN" altLang="en-US" sz="1600" b="1" dirty="0">
                <a:latin typeface="Microsoft YaHei" panose="020B0503020204020204" pitchFamily="34" charset="-122"/>
                <a:ea typeface="Microsoft YaHei" panose="020B0503020204020204" pitchFamily="34" charset="-122"/>
              </a:rPr>
              <a:t>造旺政策中各县区聚餐标准）</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r>
              <a:rPr kumimoji="1" lang="zh-CN" altLang="en-US" sz="1600" b="1" dirty="0">
                <a:latin typeface="Microsoft YaHei" panose="020B0503020204020204" pitchFamily="34" charset="-122"/>
                <a:ea typeface="Microsoft YaHei" panose="020B0503020204020204" pitchFamily="34" charset="-122"/>
              </a:rPr>
              <a:t>聚餐属于纯报销，需勾选</a:t>
            </a:r>
            <a:endParaRPr kumimoji="1" lang="en-US" altLang="zh-CN" sz="1600" b="1" dirty="0">
              <a:latin typeface="Microsoft YaHei" panose="020B0503020204020204" pitchFamily="34" charset="-122"/>
              <a:ea typeface="Microsoft YaHei" panose="020B0503020204020204" pitchFamily="34" charset="-122"/>
            </a:endParaRPr>
          </a:p>
          <a:p>
            <a:pPr>
              <a:lnSpc>
                <a:spcPct val="150000"/>
              </a:lnSpc>
            </a:pPr>
            <a:endParaRPr kumimoji="1" lang="en-US" altLang="zh-CN" sz="1600" b="1" dirty="0">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5444AB08-DD71-B0E6-7B17-23DE7B02FC94}"/>
              </a:ext>
            </a:extLst>
          </p:cNvPr>
          <p:cNvPicPr>
            <a:picLocks noChangeAspect="1"/>
          </p:cNvPicPr>
          <p:nvPr/>
        </p:nvPicPr>
        <p:blipFill>
          <a:blip r:embed="rId4"/>
          <a:stretch>
            <a:fillRect/>
          </a:stretch>
        </p:blipFill>
        <p:spPr>
          <a:xfrm>
            <a:off x="3888691" y="1052573"/>
            <a:ext cx="3187984" cy="5805427"/>
          </a:xfrm>
          <a:prstGeom prst="rect">
            <a:avLst/>
          </a:prstGeom>
        </p:spPr>
      </p:pic>
      <p:sp>
        <p:nvSpPr>
          <p:cNvPr id="8" name="右箭头 7">
            <a:extLst>
              <a:ext uri="{FF2B5EF4-FFF2-40B4-BE49-F238E27FC236}">
                <a16:creationId xmlns:a16="http://schemas.microsoft.com/office/drawing/2014/main" id="{DF2BE0A3-B418-256B-EFFA-459155277FB7}"/>
              </a:ext>
            </a:extLst>
          </p:cNvPr>
          <p:cNvSpPr/>
          <p:nvPr/>
        </p:nvSpPr>
        <p:spPr>
          <a:xfrm>
            <a:off x="3248423" y="3891776"/>
            <a:ext cx="554144" cy="1895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942413614"/>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F774E-1A6D-B5E7-9962-D45C84D4BFA4}"/>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93AE8134-255E-5526-F885-89CB93D71E2A}"/>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D4E7545A-0808-C6A3-AF15-4E3EE46C758C}"/>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分贝通员工内部聚餐（</a:t>
            </a:r>
            <a:r>
              <a:rPr kumimoji="1" lang="en-US" altLang="zh-CN" b="1" dirty="0">
                <a:solidFill>
                  <a:schemeClr val="bg1"/>
                </a:solidFill>
                <a:latin typeface="Microsoft YaHei" panose="020B0503020204020204" pitchFamily="34" charset="-122"/>
                <a:ea typeface="Microsoft YaHei" panose="020B0503020204020204" pitchFamily="34" charset="-122"/>
              </a:rPr>
              <a:t>SFA</a:t>
            </a:r>
            <a:r>
              <a:rPr kumimoji="1" lang="zh-CN" altLang="en-US" b="1" dirty="0">
                <a:solidFill>
                  <a:schemeClr val="bg1"/>
                </a:solidFill>
                <a:latin typeface="Microsoft YaHei" panose="020B0503020204020204" pitchFamily="34" charset="-122"/>
                <a:ea typeface="Microsoft YaHei" panose="020B0503020204020204" pitchFamily="34" charset="-122"/>
              </a:rPr>
              <a:t>上创建聚餐会议）</a:t>
            </a:r>
          </a:p>
        </p:txBody>
      </p:sp>
      <p:pic>
        <p:nvPicPr>
          <p:cNvPr id="7" name="图片 6">
            <a:extLst>
              <a:ext uri="{FF2B5EF4-FFF2-40B4-BE49-F238E27FC236}">
                <a16:creationId xmlns:a16="http://schemas.microsoft.com/office/drawing/2014/main" id="{CE25939B-9007-0D36-636B-A9ED5DA4E351}"/>
              </a:ext>
            </a:extLst>
          </p:cNvPr>
          <p:cNvPicPr>
            <a:picLocks noChangeAspect="1"/>
          </p:cNvPicPr>
          <p:nvPr/>
        </p:nvPicPr>
        <p:blipFill>
          <a:blip r:embed="rId3"/>
          <a:stretch>
            <a:fillRect/>
          </a:stretch>
        </p:blipFill>
        <p:spPr>
          <a:xfrm>
            <a:off x="180278" y="1100485"/>
            <a:ext cx="7772400" cy="4434005"/>
          </a:xfrm>
          <a:prstGeom prst="rect">
            <a:avLst/>
          </a:prstGeom>
        </p:spPr>
      </p:pic>
      <p:sp>
        <p:nvSpPr>
          <p:cNvPr id="8" name="文本框 7">
            <a:extLst>
              <a:ext uri="{FF2B5EF4-FFF2-40B4-BE49-F238E27FC236}">
                <a16:creationId xmlns:a16="http://schemas.microsoft.com/office/drawing/2014/main" id="{6BFF1380-FEEE-462E-EEB0-0E08329201A0}"/>
              </a:ext>
            </a:extLst>
          </p:cNvPr>
          <p:cNvSpPr txBox="1"/>
          <p:nvPr/>
        </p:nvSpPr>
        <p:spPr>
          <a:xfrm>
            <a:off x="8140390" y="984891"/>
            <a:ext cx="3914078" cy="1706878"/>
          </a:xfrm>
          <a:prstGeom prst="rect">
            <a:avLst/>
          </a:prstGeom>
          <a:noFill/>
        </p:spPr>
        <p:txBody>
          <a:bodyPr wrap="square" rtlCol="0">
            <a:spAutoFit/>
          </a:bodyPr>
          <a:lstStyle/>
          <a:p>
            <a:pPr>
              <a:lnSpc>
                <a:spcPct val="150000"/>
              </a:lnSpc>
            </a:pPr>
            <a:r>
              <a:rPr kumimoji="1" lang="zh-CN" altLang="en-US" dirty="0">
                <a:latin typeface="Microsoft YaHei" panose="020B0503020204020204" pitchFamily="34" charset="-122"/>
                <a:ea typeface="Microsoft YaHei" panose="020B0503020204020204" pitchFamily="34" charset="-122"/>
              </a:rPr>
              <a:t>待分贝通上聚餐申请审批完成后，在</a:t>
            </a:r>
            <a:r>
              <a:rPr kumimoji="1" lang="en-US" altLang="zh-CN" dirty="0">
                <a:latin typeface="Microsoft YaHei" panose="020B0503020204020204" pitchFamily="34" charset="-122"/>
                <a:ea typeface="Microsoft YaHei" panose="020B0503020204020204" pitchFamily="34" charset="-122"/>
              </a:rPr>
              <a:t>SFA</a:t>
            </a:r>
            <a:r>
              <a:rPr kumimoji="1" lang="zh-CN" altLang="en-US" dirty="0">
                <a:latin typeface="Microsoft YaHei" panose="020B0503020204020204" pitchFamily="34" charset="-122"/>
                <a:ea typeface="Microsoft YaHei" panose="020B0503020204020204" pitchFamily="34" charset="-122"/>
              </a:rPr>
              <a:t>上创建“聚餐会议”，根据聚餐会议拍照打卡。待聚餐会议完成后，在分贝通上电击“支付”，支付完成。</a:t>
            </a:r>
          </a:p>
        </p:txBody>
      </p:sp>
    </p:spTree>
    <p:extLst>
      <p:ext uri="{BB962C8B-B14F-4D97-AF65-F5344CB8AC3E}">
        <p14:creationId xmlns:p14="http://schemas.microsoft.com/office/powerpoint/2010/main" val="108448302"/>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5DB6-09B5-0905-A5E6-70390F7489B2}"/>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2112AAD3-D2F8-22AD-0043-4E7D4CE75140}"/>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3C0EA846-C738-BA46-8D86-2A3527B6E37C}"/>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分贝通员工内部聚餐（注意点）</a:t>
            </a:r>
          </a:p>
        </p:txBody>
      </p:sp>
      <p:sp>
        <p:nvSpPr>
          <p:cNvPr id="8" name="文本框 7">
            <a:extLst>
              <a:ext uri="{FF2B5EF4-FFF2-40B4-BE49-F238E27FC236}">
                <a16:creationId xmlns:a16="http://schemas.microsoft.com/office/drawing/2014/main" id="{8FDFA7A9-B8EF-1937-5725-F846E6E06708}"/>
              </a:ext>
            </a:extLst>
          </p:cNvPr>
          <p:cNvSpPr txBox="1"/>
          <p:nvPr/>
        </p:nvSpPr>
        <p:spPr>
          <a:xfrm>
            <a:off x="849580" y="2368549"/>
            <a:ext cx="10492839" cy="2120902"/>
          </a:xfrm>
          <a:prstGeom prst="rect">
            <a:avLst/>
          </a:prstGeom>
          <a:noFill/>
        </p:spPr>
        <p:txBody>
          <a:bodyPr wrap="square" rtlCol="0">
            <a:spAutoFit/>
          </a:bodyPr>
          <a:lstStyle/>
          <a:p>
            <a:pPr>
              <a:lnSpc>
                <a:spcPct val="150000"/>
              </a:lnSpc>
            </a:pPr>
            <a:r>
              <a:rPr kumimoji="1" lang="en-US" altLang="zh-CN" b="1" dirty="0">
                <a:solidFill>
                  <a:srgbClr val="FF0000"/>
                </a:solidFill>
                <a:latin typeface="Microsoft YaHei" panose="020B0503020204020204" pitchFamily="34" charset="-122"/>
                <a:ea typeface="Microsoft YaHei" panose="020B0503020204020204" pitchFamily="34" charset="-122"/>
              </a:rPr>
              <a:t>1</a:t>
            </a:r>
            <a:r>
              <a:rPr kumimoji="1" lang="zh-CN" altLang="en-US" b="1" dirty="0">
                <a:solidFill>
                  <a:srgbClr val="FF0000"/>
                </a:solidFill>
                <a:latin typeface="Microsoft YaHei" panose="020B0503020204020204" pitchFamily="34" charset="-122"/>
                <a:ea typeface="Microsoft YaHei" panose="020B0503020204020204" pitchFamily="34" charset="-122"/>
              </a:rPr>
              <a:t>、分贝通内聚餐申请单必须是在线下聚餐前至少一天，如遇节假日或周末休息日，请提前两个工作日提交申请。上级领导审批需要一定时间。不是现在申请现在就能审批的。</a:t>
            </a:r>
            <a:endParaRPr kumimoji="1" lang="en-US" altLang="zh-CN" b="1" dirty="0">
              <a:solidFill>
                <a:srgbClr val="FF0000"/>
              </a:solidFill>
              <a:latin typeface="Microsoft YaHei" panose="020B0503020204020204" pitchFamily="34" charset="-122"/>
              <a:ea typeface="Microsoft YaHei" panose="020B0503020204020204" pitchFamily="34" charset="-122"/>
            </a:endParaRPr>
          </a:p>
          <a:p>
            <a:pPr>
              <a:lnSpc>
                <a:spcPct val="150000"/>
              </a:lnSpc>
            </a:pPr>
            <a:endParaRPr kumimoji="1" lang="en-US" altLang="zh-CN" b="1"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en-US" altLang="zh-CN" b="1" dirty="0">
                <a:solidFill>
                  <a:srgbClr val="FF0000"/>
                </a:solidFill>
                <a:latin typeface="Microsoft YaHei" panose="020B0503020204020204" pitchFamily="34" charset="-122"/>
                <a:ea typeface="Microsoft YaHei" panose="020B0503020204020204" pitchFamily="34" charset="-122"/>
              </a:rPr>
              <a:t>2</a:t>
            </a:r>
            <a:r>
              <a:rPr kumimoji="1" lang="zh-CN" altLang="en-US" b="1" dirty="0">
                <a:solidFill>
                  <a:srgbClr val="FF0000"/>
                </a:solidFill>
                <a:latin typeface="Microsoft YaHei" panose="020B0503020204020204" pitchFamily="34" charset="-122"/>
                <a:ea typeface="Microsoft YaHei" panose="020B0503020204020204" pitchFamily="34" charset="-122"/>
              </a:rPr>
              <a:t>、</a:t>
            </a:r>
            <a:r>
              <a:rPr kumimoji="1" lang="en-US" altLang="zh-CN" b="1" dirty="0">
                <a:solidFill>
                  <a:srgbClr val="FF0000"/>
                </a:solidFill>
                <a:latin typeface="Microsoft YaHei" panose="020B0503020204020204" pitchFamily="34" charset="-122"/>
                <a:ea typeface="Microsoft YaHei" panose="020B0503020204020204" pitchFamily="34" charset="-122"/>
              </a:rPr>
              <a:t>9</a:t>
            </a:r>
            <a:r>
              <a:rPr kumimoji="1" lang="zh-CN" altLang="en-US" b="1" dirty="0">
                <a:solidFill>
                  <a:srgbClr val="FF0000"/>
                </a:solidFill>
                <a:latin typeface="Microsoft YaHei" panose="020B0503020204020204" pitchFamily="34" charset="-122"/>
                <a:ea typeface="Microsoft YaHei" panose="020B0503020204020204" pitchFamily="34" charset="-122"/>
              </a:rPr>
              <a:t>月开始，除因系统原因导致需要报销的情况，其他任何情况都不再走线下报销，所产生的费用请自行承担。</a:t>
            </a:r>
          </a:p>
        </p:txBody>
      </p:sp>
    </p:spTree>
    <p:extLst>
      <p:ext uri="{BB962C8B-B14F-4D97-AF65-F5344CB8AC3E}">
        <p14:creationId xmlns:p14="http://schemas.microsoft.com/office/powerpoint/2010/main" val="3228973542"/>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DEB24-E580-7F02-4FFD-35C5B5E2B29D}"/>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16685FA8-281C-62F1-6ABA-124E779C90D8}"/>
              </a:ext>
            </a:extLst>
          </p:cNvPr>
          <p:cNvPicPr>
            <a:picLocks noChangeAspect="1"/>
          </p:cNvPicPr>
          <p:nvPr/>
        </p:nvPicPr>
        <p:blipFill>
          <a:blip r:embed="rId2"/>
          <a:stretch>
            <a:fillRect/>
          </a:stretch>
        </p:blipFill>
        <p:spPr>
          <a:xfrm>
            <a:off x="359311" y="5901212"/>
            <a:ext cx="1308100" cy="469900"/>
          </a:xfrm>
          <a:prstGeom prst="rect">
            <a:avLst/>
          </a:prstGeom>
        </p:spPr>
      </p:pic>
      <p:sp>
        <p:nvSpPr>
          <p:cNvPr id="8" name="任意形状 7">
            <a:extLst>
              <a:ext uri="{FF2B5EF4-FFF2-40B4-BE49-F238E27FC236}">
                <a16:creationId xmlns:a16="http://schemas.microsoft.com/office/drawing/2014/main" id="{58C03CAF-31EC-6F7C-34DB-6307F51A5A10}"/>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发票抬头</a:t>
            </a:r>
          </a:p>
        </p:txBody>
      </p:sp>
      <p:sp>
        <p:nvSpPr>
          <p:cNvPr id="3" name="文本框 2">
            <a:extLst>
              <a:ext uri="{FF2B5EF4-FFF2-40B4-BE49-F238E27FC236}">
                <a16:creationId xmlns:a16="http://schemas.microsoft.com/office/drawing/2014/main" id="{69F951B7-6DEB-992B-DAFA-3F1BEDDF1084}"/>
              </a:ext>
            </a:extLst>
          </p:cNvPr>
          <p:cNvSpPr txBox="1"/>
          <p:nvPr/>
        </p:nvSpPr>
        <p:spPr>
          <a:xfrm>
            <a:off x="359311" y="1151907"/>
            <a:ext cx="10616540" cy="2154436"/>
          </a:xfrm>
          <a:prstGeom prst="rect">
            <a:avLst/>
          </a:prstGeom>
          <a:noFill/>
        </p:spPr>
        <p:txBody>
          <a:bodyPr wrap="square" rtlCol="0">
            <a:spAutoFit/>
          </a:bodyPr>
          <a:lstStyle/>
          <a:p>
            <a:r>
              <a:rPr kumimoji="1" lang="zh-CN" altLang="en-US" b="1" dirty="0">
                <a:solidFill>
                  <a:srgbClr val="FF0000"/>
                </a:solidFill>
                <a:latin typeface="Microsoft YaHei" panose="020B0503020204020204" pitchFamily="34" charset="-122"/>
                <a:ea typeface="Microsoft YaHei" panose="020B0503020204020204" pitchFamily="34" charset="-122"/>
              </a:rPr>
              <a:t>签约三方的同事开票信息如下：</a:t>
            </a:r>
            <a:endParaRPr kumimoji="1" lang="en-US" altLang="zh-CN" b="1" dirty="0">
              <a:solidFill>
                <a:srgbClr val="FF0000"/>
              </a:solidFill>
              <a:latin typeface="Microsoft YaHei" panose="020B0503020204020204" pitchFamily="34" charset="-122"/>
              <a:ea typeface="Microsoft YaHei" panose="020B0503020204020204" pitchFamily="34" charset="-122"/>
            </a:endParaRPr>
          </a:p>
          <a:p>
            <a:endParaRPr kumimoji="1" lang="en-US" altLang="zh-CN" b="1" dirty="0">
              <a:solidFill>
                <a:srgbClr val="FF0000"/>
              </a:solidFill>
              <a:latin typeface="Microsoft YaHei" panose="020B0503020204020204" pitchFamily="34" charset="-122"/>
              <a:ea typeface="Microsoft YaHei" panose="020B0503020204020204" pitchFamily="34" charset="-122"/>
            </a:endParaRPr>
          </a:p>
          <a:p>
            <a:endParaRPr kumimoji="1" lang="en-US" altLang="zh-CN" b="1" dirty="0">
              <a:solidFill>
                <a:srgbClr val="FF0000"/>
              </a:solidFill>
              <a:latin typeface="Microsoft YaHei" panose="020B0503020204020204" pitchFamily="34" charset="-122"/>
              <a:ea typeface="Microsoft YaHei" panose="020B0503020204020204" pitchFamily="34" charset="-122"/>
            </a:endParaRPr>
          </a:p>
          <a:p>
            <a:r>
              <a:rPr kumimoji="1" lang="zh-CN" altLang="en-US" sz="1600" b="1" dirty="0">
                <a:latin typeface="Microsoft YaHei" panose="020B0503020204020204" pitchFamily="34" charset="-122"/>
                <a:ea typeface="Microsoft YaHei" panose="020B0503020204020204" pitchFamily="34" charset="-122"/>
              </a:rPr>
              <a:t>企业抬头</a:t>
            </a:r>
            <a:r>
              <a:rPr kumimoji="1" lang="en-US" altLang="zh-CN" sz="1600" b="1" dirty="0">
                <a:latin typeface="Microsoft YaHei" panose="020B0503020204020204" pitchFamily="34" charset="-122"/>
                <a:ea typeface="Microsoft YaHei" panose="020B0503020204020204" pitchFamily="34" charset="-122"/>
              </a:rPr>
              <a:t>:</a:t>
            </a:r>
            <a:r>
              <a:rPr kumimoji="1" lang="zh-CN" altLang="en-US" sz="1600" b="1" dirty="0">
                <a:latin typeface="Microsoft YaHei" panose="020B0503020204020204" pitchFamily="34" charset="-122"/>
                <a:ea typeface="Microsoft YaHei" panose="020B0503020204020204" pitchFamily="34" charset="-122"/>
              </a:rPr>
              <a:t>上海安可数智企业服务集团有限公司</a:t>
            </a:r>
          </a:p>
          <a:p>
            <a:r>
              <a:rPr kumimoji="1" lang="zh-CN" altLang="en-US" sz="1600" b="1" dirty="0">
                <a:latin typeface="Microsoft YaHei" panose="020B0503020204020204" pitchFamily="34" charset="-122"/>
                <a:ea typeface="Microsoft YaHei" panose="020B0503020204020204" pitchFamily="34" charset="-122"/>
              </a:rPr>
              <a:t>统一社会信用代码：</a:t>
            </a:r>
            <a:r>
              <a:rPr kumimoji="1" lang="es-419" altLang="zh-CN" sz="1600" b="1" dirty="0">
                <a:latin typeface="Microsoft YaHei" panose="020B0503020204020204" pitchFamily="34" charset="-122"/>
                <a:ea typeface="Microsoft YaHei" panose="020B0503020204020204" pitchFamily="34" charset="-122"/>
              </a:rPr>
              <a:t>91310115MA1HAW4F48</a:t>
            </a:r>
          </a:p>
          <a:p>
            <a:r>
              <a:rPr kumimoji="1" lang="zh-CN" altLang="en-US" sz="1600" b="1" dirty="0">
                <a:latin typeface="Microsoft YaHei" panose="020B0503020204020204" pitchFamily="34" charset="-122"/>
                <a:ea typeface="Microsoft YaHei" panose="020B0503020204020204" pitchFamily="34" charset="-122"/>
              </a:rPr>
              <a:t>开户行：兴业银行上海松江支行</a:t>
            </a:r>
            <a:endParaRPr kumimoji="1" lang="en-US" altLang="zh-CN" sz="1600" b="1" dirty="0">
              <a:latin typeface="Microsoft YaHei" panose="020B0503020204020204" pitchFamily="34" charset="-122"/>
              <a:ea typeface="Microsoft YaHei" panose="020B0503020204020204" pitchFamily="34" charset="-122"/>
            </a:endParaRPr>
          </a:p>
          <a:p>
            <a:r>
              <a:rPr kumimoji="1" lang="zh-CN" altLang="en-US" sz="1600" b="1" dirty="0">
                <a:latin typeface="Microsoft YaHei" panose="020B0503020204020204" pitchFamily="34" charset="-122"/>
                <a:ea typeface="Microsoft YaHei" panose="020B0503020204020204" pitchFamily="34" charset="-122"/>
              </a:rPr>
              <a:t>银行账号：</a:t>
            </a:r>
            <a:r>
              <a:rPr kumimoji="1" lang="en-US" altLang="zh-CN" sz="1600" b="1" dirty="0">
                <a:latin typeface="Microsoft YaHei" panose="020B0503020204020204" pitchFamily="34" charset="-122"/>
                <a:ea typeface="Microsoft YaHei" panose="020B0503020204020204" pitchFamily="34" charset="-122"/>
              </a:rPr>
              <a:t>216310100100444423</a:t>
            </a:r>
          </a:p>
          <a:p>
            <a:endParaRPr lang="zh-CN" altLang="en-US" sz="1600" dirty="0">
              <a:effectLst/>
              <a:latin typeface="Helvetica" pitchFamily="2" charset="0"/>
            </a:endParaRPr>
          </a:p>
        </p:txBody>
      </p:sp>
      <p:sp>
        <p:nvSpPr>
          <p:cNvPr id="4" name="文本框 3">
            <a:extLst>
              <a:ext uri="{FF2B5EF4-FFF2-40B4-BE49-F238E27FC236}">
                <a16:creationId xmlns:a16="http://schemas.microsoft.com/office/drawing/2014/main" id="{ABB5A063-DFB1-9584-44DA-54F9508A4A2C}"/>
              </a:ext>
            </a:extLst>
          </p:cNvPr>
          <p:cNvSpPr txBox="1"/>
          <p:nvPr/>
        </p:nvSpPr>
        <p:spPr>
          <a:xfrm>
            <a:off x="359311" y="3926668"/>
            <a:ext cx="10886621" cy="923330"/>
          </a:xfrm>
          <a:prstGeom prst="rect">
            <a:avLst/>
          </a:prstGeom>
          <a:noFill/>
        </p:spPr>
        <p:txBody>
          <a:bodyPr wrap="square" rtlCol="0">
            <a:spAutoFit/>
          </a:bodyPr>
          <a:lstStyle/>
          <a:p>
            <a:r>
              <a:rPr kumimoji="1" lang="zh-CN" altLang="en-US" b="1" dirty="0">
                <a:solidFill>
                  <a:srgbClr val="FF0000"/>
                </a:solidFill>
                <a:latin typeface="Microsoft YaHei" panose="020B0503020204020204" pitchFamily="34" charset="-122"/>
                <a:ea typeface="Microsoft YaHei" panose="020B0503020204020204" pitchFamily="34" charset="-122"/>
              </a:rPr>
              <a:t>签约旺旺的同事开票信息，以个人签约的具体分公司信息为准</a:t>
            </a:r>
            <a:endParaRPr kumimoji="1" lang="en-US" altLang="zh-CN" b="1" dirty="0">
              <a:solidFill>
                <a:srgbClr val="FF0000"/>
              </a:solidFill>
              <a:latin typeface="Microsoft YaHei" panose="020B0503020204020204" pitchFamily="34" charset="-122"/>
              <a:ea typeface="Microsoft YaHei" panose="020B0503020204020204" pitchFamily="34" charset="-122"/>
            </a:endParaRPr>
          </a:p>
          <a:p>
            <a:endParaRPr kumimoji="1" lang="en-US" altLang="zh-CN" b="1" dirty="0">
              <a:solidFill>
                <a:srgbClr val="FF0000"/>
              </a:solidFill>
              <a:latin typeface="Microsoft YaHei" panose="020B0503020204020204" pitchFamily="34" charset="-122"/>
              <a:ea typeface="Microsoft YaHei" panose="020B0503020204020204" pitchFamily="34" charset="-122"/>
            </a:endParaRPr>
          </a:p>
          <a:p>
            <a:endParaRPr kumimoji="1" lang="zh-CN" altLang="en-US" dirty="0"/>
          </a:p>
        </p:txBody>
      </p:sp>
    </p:spTree>
    <p:extLst>
      <p:ext uri="{BB962C8B-B14F-4D97-AF65-F5344CB8AC3E}">
        <p14:creationId xmlns:p14="http://schemas.microsoft.com/office/powerpoint/2010/main" val="3268530747"/>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0CE01-6C26-2786-17D2-92660EBFA8B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E2AABC0-A1B2-E170-ACFC-D41FED3256BC}"/>
              </a:ext>
            </a:extLst>
          </p:cNvPr>
          <p:cNvSpPr txBox="1"/>
          <p:nvPr/>
        </p:nvSpPr>
        <p:spPr>
          <a:xfrm>
            <a:off x="136070" y="486888"/>
            <a:ext cx="6542117" cy="369332"/>
          </a:xfrm>
          <a:prstGeom prst="rect">
            <a:avLst/>
          </a:prstGeom>
          <a:noFill/>
        </p:spPr>
        <p:txBody>
          <a:bodyPr wrap="square" rtlCol="0">
            <a:spAutoFit/>
          </a:bodyPr>
          <a:lstStyle/>
          <a:p>
            <a:r>
              <a:rPr kumimoji="1" lang="en-US" altLang="zh-CN" b="1" dirty="0">
                <a:solidFill>
                  <a:schemeClr val="bg1"/>
                </a:solidFill>
                <a:latin typeface="Microsoft YaHei" panose="020B0503020204020204" pitchFamily="34" charset="-122"/>
                <a:ea typeface="Microsoft YaHei" panose="020B0503020204020204" pitchFamily="34" charset="-122"/>
              </a:rPr>
              <a:t>" Q " &amp; " A"</a:t>
            </a:r>
          </a:p>
        </p:txBody>
      </p:sp>
      <p:sp>
        <p:nvSpPr>
          <p:cNvPr id="3" name="矩形 2">
            <a:extLst>
              <a:ext uri="{FF2B5EF4-FFF2-40B4-BE49-F238E27FC236}">
                <a16:creationId xmlns:a16="http://schemas.microsoft.com/office/drawing/2014/main" id="{EF13CD94-6FA1-AE99-A5CB-54F7FCC1C188}"/>
              </a:ext>
            </a:extLst>
          </p:cNvPr>
          <p:cNvSpPr/>
          <p:nvPr/>
        </p:nvSpPr>
        <p:spPr>
          <a:xfrm>
            <a:off x="192313" y="1124178"/>
            <a:ext cx="11807374" cy="4578561"/>
          </a:xfrm>
          <a:prstGeom prst="rect">
            <a:avLst/>
          </a:prstGeom>
        </p:spPr>
        <p:txBody>
          <a:bodyPr wrap="square">
            <a:spAutoFit/>
          </a:bodyPr>
          <a:lstStyle/>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effectLst/>
                <a:latin typeface="Microsoft YaHei" panose="020B0503020204020204" pitchFamily="34" charset="-122"/>
                <a:ea typeface="Microsoft YaHei" panose="020B0503020204020204" pitchFamily="34" charset="-122"/>
              </a:rPr>
              <a:t>Q:</a:t>
            </a:r>
            <a:r>
              <a:rPr lang="zh-CN" altLang="en-US" sz="1400" b="1" dirty="0">
                <a:effectLst/>
                <a:latin typeface="Microsoft YaHei" panose="020B0503020204020204" pitchFamily="34" charset="-122"/>
                <a:ea typeface="Microsoft YaHei" panose="020B0503020204020204" pitchFamily="34" charset="-122"/>
              </a:rPr>
              <a:t>支付宝绑定这个方案，有没有不能</a:t>
            </a:r>
            <a:r>
              <a:rPr lang="zh-CN" altLang="en-US" sz="1400" b="1" dirty="0">
                <a:solidFill>
                  <a:srgbClr val="FF0000"/>
                </a:solidFill>
                <a:effectLst/>
                <a:latin typeface="Microsoft YaHei" panose="020B0503020204020204" pitchFamily="34" charset="-122"/>
                <a:ea typeface="Microsoft YaHei" panose="020B0503020204020204" pitchFamily="34" charset="-122"/>
              </a:rPr>
              <a:t>临近预订、出票慢等问题 </a:t>
            </a:r>
            <a:endParaRPr lang="en-US" altLang="zh-CN" sz="1400" b="1" dirty="0">
              <a:solidFill>
                <a:srgbClr val="FF0000"/>
              </a:solidFill>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effectLst/>
                <a:latin typeface="Microsoft YaHei" panose="020B0503020204020204" pitchFamily="34" charset="-122"/>
                <a:ea typeface="Microsoft YaHei" panose="020B0503020204020204" pitchFamily="34" charset="-122"/>
              </a:rPr>
              <a:t>A:</a:t>
            </a:r>
            <a:r>
              <a:rPr lang="zh-CN" altLang="en-US" sz="1400" b="1" dirty="0">
                <a:effectLst/>
                <a:latin typeface="Microsoft YaHei" panose="020B0503020204020204" pitchFamily="34" charset="-122"/>
                <a:ea typeface="Microsoft YaHei" panose="020B0503020204020204" pitchFamily="34" charset="-122"/>
              </a:rPr>
              <a:t>没有。可预订时间同 </a:t>
            </a:r>
            <a:r>
              <a:rPr lang="en-US" altLang="zh-CN" sz="1400" b="1" dirty="0">
                <a:effectLst/>
                <a:latin typeface="Microsoft YaHei" panose="020B0503020204020204" pitchFamily="34" charset="-122"/>
                <a:ea typeface="Microsoft YaHei" panose="020B0503020204020204" pitchFamily="34" charset="-122"/>
              </a:rPr>
              <a:t>12306 </a:t>
            </a:r>
            <a:r>
              <a:rPr lang="zh-CN" altLang="en-US" sz="1400" b="1" dirty="0">
                <a:effectLst/>
                <a:latin typeface="Microsoft YaHei" panose="020B0503020204020204" pitchFamily="34" charset="-122"/>
                <a:ea typeface="Microsoft YaHei" panose="020B0503020204020204" pitchFamily="34" charset="-122"/>
              </a:rPr>
              <a:t>一致，出票时效也和 </a:t>
            </a:r>
            <a:r>
              <a:rPr lang="en-US" altLang="zh-CN" sz="1400" b="1" dirty="0">
                <a:effectLst/>
                <a:latin typeface="Microsoft YaHei" panose="020B0503020204020204" pitchFamily="34" charset="-122"/>
                <a:ea typeface="Microsoft YaHei" panose="020B0503020204020204" pitchFamily="34" charset="-122"/>
              </a:rPr>
              <a:t>12306 </a:t>
            </a:r>
            <a:r>
              <a:rPr lang="zh-CN" altLang="en-US" sz="1400" b="1" dirty="0">
                <a:effectLst/>
                <a:latin typeface="Microsoft YaHei" panose="020B0503020204020204" pitchFamily="34" charset="-122"/>
                <a:ea typeface="Microsoft YaHei" panose="020B0503020204020204" pitchFamily="34" charset="-122"/>
              </a:rPr>
              <a:t>一致。 </a:t>
            </a:r>
            <a:endParaRPr lang="en-US" altLang="zh-CN" sz="1400" b="1" dirty="0">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endParaRPr lang="en-US" altLang="zh-CN" sz="1400" b="1" dirty="0">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latin typeface="Microsoft YaHei" panose="020B0503020204020204" pitchFamily="34" charset="-122"/>
                <a:ea typeface="Microsoft YaHei" panose="020B0503020204020204" pitchFamily="34" charset="-122"/>
              </a:rPr>
              <a:t>Q:</a:t>
            </a:r>
            <a:r>
              <a:rPr lang="zh-CN" altLang="en-US" sz="1400" b="1" dirty="0">
                <a:solidFill>
                  <a:srgbClr val="FF0000"/>
                </a:solidFill>
                <a:latin typeface="Microsoft YaHei" panose="020B0503020204020204" pitchFamily="34" charset="-122"/>
                <a:ea typeface="Microsoft YaHei" panose="020B0503020204020204" pitchFamily="34" charset="-122"/>
              </a:rPr>
              <a:t>支付宝完成授权企业码后无反应</a:t>
            </a:r>
            <a:r>
              <a:rPr lang="zh-CN" altLang="en-US" sz="1400" b="1" dirty="0">
                <a:latin typeface="Microsoft YaHei" panose="020B0503020204020204" pitchFamily="34" charset="-122"/>
                <a:ea typeface="Microsoft YaHei" panose="020B0503020204020204" pitchFamily="34" charset="-122"/>
              </a:rPr>
              <a:t>，是操作有什么问题吗？</a:t>
            </a:r>
            <a:endParaRPr lang="en-US" altLang="zh-CN" sz="1400" b="1" dirty="0">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latin typeface="Microsoft YaHei" panose="020B0503020204020204" pitchFamily="34" charset="-122"/>
                <a:ea typeface="Microsoft YaHei" panose="020B0503020204020204" pitchFamily="34" charset="-122"/>
              </a:rPr>
              <a:t>A:</a:t>
            </a:r>
            <a:r>
              <a:rPr lang="zh-CN" altLang="en-US" sz="1400" b="1" dirty="0">
                <a:latin typeface="Microsoft YaHei" panose="020B0503020204020204" pitchFamily="34" charset="-122"/>
                <a:ea typeface="Microsoft YaHei" panose="020B0503020204020204" pitchFamily="34" charset="-122"/>
              </a:rPr>
              <a:t>跳转至支付宝企业码授权成功后，</a:t>
            </a:r>
            <a:r>
              <a:rPr lang="zh-CN" altLang="en-US" sz="1400" b="1" dirty="0">
                <a:solidFill>
                  <a:srgbClr val="FF0000"/>
                </a:solidFill>
                <a:latin typeface="Microsoft YaHei" panose="020B0503020204020204" pitchFamily="34" charset="-122"/>
                <a:ea typeface="Microsoft YaHei" panose="020B0503020204020204" pitchFamily="34" charset="-122"/>
              </a:rPr>
              <a:t>需手动切回分贝通 </a:t>
            </a:r>
            <a:r>
              <a:rPr lang="es-419" altLang="zh-CN" sz="1400" b="1" dirty="0">
                <a:solidFill>
                  <a:srgbClr val="FF0000"/>
                </a:solidFill>
                <a:latin typeface="Microsoft YaHei" panose="020B0503020204020204" pitchFamily="34" charset="-122"/>
                <a:ea typeface="Microsoft YaHei" panose="020B0503020204020204" pitchFamily="34" charset="-122"/>
              </a:rPr>
              <a:t>App </a:t>
            </a:r>
            <a:r>
              <a:rPr lang="zh-CN" altLang="en-US" sz="1400" b="1" dirty="0">
                <a:latin typeface="Microsoft YaHei" panose="020B0503020204020204" pitchFamily="34" charset="-122"/>
                <a:ea typeface="Microsoft YaHei" panose="020B0503020204020204" pitchFamily="34" charset="-122"/>
              </a:rPr>
              <a:t>提交订单。 </a:t>
            </a:r>
            <a:endParaRPr lang="en-US" altLang="zh-CN" sz="1400" b="1" dirty="0">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endParaRPr lang="en-US" altLang="zh-CN" sz="1400" b="1" dirty="0">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latin typeface="Microsoft YaHei" panose="020B0503020204020204" pitchFamily="34" charset="-122"/>
                <a:ea typeface="Microsoft YaHei" panose="020B0503020204020204" pitchFamily="34" charset="-122"/>
              </a:rPr>
              <a:t>Q</a:t>
            </a:r>
            <a:r>
              <a:rPr lang="en-US" altLang="zh-CN" sz="1400" b="1" dirty="0">
                <a:effectLst/>
                <a:latin typeface="Microsoft YaHei" panose="020B0503020204020204" pitchFamily="34" charset="-122"/>
                <a:ea typeface="Microsoft YaHei" panose="020B0503020204020204" pitchFamily="34" charset="-122"/>
              </a:rPr>
              <a:t>:</a:t>
            </a:r>
            <a:r>
              <a:rPr lang="zh-CN" altLang="en-US" sz="1400" b="1" dirty="0">
                <a:latin typeface="Microsoft YaHei" panose="020B0503020204020204" pitchFamily="34" charset="-122"/>
                <a:ea typeface="Microsoft YaHei" panose="020B0503020204020204" pitchFamily="34" charset="-122"/>
              </a:rPr>
              <a:t>如果因需要，需要订购</a:t>
            </a:r>
            <a:r>
              <a:rPr lang="zh-CN" altLang="en-US" sz="1400" b="1" dirty="0">
                <a:solidFill>
                  <a:srgbClr val="FF0000"/>
                </a:solidFill>
                <a:latin typeface="Microsoft YaHei" panose="020B0503020204020204" pitchFamily="34" charset="-122"/>
                <a:ea typeface="Microsoft YaHei" panose="020B0503020204020204" pitchFamily="34" charset="-122"/>
              </a:rPr>
              <a:t>超过职等限制的座次</a:t>
            </a:r>
            <a:r>
              <a:rPr lang="zh-CN" altLang="en-US" sz="1400" b="1" dirty="0">
                <a:latin typeface="Microsoft YaHei" panose="020B0503020204020204" pitchFamily="34" charset="-122"/>
                <a:ea typeface="Microsoft YaHei" panose="020B0503020204020204" pitchFamily="34" charset="-122"/>
              </a:rPr>
              <a:t>，怎么支付？</a:t>
            </a:r>
            <a:endParaRPr lang="en-US" altLang="zh-CN" sz="1400" b="1" dirty="0">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latin typeface="Microsoft YaHei" panose="020B0503020204020204" pitchFamily="34" charset="-122"/>
                <a:ea typeface="Microsoft YaHei" panose="020B0503020204020204" pitchFamily="34" charset="-122"/>
              </a:rPr>
              <a:t>A</a:t>
            </a:r>
            <a:r>
              <a:rPr lang="en-US" altLang="zh-CN" sz="1400" b="1" dirty="0">
                <a:effectLst/>
                <a:latin typeface="Microsoft YaHei" panose="020B0503020204020204" pitchFamily="34" charset="-122"/>
                <a:ea typeface="Microsoft YaHei" panose="020B0503020204020204" pitchFamily="34" charset="-122"/>
              </a:rPr>
              <a:t>:</a:t>
            </a:r>
            <a:r>
              <a:rPr lang="zh-CN" altLang="en-US" sz="1400" b="1" dirty="0">
                <a:latin typeface="Microsoft YaHei" panose="020B0503020204020204" pitchFamily="34" charset="-122"/>
                <a:ea typeface="Microsoft YaHei" panose="020B0503020204020204" pitchFamily="34" charset="-122"/>
              </a:rPr>
              <a:t>因支付宝企业码不支持组合支付，</a:t>
            </a:r>
            <a:r>
              <a:rPr lang="zh-CN" altLang="en-US" sz="1400" b="1" dirty="0">
                <a:solidFill>
                  <a:srgbClr val="FF0000"/>
                </a:solidFill>
                <a:latin typeface="Microsoft YaHei" panose="020B0503020204020204" pitchFamily="34" charset="-122"/>
                <a:ea typeface="Microsoft YaHei" panose="020B0503020204020204" pitchFamily="34" charset="-122"/>
              </a:rPr>
              <a:t>超规个人付需要员工支付 </a:t>
            </a:r>
            <a:r>
              <a:rPr lang="en-US" altLang="zh-CN" sz="1400" b="1" dirty="0">
                <a:solidFill>
                  <a:srgbClr val="FF0000"/>
                </a:solidFill>
                <a:latin typeface="Microsoft YaHei" panose="020B0503020204020204" pitchFamily="34" charset="-122"/>
                <a:ea typeface="Microsoft YaHei" panose="020B0503020204020204" pitchFamily="34" charset="-122"/>
              </a:rPr>
              <a:t>2 </a:t>
            </a:r>
            <a:r>
              <a:rPr lang="zh-CN" altLang="en-US" sz="1400" b="1" dirty="0">
                <a:solidFill>
                  <a:srgbClr val="FF0000"/>
                </a:solidFill>
                <a:latin typeface="Microsoft YaHei" panose="020B0503020204020204" pitchFamily="34" charset="-122"/>
                <a:ea typeface="Microsoft YaHei" panose="020B0503020204020204" pitchFamily="34" charset="-122"/>
              </a:rPr>
              <a:t>次</a:t>
            </a:r>
            <a:r>
              <a:rPr lang="en-US" altLang="zh-CN" sz="1400" b="1" dirty="0">
                <a:solidFill>
                  <a:srgbClr val="FF0000"/>
                </a:solidFill>
                <a:latin typeface="Microsoft YaHei" panose="020B0503020204020204" pitchFamily="34" charset="-122"/>
                <a:ea typeface="Microsoft YaHei" panose="020B0503020204020204" pitchFamily="34" charset="-122"/>
              </a:rPr>
              <a:t>:</a:t>
            </a: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400" b="1" dirty="0">
                <a:latin typeface="Microsoft YaHei" panose="020B0503020204020204" pitchFamily="34" charset="-122"/>
                <a:ea typeface="Microsoft YaHei" panose="020B0503020204020204" pitchFamily="34" charset="-122"/>
              </a:rPr>
              <a:t>支付步骤</a:t>
            </a:r>
            <a:r>
              <a:rPr lang="en-US" altLang="zh-CN" sz="1400" b="1" dirty="0">
                <a:latin typeface="Microsoft YaHei" panose="020B0503020204020204" pitchFamily="34" charset="-122"/>
                <a:ea typeface="Microsoft YaHei" panose="020B0503020204020204" pitchFamily="34" charset="-122"/>
              </a:rPr>
              <a:t>1:</a:t>
            </a:r>
            <a:r>
              <a:rPr lang="zh-CN" altLang="en-US" sz="1400" b="1" dirty="0">
                <a:latin typeface="Microsoft YaHei" panose="020B0503020204020204" pitchFamily="34" charset="-122"/>
                <a:ea typeface="Microsoft YaHei" panose="020B0503020204020204" pitchFamily="34" charset="-122"/>
              </a:rPr>
              <a:t>员工在分贝通收银台</a:t>
            </a:r>
            <a:r>
              <a:rPr lang="zh-CN" altLang="en-US" sz="1400" b="1" dirty="0">
                <a:solidFill>
                  <a:srgbClr val="FF0000"/>
                </a:solidFill>
                <a:latin typeface="Microsoft YaHei" panose="020B0503020204020204" pitchFamily="34" charset="-122"/>
                <a:ea typeface="Microsoft YaHei" panose="020B0503020204020204" pitchFamily="34" charset="-122"/>
              </a:rPr>
              <a:t>支付超规部分价差给分贝通</a:t>
            </a:r>
            <a:endParaRPr lang="en-US" altLang="zh-CN" sz="1400" b="1" dirty="0">
              <a:solidFill>
                <a:srgbClr val="FF0000"/>
              </a:solidFill>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400" b="1" dirty="0">
                <a:latin typeface="Microsoft YaHei" panose="020B0503020204020204" pitchFamily="34" charset="-122"/>
                <a:ea typeface="Microsoft YaHei" panose="020B0503020204020204" pitchFamily="34" charset="-122"/>
              </a:rPr>
              <a:t>支付步骤</a:t>
            </a:r>
            <a:r>
              <a:rPr lang="en-US" altLang="zh-CN" sz="1400" b="1" dirty="0">
                <a:latin typeface="Microsoft YaHei" panose="020B0503020204020204" pitchFamily="34" charset="-122"/>
                <a:ea typeface="Microsoft YaHei" panose="020B0503020204020204" pitchFamily="34" charset="-122"/>
              </a:rPr>
              <a:t>2:</a:t>
            </a:r>
            <a:r>
              <a:rPr lang="zh-CN" altLang="en-US" sz="1400" b="1" dirty="0">
                <a:solidFill>
                  <a:srgbClr val="FF0000"/>
                </a:solidFill>
                <a:latin typeface="Microsoft YaHei" panose="020B0503020204020204" pitchFamily="34" charset="-122"/>
                <a:ea typeface="Microsoft YaHei" panose="020B0503020204020204" pitchFamily="34" charset="-122"/>
              </a:rPr>
              <a:t>跳转到支付宝</a:t>
            </a:r>
            <a:r>
              <a:rPr lang="zh-CN" altLang="en-US" sz="1400" b="1" dirty="0">
                <a:latin typeface="Microsoft YaHei" panose="020B0503020204020204" pitchFamily="34" charset="-122"/>
                <a:ea typeface="Microsoft YaHei" panose="020B0503020204020204" pitchFamily="34" charset="-122"/>
              </a:rPr>
              <a:t>，用支付宝企业码支付火车票款</a:t>
            </a:r>
            <a:r>
              <a:rPr lang="en-US" altLang="zh-CN" sz="1400" b="1" dirty="0">
                <a:latin typeface="Microsoft YaHei" panose="020B0503020204020204" pitchFamily="34" charset="-122"/>
                <a:ea typeface="Microsoft YaHei" panose="020B0503020204020204" pitchFamily="34" charset="-122"/>
              </a:rPr>
              <a:t>(</a:t>
            </a:r>
            <a:r>
              <a:rPr lang="zh-CN" altLang="en-US" sz="1400" b="1" dirty="0">
                <a:latin typeface="Microsoft YaHei" panose="020B0503020204020204" pitchFamily="34" charset="-122"/>
                <a:ea typeface="Microsoft YaHei" panose="020B0503020204020204" pitchFamily="34" charset="-122"/>
              </a:rPr>
              <a:t>分贝通作为出资方垫付</a:t>
            </a:r>
            <a:r>
              <a:rPr lang="en-US" altLang="zh-CN" sz="1400" b="1" dirty="0">
                <a:latin typeface="Microsoft YaHei" panose="020B0503020204020204" pitchFamily="34" charset="-122"/>
                <a:ea typeface="Microsoft YaHei" panose="020B0503020204020204" pitchFamily="34" charset="-122"/>
              </a:rPr>
              <a:t>) </a:t>
            </a: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endParaRPr lang="en-US" altLang="zh-CN" sz="1400" b="1" dirty="0">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latin typeface="Microsoft YaHei" panose="020B0503020204020204" pitchFamily="34" charset="-122"/>
                <a:ea typeface="Microsoft YaHei" panose="020B0503020204020204" pitchFamily="34" charset="-122"/>
              </a:rPr>
              <a:t>Q</a:t>
            </a:r>
            <a:r>
              <a:rPr lang="en-US" altLang="zh-CN" sz="1400" b="1" dirty="0">
                <a:effectLst/>
                <a:latin typeface="Microsoft YaHei" panose="020B0503020204020204" pitchFamily="34" charset="-122"/>
                <a:ea typeface="Microsoft YaHei" panose="020B0503020204020204" pitchFamily="34" charset="-122"/>
              </a:rPr>
              <a:t>:</a:t>
            </a:r>
            <a:r>
              <a:rPr lang="zh-CN" altLang="en-US" sz="1400" b="1" dirty="0">
                <a:effectLst/>
                <a:latin typeface="Microsoft YaHei" panose="020B0503020204020204" pitchFamily="34" charset="-122"/>
                <a:ea typeface="Microsoft YaHei" panose="020B0503020204020204" pitchFamily="34" charset="-122"/>
              </a:rPr>
              <a:t>支付宝绑定这个方案，可以在分贝通进行</a:t>
            </a:r>
            <a:r>
              <a:rPr lang="zh-CN" altLang="en-US" sz="1400" b="1" dirty="0">
                <a:solidFill>
                  <a:srgbClr val="FF0000"/>
                </a:solidFill>
                <a:effectLst/>
                <a:latin typeface="Microsoft YaHei" panose="020B0503020204020204" pitchFamily="34" charset="-122"/>
                <a:ea typeface="Microsoft YaHei" panose="020B0503020204020204" pitchFamily="34" charset="-122"/>
              </a:rPr>
              <a:t>车票退</a:t>
            </a:r>
            <a:r>
              <a:rPr lang="en-US" altLang="zh-CN" sz="1400" b="1" dirty="0">
                <a:solidFill>
                  <a:srgbClr val="FF0000"/>
                </a:solidFill>
                <a:effectLst/>
                <a:latin typeface="Microsoft YaHei" panose="020B0503020204020204" pitchFamily="34" charset="-122"/>
                <a:ea typeface="Microsoft YaHei" panose="020B0503020204020204" pitchFamily="34" charset="-122"/>
              </a:rPr>
              <a:t>/</a:t>
            </a:r>
            <a:r>
              <a:rPr lang="zh-CN" altLang="en-US" sz="1400" b="1" dirty="0">
                <a:solidFill>
                  <a:srgbClr val="FF0000"/>
                </a:solidFill>
                <a:effectLst/>
                <a:latin typeface="Microsoft YaHei" panose="020B0503020204020204" pitchFamily="34" charset="-122"/>
                <a:ea typeface="Microsoft YaHei" panose="020B0503020204020204" pitchFamily="34" charset="-122"/>
              </a:rPr>
              <a:t>改</a:t>
            </a:r>
            <a:r>
              <a:rPr lang="zh-CN" altLang="en-US" sz="1400" b="1" dirty="0">
                <a:effectLst/>
                <a:latin typeface="Microsoft YaHei" panose="020B0503020204020204" pitchFamily="34" charset="-122"/>
                <a:ea typeface="Microsoft YaHei" panose="020B0503020204020204" pitchFamily="34" charset="-122"/>
              </a:rPr>
              <a:t>吗 ？</a:t>
            </a:r>
            <a:endParaRPr lang="zh-CN" altLang="en-US" sz="1400" b="1" dirty="0">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latin typeface="Microsoft YaHei" panose="020B0503020204020204" pitchFamily="34" charset="-122"/>
                <a:ea typeface="Microsoft YaHei" panose="020B0503020204020204" pitchFamily="34" charset="-122"/>
              </a:rPr>
              <a:t>A</a:t>
            </a:r>
            <a:r>
              <a:rPr lang="en-US" altLang="zh-CN" sz="1400" b="1" dirty="0">
                <a:effectLst/>
                <a:latin typeface="Microsoft YaHei" panose="020B0503020204020204" pitchFamily="34" charset="-122"/>
                <a:ea typeface="Microsoft YaHei" panose="020B0503020204020204" pitchFamily="34" charset="-122"/>
              </a:rPr>
              <a:t>:</a:t>
            </a:r>
            <a:r>
              <a:rPr lang="zh-CN" altLang="en-US" sz="1400" b="1" dirty="0">
                <a:solidFill>
                  <a:srgbClr val="FF0000"/>
                </a:solidFill>
                <a:latin typeface="Microsoft YaHei" panose="020B0503020204020204" pitchFamily="34" charset="-122"/>
                <a:ea typeface="Microsoft YaHei" panose="020B0503020204020204" pitchFamily="34" charset="-122"/>
              </a:rPr>
              <a:t>可以在分贝通进行退改票</a:t>
            </a:r>
            <a:r>
              <a:rPr lang="zh-CN" altLang="en-US" sz="1400" b="1" dirty="0">
                <a:latin typeface="Microsoft YaHei" panose="020B0503020204020204" pitchFamily="34" charset="-122"/>
                <a:ea typeface="Microsoft YaHei" panose="020B0503020204020204" pitchFamily="34" charset="-122"/>
              </a:rPr>
              <a:t>。退票的退款会原路返回企业账户，</a:t>
            </a:r>
            <a:r>
              <a:rPr lang="zh-CN" altLang="en-US" sz="1400" b="1" dirty="0">
                <a:solidFill>
                  <a:srgbClr val="FF0000"/>
                </a:solidFill>
                <a:latin typeface="Microsoft YaHei" panose="020B0503020204020204" pitchFamily="34" charset="-122"/>
                <a:ea typeface="Microsoft YaHei" panose="020B0503020204020204" pitchFamily="34" charset="-122"/>
              </a:rPr>
              <a:t>改签如需支付差价也会从企业账户自动扣除，员工不需要垫付</a:t>
            </a:r>
            <a:r>
              <a:rPr lang="zh-CN" altLang="en-US" sz="1400" b="1" dirty="0">
                <a:latin typeface="Microsoft YaHei" panose="020B0503020204020204" pitchFamily="34" charset="-122"/>
                <a:ea typeface="Microsoft YaHei" panose="020B0503020204020204" pitchFamily="34" charset="-122"/>
              </a:rPr>
              <a:t>。 </a:t>
            </a: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endParaRPr lang="zh-CN" altLang="en-US" sz="1400" b="1" dirty="0">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E61EBDD4-1A58-21D8-809D-F1BBBAF9D2A9}"/>
              </a:ext>
            </a:extLst>
          </p:cNvPr>
          <p:cNvPicPr>
            <a:picLocks noChangeAspect="1"/>
          </p:cNvPicPr>
          <p:nvPr/>
        </p:nvPicPr>
        <p:blipFill>
          <a:blip r:embed="rId2"/>
          <a:stretch>
            <a:fillRect/>
          </a:stretch>
        </p:blipFill>
        <p:spPr>
          <a:xfrm>
            <a:off x="192312" y="5989452"/>
            <a:ext cx="1398981" cy="508000"/>
          </a:xfrm>
          <a:prstGeom prst="rect">
            <a:avLst/>
          </a:prstGeom>
        </p:spPr>
      </p:pic>
      <p:sp>
        <p:nvSpPr>
          <p:cNvPr id="5" name="任意形状 4">
            <a:extLst>
              <a:ext uri="{FF2B5EF4-FFF2-40B4-BE49-F238E27FC236}">
                <a16:creationId xmlns:a16="http://schemas.microsoft.com/office/drawing/2014/main" id="{995086C7-2501-F238-D5DB-D61E6D7DD539}"/>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a:t>
            </a:r>
            <a:r>
              <a:rPr kumimoji="1" lang="en-US" altLang="zh-CN" b="1" dirty="0">
                <a:solidFill>
                  <a:schemeClr val="bg1"/>
                </a:solidFill>
                <a:latin typeface="Microsoft YaHei" panose="020B0503020204020204" pitchFamily="34" charset="-122"/>
                <a:ea typeface="Microsoft YaHei" panose="020B0503020204020204" pitchFamily="34" charset="-122"/>
              </a:rPr>
              <a:t>Q&amp;A</a:t>
            </a:r>
            <a:endParaRPr kumimoji="1" lang="zh-CN" altLang="en-US" b="1"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40768269"/>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A77D0-4F7E-B474-7047-32FE5854CEC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76D26D6-A071-25B5-5201-493CD1431C3B}"/>
              </a:ext>
            </a:extLst>
          </p:cNvPr>
          <p:cNvSpPr txBox="1"/>
          <p:nvPr/>
        </p:nvSpPr>
        <p:spPr>
          <a:xfrm>
            <a:off x="136070" y="486888"/>
            <a:ext cx="6542117" cy="369332"/>
          </a:xfrm>
          <a:prstGeom prst="rect">
            <a:avLst/>
          </a:prstGeom>
          <a:noFill/>
        </p:spPr>
        <p:txBody>
          <a:bodyPr wrap="square" rtlCol="0">
            <a:spAutoFit/>
          </a:bodyPr>
          <a:lstStyle/>
          <a:p>
            <a:r>
              <a:rPr kumimoji="1" lang="en-US" altLang="zh-CN" b="1" dirty="0">
                <a:solidFill>
                  <a:schemeClr val="bg1"/>
                </a:solidFill>
                <a:latin typeface="Microsoft YaHei" panose="020B0503020204020204" pitchFamily="34" charset="-122"/>
                <a:ea typeface="Microsoft YaHei" panose="020B0503020204020204" pitchFamily="34" charset="-122"/>
              </a:rPr>
              <a:t>" Q " &amp; " A"</a:t>
            </a:r>
          </a:p>
        </p:txBody>
      </p:sp>
      <p:sp>
        <p:nvSpPr>
          <p:cNvPr id="3" name="矩形 2">
            <a:extLst>
              <a:ext uri="{FF2B5EF4-FFF2-40B4-BE49-F238E27FC236}">
                <a16:creationId xmlns:a16="http://schemas.microsoft.com/office/drawing/2014/main" id="{EB9B094E-8A6F-BFA1-F9C2-0FF7082DD476}"/>
              </a:ext>
            </a:extLst>
          </p:cNvPr>
          <p:cNvSpPr/>
          <p:nvPr/>
        </p:nvSpPr>
        <p:spPr>
          <a:xfrm>
            <a:off x="192313" y="1124178"/>
            <a:ext cx="11807374" cy="2962734"/>
          </a:xfrm>
          <a:prstGeom prst="rect">
            <a:avLst/>
          </a:prstGeom>
        </p:spPr>
        <p:txBody>
          <a:bodyPr wrap="square">
            <a:spAutoFit/>
          </a:bodyPr>
          <a:lstStyle/>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solidFill>
                  <a:schemeClr val="tx1">
                    <a:lumMod val="95000"/>
                    <a:lumOff val="5000"/>
                  </a:schemeClr>
                </a:solidFill>
                <a:effectLst/>
                <a:latin typeface="Microsoft YaHei" panose="020B0503020204020204" pitchFamily="34" charset="-122"/>
                <a:ea typeface="Microsoft YaHei" panose="020B0503020204020204" pitchFamily="34" charset="-122"/>
              </a:rPr>
              <a:t>Q:</a:t>
            </a:r>
            <a:r>
              <a:rPr lang="zh-CN" altLang="en-US" sz="1400" b="1" dirty="0">
                <a:solidFill>
                  <a:srgbClr val="FF0000"/>
                </a:solidFill>
                <a:effectLst/>
                <a:latin typeface="Microsoft YaHei" panose="020B0503020204020204" pitchFamily="34" charset="-122"/>
                <a:ea typeface="Microsoft YaHei" panose="020B0503020204020204" pitchFamily="34" charset="-122"/>
              </a:rPr>
              <a:t>长途大巴、地铁、公交车</a:t>
            </a:r>
            <a:r>
              <a:rPr lang="zh-CN" altLang="en-US" sz="1400" b="1" dirty="0">
                <a:solidFill>
                  <a:schemeClr val="tx1">
                    <a:lumMod val="95000"/>
                    <a:lumOff val="5000"/>
                  </a:schemeClr>
                </a:solidFill>
                <a:effectLst/>
                <a:latin typeface="Microsoft YaHei" panose="020B0503020204020204" pitchFamily="34" charset="-122"/>
                <a:ea typeface="Microsoft YaHei" panose="020B0503020204020204" pitchFamily="34" charset="-122"/>
              </a:rPr>
              <a:t>怎么报销？</a:t>
            </a:r>
            <a:endParaRPr lang="en-US" altLang="zh-CN" sz="1400" b="1" dirty="0">
              <a:solidFill>
                <a:schemeClr val="tx1">
                  <a:lumMod val="95000"/>
                  <a:lumOff val="5000"/>
                </a:schemeClr>
              </a:solidFill>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solidFill>
                  <a:schemeClr val="tx1">
                    <a:lumMod val="95000"/>
                    <a:lumOff val="5000"/>
                  </a:schemeClr>
                </a:solidFill>
                <a:effectLst/>
                <a:latin typeface="Microsoft YaHei" panose="020B0503020204020204" pitchFamily="34" charset="-122"/>
                <a:ea typeface="Microsoft YaHei" panose="020B0503020204020204" pitchFamily="34" charset="-122"/>
              </a:rPr>
              <a:t>A:</a:t>
            </a:r>
            <a:r>
              <a:rPr lang="zh-CN" altLang="en-US" sz="1400" b="1" dirty="0">
                <a:solidFill>
                  <a:schemeClr val="tx1">
                    <a:lumMod val="95000"/>
                    <a:lumOff val="5000"/>
                  </a:schemeClr>
                </a:solidFill>
                <a:effectLst/>
                <a:latin typeface="Microsoft YaHei" panose="020B0503020204020204" pitchFamily="34" charset="-122"/>
                <a:ea typeface="Microsoft YaHei" panose="020B0503020204020204" pitchFamily="34" charset="-122"/>
              </a:rPr>
              <a:t>以上</a:t>
            </a:r>
            <a:r>
              <a:rPr lang="en-US" altLang="zh-CN" sz="1400" b="1" dirty="0">
                <a:solidFill>
                  <a:schemeClr val="tx1">
                    <a:lumMod val="95000"/>
                    <a:lumOff val="5000"/>
                  </a:schemeClr>
                </a:solidFill>
                <a:latin typeface="Microsoft YaHei" panose="020B0503020204020204" pitchFamily="34" charset="-122"/>
                <a:ea typeface="Microsoft YaHei" panose="020B0503020204020204" pitchFamily="34" charset="-122"/>
              </a:rPr>
              <a:t>3</a:t>
            </a:r>
            <a:r>
              <a:rPr lang="zh-CN" altLang="en-US" sz="1400" b="1" dirty="0">
                <a:solidFill>
                  <a:schemeClr val="tx1">
                    <a:lumMod val="95000"/>
                    <a:lumOff val="5000"/>
                  </a:schemeClr>
                </a:solidFill>
                <a:latin typeface="Microsoft YaHei" panose="020B0503020204020204" pitchFamily="34" charset="-122"/>
                <a:ea typeface="Microsoft YaHei" panose="020B0503020204020204" pitchFamily="34" charset="-122"/>
              </a:rPr>
              <a:t>种交通工具做为出行工具时，是不参与报销的。这</a:t>
            </a:r>
            <a:r>
              <a:rPr lang="en-US" altLang="zh-CN" sz="1400" b="1" dirty="0">
                <a:solidFill>
                  <a:schemeClr val="tx1">
                    <a:lumMod val="95000"/>
                    <a:lumOff val="5000"/>
                  </a:schemeClr>
                </a:solidFill>
                <a:latin typeface="Microsoft YaHei" panose="020B0503020204020204" pitchFamily="34" charset="-122"/>
                <a:ea typeface="Microsoft YaHei" panose="020B0503020204020204" pitchFamily="34" charset="-122"/>
              </a:rPr>
              <a:t>3</a:t>
            </a:r>
            <a:r>
              <a:rPr lang="zh-CN" altLang="en-US" sz="1400" b="1" dirty="0">
                <a:solidFill>
                  <a:schemeClr val="tx1">
                    <a:lumMod val="95000"/>
                    <a:lumOff val="5000"/>
                  </a:schemeClr>
                </a:solidFill>
                <a:latin typeface="Microsoft YaHei" panose="020B0503020204020204" pitchFamily="34" charset="-122"/>
                <a:ea typeface="Microsoft YaHei" panose="020B0503020204020204" pitchFamily="34" charset="-122"/>
              </a:rPr>
              <a:t>种交通工具产生的费用已包含在每月固定发放的油补补贴中。</a:t>
            </a:r>
            <a:endParaRPr lang="en-US" altLang="zh-CN" sz="1400" b="1" dirty="0">
              <a:solidFill>
                <a:schemeClr val="tx1">
                  <a:lumMod val="95000"/>
                  <a:lumOff val="5000"/>
                </a:schemeClr>
              </a:solidFill>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endParaRPr lang="en-US" altLang="zh-CN" sz="1400" b="1" dirty="0">
              <a:solidFill>
                <a:schemeClr val="tx1">
                  <a:lumMod val="95000"/>
                  <a:lumOff val="5000"/>
                </a:schemeClr>
              </a:solidFill>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solidFill>
                  <a:schemeClr val="tx1">
                    <a:lumMod val="95000"/>
                    <a:lumOff val="5000"/>
                  </a:schemeClr>
                </a:solidFill>
                <a:latin typeface="Microsoft YaHei" panose="020B0503020204020204" pitchFamily="34" charset="-122"/>
                <a:ea typeface="Microsoft YaHei" panose="020B0503020204020204" pitchFamily="34" charset="-122"/>
              </a:rPr>
              <a:t>Q:</a:t>
            </a:r>
            <a:r>
              <a:rPr lang="zh-CN" altLang="en-US" sz="1400" b="1" dirty="0">
                <a:solidFill>
                  <a:schemeClr val="tx1">
                    <a:lumMod val="95000"/>
                    <a:lumOff val="5000"/>
                  </a:schemeClr>
                </a:solidFill>
                <a:latin typeface="Microsoft YaHei" panose="020B0503020204020204" pitchFamily="34" charset="-122"/>
                <a:ea typeface="Microsoft YaHei" panose="020B0503020204020204" pitchFamily="34" charset="-122"/>
              </a:rPr>
              <a:t>如果因为出差申请单还没核准我就要急着乘车出差，可以事后报销吗？</a:t>
            </a:r>
            <a:endParaRPr lang="en-US" altLang="zh-CN" sz="1400" b="1" dirty="0">
              <a:solidFill>
                <a:schemeClr val="tx1">
                  <a:lumMod val="95000"/>
                  <a:lumOff val="5000"/>
                </a:schemeClr>
              </a:solidFill>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en-US" altLang="zh-CN" sz="1400" b="1" dirty="0">
                <a:solidFill>
                  <a:schemeClr val="tx1">
                    <a:lumMod val="95000"/>
                    <a:lumOff val="5000"/>
                  </a:schemeClr>
                </a:solidFill>
                <a:latin typeface="Microsoft YaHei" panose="020B0503020204020204" pitchFamily="34" charset="-122"/>
                <a:ea typeface="Microsoft YaHei" panose="020B0503020204020204" pitchFamily="34" charset="-122"/>
              </a:rPr>
              <a:t>A:</a:t>
            </a:r>
            <a:r>
              <a:rPr lang="zh-CN" altLang="en-US" sz="1400" b="1" dirty="0">
                <a:solidFill>
                  <a:schemeClr val="tx1">
                    <a:lumMod val="95000"/>
                    <a:lumOff val="5000"/>
                  </a:schemeClr>
                </a:solidFill>
                <a:latin typeface="Microsoft YaHei" panose="020B0503020204020204" pitchFamily="34" charset="-122"/>
                <a:ea typeface="Microsoft YaHei" panose="020B0503020204020204" pitchFamily="34" charset="-122"/>
              </a:rPr>
              <a:t>理论上每周五前提交下周的出差申请表，周五时统一审批。不会造成无法订票的情况。如遇特殊情况，临时出差，请及时联系自己上级安排审批，以免造成无法订票的情况。</a:t>
            </a:r>
            <a:endParaRPr lang="en-US" altLang="zh-CN" sz="1400" b="1" dirty="0">
              <a:solidFill>
                <a:schemeClr val="tx1">
                  <a:lumMod val="95000"/>
                  <a:lumOff val="5000"/>
                </a:schemeClr>
              </a:solidFill>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400" b="1" dirty="0">
                <a:solidFill>
                  <a:schemeClr val="tx1">
                    <a:lumMod val="95000"/>
                    <a:lumOff val="5000"/>
                  </a:schemeClr>
                </a:solidFill>
                <a:latin typeface="Microsoft YaHei" panose="020B0503020204020204" pitchFamily="34" charset="-122"/>
                <a:ea typeface="Microsoft YaHei" panose="020B0503020204020204" pitchFamily="34" charset="-122"/>
              </a:rPr>
              <a:t>无特殊原因，</a:t>
            </a:r>
            <a:r>
              <a:rPr lang="zh-CN" altLang="en-US" sz="1400" b="1" dirty="0">
                <a:solidFill>
                  <a:srgbClr val="FF0000"/>
                </a:solidFill>
                <a:latin typeface="Microsoft YaHei" panose="020B0503020204020204" pitchFamily="34" charset="-122"/>
                <a:ea typeface="Microsoft YaHei" panose="020B0503020204020204" pitchFamily="34" charset="-122"/>
              </a:rPr>
              <a:t>不允许线下报销</a:t>
            </a:r>
            <a:r>
              <a:rPr lang="zh-CN" altLang="en-US" sz="1400" b="1" dirty="0">
                <a:solidFill>
                  <a:schemeClr val="tx1">
                    <a:lumMod val="95000"/>
                    <a:lumOff val="5000"/>
                  </a:schemeClr>
                </a:solidFill>
                <a:latin typeface="Microsoft YaHei" panose="020B0503020204020204" pitchFamily="34" charset="-122"/>
                <a:ea typeface="Microsoft YaHei" panose="020B0503020204020204" pitchFamily="34" charset="-122"/>
              </a:rPr>
              <a:t>。</a:t>
            </a:r>
            <a:endParaRPr lang="en-US" altLang="zh-CN" sz="1400" b="1" dirty="0">
              <a:solidFill>
                <a:schemeClr val="tx1">
                  <a:lumMod val="95000"/>
                  <a:lumOff val="5000"/>
                </a:schemeClr>
              </a:solidFill>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endParaRPr lang="en-US" altLang="zh-CN" sz="1400" b="1" dirty="0">
              <a:solidFill>
                <a:schemeClr val="tx1">
                  <a:lumMod val="95000"/>
                  <a:lumOff val="5000"/>
                </a:schemeClr>
              </a:solidFill>
              <a:effectLst/>
              <a:latin typeface="Microsoft YaHei" panose="020B0503020204020204" pitchFamily="34" charset="-122"/>
              <a:ea typeface="Microsoft YaHei" panose="020B0503020204020204" pitchFamily="34" charset="-122"/>
            </a:endParaRPr>
          </a:p>
          <a:p>
            <a:pPr defTabSz="344170">
              <a:lnSpc>
                <a:spcPct val="150000"/>
              </a:lnSpc>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endParaRPr lang="zh-CN" altLang="en-US" sz="1400" b="1" dirty="0">
              <a:solidFill>
                <a:schemeClr val="tx1">
                  <a:lumMod val="95000"/>
                  <a:lumOff val="5000"/>
                </a:schemeClr>
              </a:solidFill>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195BCCE7-878D-EEA5-F1F0-616E60AC549D}"/>
              </a:ext>
            </a:extLst>
          </p:cNvPr>
          <p:cNvPicPr>
            <a:picLocks noChangeAspect="1"/>
          </p:cNvPicPr>
          <p:nvPr/>
        </p:nvPicPr>
        <p:blipFill>
          <a:blip r:embed="rId2"/>
          <a:stretch>
            <a:fillRect/>
          </a:stretch>
        </p:blipFill>
        <p:spPr>
          <a:xfrm>
            <a:off x="192312" y="5989452"/>
            <a:ext cx="1398981" cy="508000"/>
          </a:xfrm>
          <a:prstGeom prst="rect">
            <a:avLst/>
          </a:prstGeom>
        </p:spPr>
      </p:pic>
      <p:sp>
        <p:nvSpPr>
          <p:cNvPr id="5" name="任意形状 4">
            <a:extLst>
              <a:ext uri="{FF2B5EF4-FFF2-40B4-BE49-F238E27FC236}">
                <a16:creationId xmlns:a16="http://schemas.microsoft.com/office/drawing/2014/main" id="{29CD6DE7-F9EB-F04A-A075-F36CD3A52268}"/>
              </a:ext>
            </a:extLst>
          </p:cNvPr>
          <p:cNvSpPr>
            <a:spLocks/>
          </p:cNvSpPr>
          <p:nvPr/>
        </p:nvSpPr>
        <p:spPr>
          <a:xfrm>
            <a:off x="0" y="355921"/>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 </a:t>
            </a:r>
            <a:r>
              <a:rPr kumimoji="1" lang="en-US" altLang="zh-CN" b="1" dirty="0">
                <a:solidFill>
                  <a:schemeClr val="bg1"/>
                </a:solidFill>
                <a:latin typeface="Microsoft YaHei" panose="020B0503020204020204" pitchFamily="34" charset="-122"/>
                <a:ea typeface="Microsoft YaHei" panose="020B0503020204020204" pitchFamily="34" charset="-122"/>
              </a:rPr>
              <a:t>Q&amp;A</a:t>
            </a:r>
            <a:endParaRPr kumimoji="1" lang="zh-CN" altLang="en-US" b="1"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77072897"/>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77EDD-7AA8-5EAE-7F6F-BDA6118B6F5E}"/>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E902BF96-2EB6-4A46-3FDA-5CE32555C3DF}"/>
              </a:ext>
            </a:extLst>
          </p:cNvPr>
          <p:cNvPicPr>
            <a:picLocks noChangeAspect="1"/>
          </p:cNvPicPr>
          <p:nvPr/>
        </p:nvPicPr>
        <p:blipFill>
          <a:blip r:embed="rId2"/>
          <a:stretch>
            <a:fillRect/>
          </a:stretch>
        </p:blipFill>
        <p:spPr>
          <a:xfrm>
            <a:off x="359311" y="5901212"/>
            <a:ext cx="1308100" cy="469900"/>
          </a:xfrm>
          <a:prstGeom prst="rect">
            <a:avLst/>
          </a:prstGeom>
        </p:spPr>
      </p:pic>
      <p:sp>
        <p:nvSpPr>
          <p:cNvPr id="3" name="任意形状 2">
            <a:extLst>
              <a:ext uri="{FF2B5EF4-FFF2-40B4-BE49-F238E27FC236}">
                <a16:creationId xmlns:a16="http://schemas.microsoft.com/office/drawing/2014/main" id="{7F4FDB69-4854-C021-E9BE-A28EC03160C1}"/>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分贝通服务说明</a:t>
            </a:r>
          </a:p>
        </p:txBody>
      </p:sp>
      <p:grpSp>
        <p:nvGrpSpPr>
          <p:cNvPr id="4" name="组合 3">
            <a:extLst>
              <a:ext uri="{FF2B5EF4-FFF2-40B4-BE49-F238E27FC236}">
                <a16:creationId xmlns:a16="http://schemas.microsoft.com/office/drawing/2014/main" id="{95EF60E0-DC74-85CB-79EF-D0197FF8E46D}"/>
              </a:ext>
            </a:extLst>
          </p:cNvPr>
          <p:cNvGrpSpPr/>
          <p:nvPr/>
        </p:nvGrpSpPr>
        <p:grpSpPr>
          <a:xfrm>
            <a:off x="785115" y="2135672"/>
            <a:ext cx="2221455" cy="4377867"/>
            <a:chOff x="7050585" y="1251456"/>
            <a:chExt cx="1769570" cy="3612149"/>
          </a:xfrm>
        </p:grpSpPr>
        <p:sp>
          <p:nvSpPr>
            <p:cNvPr id="5" name="文本框 4">
              <a:extLst>
                <a:ext uri="{FF2B5EF4-FFF2-40B4-BE49-F238E27FC236}">
                  <a16:creationId xmlns:a16="http://schemas.microsoft.com/office/drawing/2014/main" id="{4D52ED86-2738-317D-4DE6-FFCB26385244}"/>
                </a:ext>
              </a:extLst>
            </p:cNvPr>
            <p:cNvSpPr txBox="1"/>
            <p:nvPr/>
          </p:nvSpPr>
          <p:spPr>
            <a:xfrm>
              <a:off x="7050585" y="1251456"/>
              <a:ext cx="1769570" cy="142633"/>
            </a:xfrm>
            <a:prstGeom prst="rect">
              <a:avLst/>
            </a:prstGeom>
            <a:ln w="12700">
              <a:miter lim="400000"/>
            </a:ln>
          </p:spPr>
          <p:txBody>
            <a:bodyPr wrap="square" lIns="16727" tIns="16727" rIns="16727" bIns="16727" anchor="ctr">
              <a:spAutoFit/>
            </a:bodyPr>
            <a:lstStyle>
              <a:defPPr>
                <a:defRPr lang="zh-CN"/>
              </a:defPPr>
              <a:lvl1pPr algn="ctr" defTabSz="916940">
                <a:lnSpc>
                  <a:spcPct val="120000"/>
                </a:lnSpc>
                <a:defRPr sz="2500">
                  <a:solidFill>
                    <a:srgbClr val="53585F"/>
                  </a:solidFill>
                  <a:latin typeface="华文楷体" panose="02010600040101010101" pitchFamily="2" charset="-122"/>
                  <a:ea typeface="华文楷体" panose="02010600040101010101" pitchFamily="2" charset="-122"/>
                  <a:cs typeface="微软雅黑" panose="020B0503020204020204" pitchFamily="34" charset="-122"/>
                </a:defRPr>
              </a:lvl1pPr>
            </a:lstStyle>
            <a:p>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客服入口</a:t>
              </a:r>
              <a:r>
                <a:rPr lang="en-US" altLang="zh-CN" sz="900" dirty="0">
                  <a:solidFill>
                    <a:schemeClr val="tx1">
                      <a:lumMod val="75000"/>
                      <a:lumOff val="25000"/>
                    </a:schemeClr>
                  </a:solidFill>
                  <a:latin typeface="等线" panose="02010600030101010101" pitchFamily="2" charset="-122"/>
                  <a:ea typeface="等线" panose="02010600030101010101" pitchFamily="2" charset="-122"/>
                  <a:sym typeface="Helvetica Light"/>
                </a:rPr>
                <a:t>1-</a:t>
              </a:r>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消息</a:t>
              </a:r>
              <a:r>
                <a:rPr lang="en-US" altLang="zh-CN" sz="900" dirty="0">
                  <a:solidFill>
                    <a:schemeClr val="tx1">
                      <a:lumMod val="75000"/>
                      <a:lumOff val="25000"/>
                    </a:schemeClr>
                  </a:solidFill>
                  <a:latin typeface="等线" panose="02010600030101010101" pitchFamily="2" charset="-122"/>
                  <a:ea typeface="等线" panose="02010600030101010101" pitchFamily="2" charset="-122"/>
                  <a:sym typeface="Helvetica Light"/>
                </a:rPr>
                <a:t>/</a:t>
              </a:r>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右上角客服</a:t>
              </a:r>
              <a:r>
                <a:rPr lang="en-US" altLang="zh-CN" sz="900" dirty="0">
                  <a:solidFill>
                    <a:schemeClr val="tx1">
                      <a:lumMod val="75000"/>
                      <a:lumOff val="25000"/>
                    </a:schemeClr>
                  </a:solidFill>
                  <a:latin typeface="等线" panose="02010600030101010101" pitchFamily="2" charset="-122"/>
                  <a:ea typeface="等线" panose="02010600030101010101" pitchFamily="2" charset="-122"/>
                  <a:sym typeface="Helvetica Light"/>
                </a:rPr>
                <a:t>icon</a:t>
              </a:r>
              <a:endPar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endParaRPr>
            </a:p>
          </p:txBody>
        </p:sp>
        <p:grpSp>
          <p:nvGrpSpPr>
            <p:cNvPr id="6" name="组合 5">
              <a:extLst>
                <a:ext uri="{FF2B5EF4-FFF2-40B4-BE49-F238E27FC236}">
                  <a16:creationId xmlns:a16="http://schemas.microsoft.com/office/drawing/2014/main" id="{434D0707-266C-EC2B-A8DB-B57E5362B169}"/>
                </a:ext>
              </a:extLst>
            </p:cNvPr>
            <p:cNvGrpSpPr/>
            <p:nvPr/>
          </p:nvGrpSpPr>
          <p:grpSpPr>
            <a:xfrm>
              <a:off x="7141848" y="1429078"/>
              <a:ext cx="1587045" cy="3434527"/>
              <a:chOff x="7141848" y="1429078"/>
              <a:chExt cx="1587045" cy="3434527"/>
            </a:xfrm>
          </p:grpSpPr>
          <p:pic>
            <p:nvPicPr>
              <p:cNvPr id="7" name="图片 6" descr="图形用户界面, 应用程序&#10;&#10;描述已自动生成">
                <a:extLst>
                  <a:ext uri="{FF2B5EF4-FFF2-40B4-BE49-F238E27FC236}">
                    <a16:creationId xmlns:a16="http://schemas.microsoft.com/office/drawing/2014/main" id="{48BBCEAA-0FDE-3A9B-C7E6-793BBBF9BD23}"/>
                  </a:ext>
                </a:extLst>
              </p:cNvPr>
              <p:cNvPicPr>
                <a:picLocks noChangeAspect="1"/>
              </p:cNvPicPr>
              <p:nvPr/>
            </p:nvPicPr>
            <p:blipFill>
              <a:blip r:embed="rId3" cstate="print"/>
              <a:stretch>
                <a:fillRect/>
              </a:stretch>
            </p:blipFill>
            <p:spPr>
              <a:xfrm>
                <a:off x="7141848" y="1429078"/>
                <a:ext cx="1587045" cy="3434527"/>
              </a:xfrm>
              <a:prstGeom prst="rect">
                <a:avLst/>
              </a:prstGeom>
            </p:spPr>
          </p:pic>
          <p:sp>
            <p:nvSpPr>
              <p:cNvPr id="8" name="矩形 7">
                <a:extLst>
                  <a:ext uri="{FF2B5EF4-FFF2-40B4-BE49-F238E27FC236}">
                    <a16:creationId xmlns:a16="http://schemas.microsoft.com/office/drawing/2014/main" id="{319557F1-8011-C16E-E7CC-71D8A62E768B}"/>
                  </a:ext>
                </a:extLst>
              </p:cNvPr>
              <p:cNvSpPr/>
              <p:nvPr/>
            </p:nvSpPr>
            <p:spPr>
              <a:xfrm>
                <a:off x="8400779" y="1619752"/>
                <a:ext cx="152496" cy="165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43680E73-6EA6-CF91-4696-C0462D49CA2A}"/>
                  </a:ext>
                </a:extLst>
              </p:cNvPr>
              <p:cNvSpPr/>
              <p:nvPr/>
            </p:nvSpPr>
            <p:spPr>
              <a:xfrm>
                <a:off x="7455913" y="4528853"/>
                <a:ext cx="323871" cy="2221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grpSp>
        <p:nvGrpSpPr>
          <p:cNvPr id="10" name="组合 9">
            <a:extLst>
              <a:ext uri="{FF2B5EF4-FFF2-40B4-BE49-F238E27FC236}">
                <a16:creationId xmlns:a16="http://schemas.microsoft.com/office/drawing/2014/main" id="{0188C4EE-ADE8-12E8-3DEA-1F3EC860BDD7}"/>
              </a:ext>
            </a:extLst>
          </p:cNvPr>
          <p:cNvGrpSpPr/>
          <p:nvPr/>
        </p:nvGrpSpPr>
        <p:grpSpPr>
          <a:xfrm>
            <a:off x="4110675" y="2149434"/>
            <a:ext cx="2553680" cy="4523472"/>
            <a:chOff x="3847575" y="1343685"/>
            <a:chExt cx="1769570" cy="3602506"/>
          </a:xfrm>
        </p:grpSpPr>
        <p:sp>
          <p:nvSpPr>
            <p:cNvPr id="11" name="文本框 10">
              <a:extLst>
                <a:ext uri="{FF2B5EF4-FFF2-40B4-BE49-F238E27FC236}">
                  <a16:creationId xmlns:a16="http://schemas.microsoft.com/office/drawing/2014/main" id="{DF88D1C6-EFDB-02CE-66F1-6A0B82C1E14F}"/>
                </a:ext>
              </a:extLst>
            </p:cNvPr>
            <p:cNvSpPr txBox="1"/>
            <p:nvPr/>
          </p:nvSpPr>
          <p:spPr>
            <a:xfrm>
              <a:off x="3847575" y="1343685"/>
              <a:ext cx="1769570" cy="137673"/>
            </a:xfrm>
            <a:prstGeom prst="rect">
              <a:avLst/>
            </a:prstGeom>
            <a:ln w="12700">
              <a:miter lim="400000"/>
            </a:ln>
          </p:spPr>
          <p:txBody>
            <a:bodyPr wrap="square" lIns="16727" tIns="16727" rIns="16727" bIns="16727" anchor="ctr">
              <a:spAutoFit/>
            </a:bodyPr>
            <a:lstStyle>
              <a:defPPr>
                <a:defRPr lang="zh-CN"/>
              </a:defPPr>
              <a:lvl1pPr algn="ctr" defTabSz="916940">
                <a:lnSpc>
                  <a:spcPct val="120000"/>
                </a:lnSpc>
                <a:defRPr sz="2500">
                  <a:solidFill>
                    <a:srgbClr val="53585F"/>
                  </a:solidFill>
                  <a:latin typeface="华文楷体" panose="02010600040101010101" pitchFamily="2" charset="-122"/>
                  <a:ea typeface="华文楷体" panose="02010600040101010101" pitchFamily="2" charset="-122"/>
                  <a:cs typeface="微软雅黑" panose="020B0503020204020204" pitchFamily="34" charset="-122"/>
                </a:defRPr>
              </a:lvl1pPr>
            </a:lstStyle>
            <a:p>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客服入口</a:t>
              </a:r>
              <a:r>
                <a:rPr lang="en-US" altLang="zh-CN" sz="900" dirty="0">
                  <a:solidFill>
                    <a:schemeClr val="tx1">
                      <a:lumMod val="75000"/>
                      <a:lumOff val="25000"/>
                    </a:schemeClr>
                  </a:solidFill>
                  <a:latin typeface="等线" panose="02010600030101010101" pitchFamily="2" charset="-122"/>
                  <a:ea typeface="等线" panose="02010600030101010101" pitchFamily="2" charset="-122"/>
                  <a:sym typeface="Helvetica Light"/>
                </a:rPr>
                <a:t>2-</a:t>
              </a:r>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我的</a:t>
              </a:r>
              <a:r>
                <a:rPr lang="en-US" altLang="zh-CN" sz="900" dirty="0">
                  <a:solidFill>
                    <a:schemeClr val="tx1">
                      <a:lumMod val="75000"/>
                      <a:lumOff val="25000"/>
                    </a:schemeClr>
                  </a:solidFill>
                  <a:latin typeface="等线" panose="02010600030101010101" pitchFamily="2" charset="-122"/>
                  <a:ea typeface="等线" panose="02010600030101010101" pitchFamily="2" charset="-122"/>
                  <a:sym typeface="Helvetica Light"/>
                </a:rPr>
                <a:t>/</a:t>
              </a:r>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在线客服</a:t>
              </a:r>
            </a:p>
          </p:txBody>
        </p:sp>
        <p:grpSp>
          <p:nvGrpSpPr>
            <p:cNvPr id="12" name="组合 11">
              <a:extLst>
                <a:ext uri="{FF2B5EF4-FFF2-40B4-BE49-F238E27FC236}">
                  <a16:creationId xmlns:a16="http://schemas.microsoft.com/office/drawing/2014/main" id="{88E76491-8511-FDB0-2323-0F22854DAAFA}"/>
                </a:ext>
              </a:extLst>
            </p:cNvPr>
            <p:cNvGrpSpPr/>
            <p:nvPr/>
          </p:nvGrpSpPr>
          <p:grpSpPr>
            <a:xfrm>
              <a:off x="3962683" y="1614870"/>
              <a:ext cx="1539355" cy="3331321"/>
              <a:chOff x="3962683" y="1614870"/>
              <a:chExt cx="1539355" cy="3331321"/>
            </a:xfrm>
          </p:grpSpPr>
          <p:pic>
            <p:nvPicPr>
              <p:cNvPr id="13" name="图片 12" descr="图形用户界面, 文本, 应用程序, 电子邮件&#10;&#10;描述已自动生成">
                <a:extLst>
                  <a:ext uri="{FF2B5EF4-FFF2-40B4-BE49-F238E27FC236}">
                    <a16:creationId xmlns:a16="http://schemas.microsoft.com/office/drawing/2014/main" id="{6D826CCC-F497-D69D-B704-4FC932841A23}"/>
                  </a:ext>
                </a:extLst>
              </p:cNvPr>
              <p:cNvPicPr>
                <a:picLocks noChangeAspect="1"/>
              </p:cNvPicPr>
              <p:nvPr/>
            </p:nvPicPr>
            <p:blipFill>
              <a:blip r:embed="rId4" cstate="print"/>
              <a:stretch>
                <a:fillRect/>
              </a:stretch>
            </p:blipFill>
            <p:spPr>
              <a:xfrm>
                <a:off x="3962683" y="1614870"/>
                <a:ext cx="1539355" cy="3331321"/>
              </a:xfrm>
              <a:prstGeom prst="rect">
                <a:avLst/>
              </a:prstGeom>
            </p:spPr>
          </p:pic>
          <p:sp>
            <p:nvSpPr>
              <p:cNvPr id="14" name="矩形 13">
                <a:extLst>
                  <a:ext uri="{FF2B5EF4-FFF2-40B4-BE49-F238E27FC236}">
                    <a16:creationId xmlns:a16="http://schemas.microsoft.com/office/drawing/2014/main" id="{549D8BBB-420A-D8F7-8724-ABF72A22119B}"/>
                  </a:ext>
                </a:extLst>
              </p:cNvPr>
              <p:cNvSpPr/>
              <p:nvPr/>
            </p:nvSpPr>
            <p:spPr>
              <a:xfrm>
                <a:off x="3962683" y="4215592"/>
                <a:ext cx="1539354" cy="2221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F277CD94-EB3C-7A1A-9769-54EE4393E68C}"/>
                  </a:ext>
                </a:extLst>
              </p:cNvPr>
              <p:cNvSpPr/>
              <p:nvPr/>
            </p:nvSpPr>
            <p:spPr>
              <a:xfrm>
                <a:off x="5178166" y="4617467"/>
                <a:ext cx="323871" cy="2221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grpSp>
        <p:nvGrpSpPr>
          <p:cNvPr id="16" name="组合 15">
            <a:extLst>
              <a:ext uri="{FF2B5EF4-FFF2-40B4-BE49-F238E27FC236}">
                <a16:creationId xmlns:a16="http://schemas.microsoft.com/office/drawing/2014/main" id="{C0279CB6-0FA2-DE7B-B383-05F9080F599F}"/>
              </a:ext>
            </a:extLst>
          </p:cNvPr>
          <p:cNvGrpSpPr/>
          <p:nvPr/>
        </p:nvGrpSpPr>
        <p:grpSpPr>
          <a:xfrm>
            <a:off x="7942774" y="2063640"/>
            <a:ext cx="2270531" cy="4509510"/>
            <a:chOff x="5907360" y="1342733"/>
            <a:chExt cx="1769570" cy="3598096"/>
          </a:xfrm>
        </p:grpSpPr>
        <p:sp>
          <p:nvSpPr>
            <p:cNvPr id="17" name="文本框 16">
              <a:extLst>
                <a:ext uri="{FF2B5EF4-FFF2-40B4-BE49-F238E27FC236}">
                  <a16:creationId xmlns:a16="http://schemas.microsoft.com/office/drawing/2014/main" id="{0F07E4F0-9FC4-CC2A-D42B-2D2EADABE7B9}"/>
                </a:ext>
              </a:extLst>
            </p:cNvPr>
            <p:cNvSpPr txBox="1"/>
            <p:nvPr/>
          </p:nvSpPr>
          <p:spPr>
            <a:xfrm>
              <a:off x="5907360" y="1342733"/>
              <a:ext cx="1769570" cy="137930"/>
            </a:xfrm>
            <a:prstGeom prst="rect">
              <a:avLst/>
            </a:prstGeom>
            <a:ln w="12700">
              <a:miter lim="400000"/>
            </a:ln>
          </p:spPr>
          <p:txBody>
            <a:bodyPr wrap="square" lIns="16727" tIns="16727" rIns="16727" bIns="16727" anchor="ctr">
              <a:spAutoFit/>
            </a:bodyPr>
            <a:lstStyle>
              <a:defPPr>
                <a:defRPr lang="zh-CN"/>
              </a:defPPr>
              <a:lvl1pPr algn="ctr" defTabSz="916940">
                <a:lnSpc>
                  <a:spcPct val="120000"/>
                </a:lnSpc>
                <a:defRPr sz="2500">
                  <a:solidFill>
                    <a:srgbClr val="53585F"/>
                  </a:solidFill>
                  <a:latin typeface="华文楷体" panose="02010600040101010101" pitchFamily="2" charset="-122"/>
                  <a:ea typeface="华文楷体" panose="02010600040101010101" pitchFamily="2" charset="-122"/>
                  <a:cs typeface="微软雅黑" panose="020B0503020204020204" pitchFamily="34" charset="-122"/>
                </a:defRPr>
              </a:lvl1pPr>
            </a:lstStyle>
            <a:p>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客服入口</a:t>
              </a:r>
              <a:r>
                <a:rPr lang="en-US" altLang="zh-CN" sz="900" dirty="0">
                  <a:solidFill>
                    <a:schemeClr val="tx1">
                      <a:lumMod val="75000"/>
                      <a:lumOff val="25000"/>
                    </a:schemeClr>
                  </a:solidFill>
                  <a:latin typeface="等线" panose="02010600030101010101" pitchFamily="2" charset="-122"/>
                  <a:ea typeface="等线" panose="02010600030101010101" pitchFamily="2" charset="-122"/>
                  <a:sym typeface="Helvetica Light"/>
                </a:rPr>
                <a:t>3-</a:t>
              </a:r>
              <a:r>
                <a:rPr lang="zh-CN" altLang="en-US" sz="900" dirty="0">
                  <a:solidFill>
                    <a:schemeClr val="tx1">
                      <a:lumMod val="75000"/>
                      <a:lumOff val="25000"/>
                    </a:schemeClr>
                  </a:solidFill>
                  <a:latin typeface="等线" panose="02010600030101010101" pitchFamily="2" charset="-122"/>
                  <a:ea typeface="等线" panose="02010600030101010101" pitchFamily="2" charset="-122"/>
                  <a:sym typeface="Helvetica Light"/>
                </a:rPr>
                <a:t>订单页面底部</a:t>
              </a:r>
            </a:p>
          </p:txBody>
        </p:sp>
        <p:grpSp>
          <p:nvGrpSpPr>
            <p:cNvPr id="18" name="组合 17">
              <a:extLst>
                <a:ext uri="{FF2B5EF4-FFF2-40B4-BE49-F238E27FC236}">
                  <a16:creationId xmlns:a16="http://schemas.microsoft.com/office/drawing/2014/main" id="{2F0A4BA1-B877-E1E0-503C-FD38151C7B6E}"/>
                </a:ext>
              </a:extLst>
            </p:cNvPr>
            <p:cNvGrpSpPr/>
            <p:nvPr/>
          </p:nvGrpSpPr>
          <p:grpSpPr>
            <a:xfrm>
              <a:off x="6022468" y="1609507"/>
              <a:ext cx="1540430" cy="3331322"/>
              <a:chOff x="5908435" y="1609507"/>
              <a:chExt cx="1540430" cy="3331322"/>
            </a:xfrm>
          </p:grpSpPr>
          <p:pic>
            <p:nvPicPr>
              <p:cNvPr id="19" name="图片 18" descr="图形用户界面, 文本, 应用程序&#10;&#10;描述已自动生成">
                <a:extLst>
                  <a:ext uri="{FF2B5EF4-FFF2-40B4-BE49-F238E27FC236}">
                    <a16:creationId xmlns:a16="http://schemas.microsoft.com/office/drawing/2014/main" id="{FCB79751-49D5-C722-4D18-42ECB66F5979}"/>
                  </a:ext>
                </a:extLst>
              </p:cNvPr>
              <p:cNvPicPr>
                <a:picLocks noChangeAspect="1"/>
              </p:cNvPicPr>
              <p:nvPr/>
            </p:nvPicPr>
            <p:blipFill>
              <a:blip r:embed="rId5" cstate="print"/>
              <a:stretch>
                <a:fillRect/>
              </a:stretch>
            </p:blipFill>
            <p:spPr>
              <a:xfrm>
                <a:off x="5909510" y="1609507"/>
                <a:ext cx="1539355" cy="3331322"/>
              </a:xfrm>
              <a:prstGeom prst="rect">
                <a:avLst/>
              </a:prstGeom>
            </p:spPr>
          </p:pic>
          <p:sp>
            <p:nvSpPr>
              <p:cNvPr id="20" name="矩形 19">
                <a:extLst>
                  <a:ext uri="{FF2B5EF4-FFF2-40B4-BE49-F238E27FC236}">
                    <a16:creationId xmlns:a16="http://schemas.microsoft.com/office/drawing/2014/main" id="{C6111B88-8F17-B962-CB0A-8451AFC57A77}"/>
                  </a:ext>
                </a:extLst>
              </p:cNvPr>
              <p:cNvSpPr/>
              <p:nvPr/>
            </p:nvSpPr>
            <p:spPr>
              <a:xfrm>
                <a:off x="5908435" y="4616644"/>
                <a:ext cx="796278" cy="2221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21" name="矩形 20">
            <a:extLst>
              <a:ext uri="{FF2B5EF4-FFF2-40B4-BE49-F238E27FC236}">
                <a16:creationId xmlns:a16="http://schemas.microsoft.com/office/drawing/2014/main" id="{4CAD72D3-39FD-780D-3621-B859FF5CE4B8}"/>
              </a:ext>
            </a:extLst>
          </p:cNvPr>
          <p:cNvSpPr/>
          <p:nvPr/>
        </p:nvSpPr>
        <p:spPr>
          <a:xfrm>
            <a:off x="234205" y="1022303"/>
            <a:ext cx="11409155" cy="787460"/>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分贝通支持</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24</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小时</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-400</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电话客服服务支持。</a:t>
            </a:r>
            <a:r>
              <a:rPr lang="zh-CN" altLang="en-US" sz="1600" b="1" dirty="0">
                <a:solidFill>
                  <a:srgbClr val="FF0000"/>
                </a:solidFill>
                <a:latin typeface="微软雅黑" panose="020B0503020204020204" pitchFamily="34" charset="-122"/>
                <a:ea typeface="微软雅黑" panose="020B0503020204020204" pitchFamily="34" charset="-122"/>
                <a:sym typeface="+mn-ea"/>
              </a:rPr>
              <a:t>服务电话：</a:t>
            </a:r>
            <a:r>
              <a:rPr lang="en-US" altLang="zh-CN" sz="1600" b="1" dirty="0">
                <a:solidFill>
                  <a:srgbClr val="FF0000"/>
                </a:solidFill>
                <a:latin typeface="微软雅黑" panose="020B0503020204020204" pitchFamily="34" charset="-122"/>
                <a:ea typeface="微软雅黑" panose="020B0503020204020204" pitchFamily="34" charset="-122"/>
                <a:sym typeface="+mn-ea"/>
              </a:rPr>
              <a:t>400-817-6868</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p>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在</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App</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内，常见</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3</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个在线客服入口，可提供全面的在线人工客服支持；</a:t>
            </a:r>
          </a:p>
        </p:txBody>
      </p:sp>
      <p:sp>
        <p:nvSpPr>
          <p:cNvPr id="22" name="文本框 21">
            <a:extLst>
              <a:ext uri="{FF2B5EF4-FFF2-40B4-BE49-F238E27FC236}">
                <a16:creationId xmlns:a16="http://schemas.microsoft.com/office/drawing/2014/main" id="{F99795A1-F250-0A61-D8D1-A7702F59FD2C}"/>
              </a:ext>
            </a:extLst>
          </p:cNvPr>
          <p:cNvSpPr txBox="1"/>
          <p:nvPr/>
        </p:nvSpPr>
        <p:spPr>
          <a:xfrm>
            <a:off x="1424885" y="661774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入口一</a:t>
            </a:r>
          </a:p>
        </p:txBody>
      </p:sp>
      <p:sp>
        <p:nvSpPr>
          <p:cNvPr id="23" name="文本框 22">
            <a:extLst>
              <a:ext uri="{FF2B5EF4-FFF2-40B4-BE49-F238E27FC236}">
                <a16:creationId xmlns:a16="http://schemas.microsoft.com/office/drawing/2014/main" id="{082BC097-E59E-91FA-2C6E-B4EBC3B96E58}"/>
              </a:ext>
            </a:extLst>
          </p:cNvPr>
          <p:cNvSpPr txBox="1"/>
          <p:nvPr/>
        </p:nvSpPr>
        <p:spPr>
          <a:xfrm>
            <a:off x="4971878" y="6615170"/>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入口二</a:t>
            </a:r>
          </a:p>
        </p:txBody>
      </p:sp>
      <p:sp>
        <p:nvSpPr>
          <p:cNvPr id="24" name="文本框 23">
            <a:extLst>
              <a:ext uri="{FF2B5EF4-FFF2-40B4-BE49-F238E27FC236}">
                <a16:creationId xmlns:a16="http://schemas.microsoft.com/office/drawing/2014/main" id="{E583EAFE-1BE8-48DA-07E0-54C995C059A4}"/>
              </a:ext>
            </a:extLst>
          </p:cNvPr>
          <p:cNvSpPr txBox="1"/>
          <p:nvPr/>
        </p:nvSpPr>
        <p:spPr>
          <a:xfrm>
            <a:off x="8662402" y="6627659"/>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入口三</a:t>
            </a:r>
          </a:p>
        </p:txBody>
      </p:sp>
    </p:spTree>
    <p:extLst>
      <p:ext uri="{BB962C8B-B14F-4D97-AF65-F5344CB8AC3E}">
        <p14:creationId xmlns:p14="http://schemas.microsoft.com/office/powerpoint/2010/main" val="215824696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C8596-7F80-C2E9-5479-94C8CCCA75BA}"/>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A1AD7D00-BB93-2874-1BB0-DFBE2ED09345}"/>
              </a:ext>
            </a:extLst>
          </p:cNvPr>
          <p:cNvPicPr>
            <a:picLocks noChangeAspect="1"/>
          </p:cNvPicPr>
          <p:nvPr/>
        </p:nvPicPr>
        <p:blipFill>
          <a:blip r:embed="rId2"/>
          <a:stretch>
            <a:fillRect/>
          </a:stretch>
        </p:blipFill>
        <p:spPr>
          <a:xfrm>
            <a:off x="359311" y="5901212"/>
            <a:ext cx="1308100" cy="469900"/>
          </a:xfrm>
          <a:prstGeom prst="rect">
            <a:avLst/>
          </a:prstGeom>
        </p:spPr>
      </p:pic>
      <p:pic>
        <p:nvPicPr>
          <p:cNvPr id="3" name="图片 2">
            <a:extLst>
              <a:ext uri="{FF2B5EF4-FFF2-40B4-BE49-F238E27FC236}">
                <a16:creationId xmlns:a16="http://schemas.microsoft.com/office/drawing/2014/main" id="{2C45C2FB-9F58-F5E4-70F2-6ADBABAC8BFE}"/>
              </a:ext>
            </a:extLst>
          </p:cNvPr>
          <p:cNvPicPr>
            <a:picLocks noChangeAspect="1"/>
          </p:cNvPicPr>
          <p:nvPr/>
        </p:nvPicPr>
        <p:blipFill>
          <a:blip r:embed="rId3"/>
          <a:stretch>
            <a:fillRect/>
          </a:stretch>
        </p:blipFill>
        <p:spPr>
          <a:xfrm>
            <a:off x="-28649" y="1552724"/>
            <a:ext cx="4553355" cy="4718502"/>
          </a:xfrm>
          <a:prstGeom prst="rect">
            <a:avLst/>
          </a:prstGeom>
        </p:spPr>
      </p:pic>
      <p:pic>
        <p:nvPicPr>
          <p:cNvPr id="4" name="图片 3">
            <a:extLst>
              <a:ext uri="{FF2B5EF4-FFF2-40B4-BE49-F238E27FC236}">
                <a16:creationId xmlns:a16="http://schemas.microsoft.com/office/drawing/2014/main" id="{37250D31-B284-D5F0-7EC3-FF0CA3E39495}"/>
              </a:ext>
            </a:extLst>
          </p:cNvPr>
          <p:cNvPicPr>
            <a:picLocks noChangeAspect="1"/>
          </p:cNvPicPr>
          <p:nvPr/>
        </p:nvPicPr>
        <p:blipFill>
          <a:blip r:embed="rId4"/>
          <a:stretch>
            <a:fillRect/>
          </a:stretch>
        </p:blipFill>
        <p:spPr>
          <a:xfrm>
            <a:off x="4564986" y="1552724"/>
            <a:ext cx="3664614" cy="4784884"/>
          </a:xfrm>
          <a:prstGeom prst="rect">
            <a:avLst/>
          </a:prstGeom>
        </p:spPr>
      </p:pic>
      <p:pic>
        <p:nvPicPr>
          <p:cNvPr id="5" name="图片 4">
            <a:extLst>
              <a:ext uri="{FF2B5EF4-FFF2-40B4-BE49-F238E27FC236}">
                <a16:creationId xmlns:a16="http://schemas.microsoft.com/office/drawing/2014/main" id="{120369E3-CFDB-94CA-423C-77036633C10F}"/>
              </a:ext>
            </a:extLst>
          </p:cNvPr>
          <p:cNvPicPr>
            <a:picLocks noChangeAspect="1"/>
          </p:cNvPicPr>
          <p:nvPr/>
        </p:nvPicPr>
        <p:blipFill rotWithShape="1">
          <a:blip r:embed="rId5"/>
          <a:srcRect t="3816" r="22447"/>
          <a:stretch>
            <a:fillRect/>
          </a:stretch>
        </p:blipFill>
        <p:spPr>
          <a:xfrm>
            <a:off x="8343649" y="1649362"/>
            <a:ext cx="3760667" cy="4688246"/>
          </a:xfrm>
          <a:prstGeom prst="rect">
            <a:avLst/>
          </a:prstGeom>
        </p:spPr>
      </p:pic>
      <p:sp>
        <p:nvSpPr>
          <p:cNvPr id="6" name="任意形状 5">
            <a:extLst>
              <a:ext uri="{FF2B5EF4-FFF2-40B4-BE49-F238E27FC236}">
                <a16:creationId xmlns:a16="http://schemas.microsoft.com/office/drawing/2014/main" id="{D8501DF9-B151-E9E4-BB6A-FE9543E2D3D3}"/>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分贝通问题反馈</a:t>
            </a:r>
          </a:p>
        </p:txBody>
      </p:sp>
      <p:sp>
        <p:nvSpPr>
          <p:cNvPr id="9" name="矩形 8">
            <a:extLst>
              <a:ext uri="{FF2B5EF4-FFF2-40B4-BE49-F238E27FC236}">
                <a16:creationId xmlns:a16="http://schemas.microsoft.com/office/drawing/2014/main" id="{29A8EA5B-A277-E89F-F862-832A014AE01C}"/>
              </a:ext>
            </a:extLst>
          </p:cNvPr>
          <p:cNvSpPr/>
          <p:nvPr/>
        </p:nvSpPr>
        <p:spPr>
          <a:xfrm>
            <a:off x="186704" y="1058586"/>
            <a:ext cx="11409155" cy="418191"/>
          </a:xfrm>
          <a:prstGeom prst="rect">
            <a:avLst/>
          </a:prstGeom>
        </p:spPr>
        <p:txBody>
          <a:bodyPr wrap="square">
            <a:spAutoFit/>
          </a:bodyPr>
          <a:lstStyle/>
          <a:p>
            <a:pPr indent="0" defTabSz="344170" fontAlgn="auto">
              <a:lnSpc>
                <a:spcPct val="150000"/>
              </a:lnSpc>
              <a:buFont typeface="+mj-lt"/>
              <a:buNone/>
              <a:defRPr sz="2500">
                <a:solidFill>
                  <a:srgbClr val="53585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如遇到系统操作问题反馈，也可在</a:t>
            </a:r>
            <a:r>
              <a:rPr lang="en-US" altLang="zh-CN"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APP</a:t>
            </a:r>
            <a:r>
              <a:rPr lang="zh-CN" altLang="en-US" sz="16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提交问题反馈，需说明情况和附上截图</a:t>
            </a:r>
          </a:p>
        </p:txBody>
      </p:sp>
      <p:sp>
        <p:nvSpPr>
          <p:cNvPr id="10" name="文本框 9">
            <a:extLst>
              <a:ext uri="{FF2B5EF4-FFF2-40B4-BE49-F238E27FC236}">
                <a16:creationId xmlns:a16="http://schemas.microsoft.com/office/drawing/2014/main" id="{5D040877-FD53-EDC4-BD79-5B6A00C7A7A0}"/>
              </a:ext>
            </a:extLst>
          </p:cNvPr>
          <p:cNvSpPr txBox="1"/>
          <p:nvPr/>
        </p:nvSpPr>
        <p:spPr>
          <a:xfrm>
            <a:off x="1667411" y="6271226"/>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步骤一</a:t>
            </a:r>
          </a:p>
        </p:txBody>
      </p:sp>
      <p:sp>
        <p:nvSpPr>
          <p:cNvPr id="11" name="文本框 10">
            <a:extLst>
              <a:ext uri="{FF2B5EF4-FFF2-40B4-BE49-F238E27FC236}">
                <a16:creationId xmlns:a16="http://schemas.microsoft.com/office/drawing/2014/main" id="{3F0AD869-7C6A-93EA-9C42-BA3724B22D32}"/>
              </a:ext>
            </a:extLst>
          </p:cNvPr>
          <p:cNvSpPr txBox="1"/>
          <p:nvPr/>
        </p:nvSpPr>
        <p:spPr>
          <a:xfrm>
            <a:off x="5680363" y="6371112"/>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步骤二</a:t>
            </a:r>
          </a:p>
        </p:txBody>
      </p:sp>
      <p:sp>
        <p:nvSpPr>
          <p:cNvPr id="12" name="文本框 11">
            <a:extLst>
              <a:ext uri="{FF2B5EF4-FFF2-40B4-BE49-F238E27FC236}">
                <a16:creationId xmlns:a16="http://schemas.microsoft.com/office/drawing/2014/main" id="{73604652-DC9B-4C33-9BA6-8A106CCE3058}"/>
              </a:ext>
            </a:extLst>
          </p:cNvPr>
          <p:cNvSpPr txBox="1"/>
          <p:nvPr/>
        </p:nvSpPr>
        <p:spPr>
          <a:xfrm>
            <a:off x="10223982" y="6337608"/>
            <a:ext cx="83127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步骤三</a:t>
            </a:r>
          </a:p>
        </p:txBody>
      </p:sp>
    </p:spTree>
    <p:extLst>
      <p:ext uri="{BB962C8B-B14F-4D97-AF65-F5344CB8AC3E}">
        <p14:creationId xmlns:p14="http://schemas.microsoft.com/office/powerpoint/2010/main" val="445045863"/>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32DD0-938C-18A7-43FD-61D2C4869256}"/>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91D53275-1302-77DF-993D-A9041FA6E7D7}"/>
              </a:ext>
            </a:extLst>
          </p:cNvPr>
          <p:cNvPicPr>
            <a:picLocks noChangeAspect="1"/>
          </p:cNvPicPr>
          <p:nvPr/>
        </p:nvPicPr>
        <p:blipFill>
          <a:blip r:embed="rId2"/>
          <a:stretch>
            <a:fillRect/>
          </a:stretch>
        </p:blipFill>
        <p:spPr>
          <a:xfrm>
            <a:off x="359311" y="5901212"/>
            <a:ext cx="1308100" cy="469900"/>
          </a:xfrm>
          <a:prstGeom prst="rect">
            <a:avLst/>
          </a:prstGeom>
        </p:spPr>
      </p:pic>
      <p:sp>
        <p:nvSpPr>
          <p:cNvPr id="8" name="任意形状 7">
            <a:extLst>
              <a:ext uri="{FF2B5EF4-FFF2-40B4-BE49-F238E27FC236}">
                <a16:creationId xmlns:a16="http://schemas.microsoft.com/office/drawing/2014/main" id="{4F102882-181B-C7B4-0932-70023CE23D94}"/>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手机软件（</a:t>
            </a:r>
            <a:r>
              <a:rPr kumimoji="1" lang="en-US" altLang="zh-CN" b="1" dirty="0">
                <a:solidFill>
                  <a:schemeClr val="bg1"/>
                </a:solidFill>
                <a:latin typeface="Microsoft YaHei" panose="020B0503020204020204" pitchFamily="34" charset="-122"/>
                <a:ea typeface="Microsoft YaHei" panose="020B0503020204020204" pitchFamily="34" charset="-122"/>
              </a:rPr>
              <a:t>APP</a:t>
            </a:r>
            <a:r>
              <a:rPr kumimoji="1" lang="zh-CN" altLang="en-US" b="1" dirty="0">
                <a:solidFill>
                  <a:schemeClr val="bg1"/>
                </a:solidFill>
                <a:latin typeface="Microsoft YaHei" panose="020B0503020204020204" pitchFamily="34" charset="-122"/>
                <a:ea typeface="Microsoft YaHei" panose="020B0503020204020204" pitchFamily="34" charset="-122"/>
              </a:rPr>
              <a:t>）下载途径</a:t>
            </a:r>
          </a:p>
        </p:txBody>
      </p:sp>
      <p:pic>
        <p:nvPicPr>
          <p:cNvPr id="3" name="图片 2">
            <a:extLst>
              <a:ext uri="{FF2B5EF4-FFF2-40B4-BE49-F238E27FC236}">
                <a16:creationId xmlns:a16="http://schemas.microsoft.com/office/drawing/2014/main" id="{B9A975BF-172B-778D-F2F5-EE2D6B6903EB}"/>
              </a:ext>
            </a:extLst>
          </p:cNvPr>
          <p:cNvPicPr>
            <a:picLocks noChangeAspect="1"/>
          </p:cNvPicPr>
          <p:nvPr/>
        </p:nvPicPr>
        <p:blipFill>
          <a:blip r:embed="rId3"/>
          <a:stretch>
            <a:fillRect/>
          </a:stretch>
        </p:blipFill>
        <p:spPr>
          <a:xfrm>
            <a:off x="7286284" y="2302716"/>
            <a:ext cx="2055833" cy="2055833"/>
          </a:xfrm>
          <a:prstGeom prst="rect">
            <a:avLst/>
          </a:prstGeom>
        </p:spPr>
      </p:pic>
      <p:pic>
        <p:nvPicPr>
          <p:cNvPr id="4" name="图片 3">
            <a:extLst>
              <a:ext uri="{FF2B5EF4-FFF2-40B4-BE49-F238E27FC236}">
                <a16:creationId xmlns:a16="http://schemas.microsoft.com/office/drawing/2014/main" id="{1FFA5ECA-99AA-98DB-B0D0-ED7E808A6A6A}"/>
              </a:ext>
            </a:extLst>
          </p:cNvPr>
          <p:cNvPicPr>
            <a:picLocks noChangeAspect="1"/>
          </p:cNvPicPr>
          <p:nvPr/>
        </p:nvPicPr>
        <p:blipFill>
          <a:blip r:embed="rId4"/>
          <a:stretch>
            <a:fillRect/>
          </a:stretch>
        </p:blipFill>
        <p:spPr>
          <a:xfrm>
            <a:off x="9883851" y="2259886"/>
            <a:ext cx="2055833" cy="2098663"/>
          </a:xfrm>
          <a:prstGeom prst="rect">
            <a:avLst/>
          </a:prstGeom>
        </p:spPr>
      </p:pic>
      <p:sp>
        <p:nvSpPr>
          <p:cNvPr id="5" name="文本框 4">
            <a:extLst>
              <a:ext uri="{FF2B5EF4-FFF2-40B4-BE49-F238E27FC236}">
                <a16:creationId xmlns:a16="http://schemas.microsoft.com/office/drawing/2014/main" id="{B013CC2C-E882-1AEC-B991-2173786B2FEE}"/>
              </a:ext>
            </a:extLst>
          </p:cNvPr>
          <p:cNvSpPr txBox="1"/>
          <p:nvPr/>
        </p:nvSpPr>
        <p:spPr>
          <a:xfrm>
            <a:off x="7636456" y="4413894"/>
            <a:ext cx="1638795" cy="307777"/>
          </a:xfrm>
          <a:prstGeom prst="rect">
            <a:avLst/>
          </a:prstGeom>
          <a:noFill/>
        </p:spPr>
        <p:txBody>
          <a:bodyPr wrap="square" rtlCol="0">
            <a:spAutoFit/>
          </a:bodyPr>
          <a:lstStyle/>
          <a:p>
            <a:pPr algn="ctr"/>
            <a:r>
              <a:rPr kumimoji="1" lang="en-US" altLang="zh-CN" sz="1400" dirty="0">
                <a:latin typeface="Microsoft YaHei" panose="020B0503020204020204" pitchFamily="34" charset="-122"/>
                <a:ea typeface="Microsoft YaHei" panose="020B0503020204020204" pitchFamily="34" charset="-122"/>
              </a:rPr>
              <a:t>SFA</a:t>
            </a:r>
            <a:r>
              <a:rPr kumimoji="1" lang="zh-CN" altLang="en-US" sz="1400" dirty="0">
                <a:latin typeface="Microsoft YaHei" panose="020B0503020204020204" pitchFamily="34" charset="-122"/>
                <a:ea typeface="Microsoft YaHei" panose="020B0503020204020204" pitchFamily="34" charset="-122"/>
              </a:rPr>
              <a:t>（</a:t>
            </a:r>
            <a:r>
              <a:rPr kumimoji="1" lang="en-US" altLang="zh-CN" sz="1400" dirty="0">
                <a:latin typeface="Microsoft YaHei" panose="020B0503020204020204" pitchFamily="34" charset="-122"/>
                <a:ea typeface="Microsoft YaHei" panose="020B0503020204020204" pitchFamily="34" charset="-122"/>
              </a:rPr>
              <a:t>APP</a:t>
            </a:r>
            <a:r>
              <a:rPr kumimoji="1" lang="zh-CN" altLang="en-US" sz="1400" dirty="0">
                <a:latin typeface="Microsoft YaHei" panose="020B0503020204020204" pitchFamily="34" charset="-122"/>
                <a:ea typeface="Microsoft YaHei" panose="020B0503020204020204" pitchFamily="34" charset="-122"/>
              </a:rPr>
              <a:t>下载）</a:t>
            </a:r>
          </a:p>
        </p:txBody>
      </p:sp>
      <p:sp>
        <p:nvSpPr>
          <p:cNvPr id="6" name="文本框 5">
            <a:extLst>
              <a:ext uri="{FF2B5EF4-FFF2-40B4-BE49-F238E27FC236}">
                <a16:creationId xmlns:a16="http://schemas.microsoft.com/office/drawing/2014/main" id="{3A8D6764-5C79-84D3-51F0-AA1B1231EF9B}"/>
              </a:ext>
            </a:extLst>
          </p:cNvPr>
          <p:cNvSpPr txBox="1"/>
          <p:nvPr/>
        </p:nvSpPr>
        <p:spPr>
          <a:xfrm>
            <a:off x="10092369" y="4413894"/>
            <a:ext cx="1638795" cy="307777"/>
          </a:xfrm>
          <a:prstGeom prst="rect">
            <a:avLst/>
          </a:prstGeom>
          <a:noFill/>
        </p:spPr>
        <p:txBody>
          <a:bodyPr wrap="square" rtlCol="0">
            <a:spAutoFit/>
          </a:bodyPr>
          <a:lstStyle/>
          <a:p>
            <a:pPr algn="ctr"/>
            <a:r>
              <a:rPr kumimoji="1" lang="zh-CN" altLang="en-US" sz="1400" dirty="0">
                <a:latin typeface="Microsoft YaHei" panose="020B0503020204020204" pitchFamily="34" charset="-122"/>
                <a:ea typeface="Microsoft YaHei" panose="020B0503020204020204" pitchFamily="34" charset="-122"/>
              </a:rPr>
              <a:t>爱旺旺（</a:t>
            </a:r>
            <a:r>
              <a:rPr kumimoji="1" lang="en-US" altLang="zh-CN" sz="1400" dirty="0">
                <a:latin typeface="Microsoft YaHei" panose="020B0503020204020204" pitchFamily="34" charset="-122"/>
                <a:ea typeface="Microsoft YaHei" panose="020B0503020204020204" pitchFamily="34" charset="-122"/>
              </a:rPr>
              <a:t>APP</a:t>
            </a:r>
            <a:r>
              <a:rPr kumimoji="1" lang="zh-CN" altLang="en-US" sz="1400" dirty="0">
                <a:latin typeface="Microsoft YaHei" panose="020B0503020204020204" pitchFamily="34" charset="-122"/>
                <a:ea typeface="Microsoft YaHei" panose="020B0503020204020204" pitchFamily="34" charset="-122"/>
              </a:rPr>
              <a:t>下载）</a:t>
            </a:r>
          </a:p>
        </p:txBody>
      </p:sp>
      <p:pic>
        <p:nvPicPr>
          <p:cNvPr id="12" name="图片 11">
            <a:extLst>
              <a:ext uri="{FF2B5EF4-FFF2-40B4-BE49-F238E27FC236}">
                <a16:creationId xmlns:a16="http://schemas.microsoft.com/office/drawing/2014/main" id="{16206CE7-CB8E-7B3F-D585-81CA89670C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5584" y="1388359"/>
            <a:ext cx="1970564" cy="4269179"/>
          </a:xfrm>
          <a:prstGeom prst="rect">
            <a:avLst/>
          </a:prstGeom>
        </p:spPr>
      </p:pic>
      <p:sp>
        <p:nvSpPr>
          <p:cNvPr id="15" name="文本框 14">
            <a:extLst>
              <a:ext uri="{FF2B5EF4-FFF2-40B4-BE49-F238E27FC236}">
                <a16:creationId xmlns:a16="http://schemas.microsoft.com/office/drawing/2014/main" id="{6DC67EE5-E176-F9BE-FB3E-9B2121AD0B32}"/>
              </a:ext>
            </a:extLst>
          </p:cNvPr>
          <p:cNvSpPr txBox="1"/>
          <p:nvPr/>
        </p:nvSpPr>
        <p:spPr>
          <a:xfrm>
            <a:off x="1848526" y="5901212"/>
            <a:ext cx="1804680" cy="523220"/>
          </a:xfrm>
          <a:prstGeom prst="rect">
            <a:avLst/>
          </a:prstGeom>
          <a:noFill/>
        </p:spPr>
        <p:txBody>
          <a:bodyPr wrap="square" rtlCol="0">
            <a:spAutoFit/>
          </a:bodyPr>
          <a:lstStyle/>
          <a:p>
            <a:pPr algn="ctr"/>
            <a:r>
              <a:rPr kumimoji="1" lang="zh-CN" altLang="en-US" sz="1400" dirty="0">
                <a:latin typeface="Microsoft YaHei" panose="020B0503020204020204" pitchFamily="34" charset="-122"/>
                <a:ea typeface="Microsoft YaHei" panose="020B0503020204020204" pitchFamily="34" charset="-122"/>
              </a:rPr>
              <a:t>手机商城内搜索</a:t>
            </a:r>
            <a:endParaRPr kumimoji="1" lang="en-US" altLang="zh-CN" sz="1400" dirty="0">
              <a:latin typeface="Microsoft YaHei" panose="020B0503020204020204" pitchFamily="34" charset="-122"/>
              <a:ea typeface="Microsoft YaHei" panose="020B0503020204020204" pitchFamily="34" charset="-122"/>
            </a:endParaRPr>
          </a:p>
          <a:p>
            <a:pPr algn="ctr"/>
            <a:r>
              <a:rPr kumimoji="1" lang="zh-CN" altLang="en-US" sz="1400" dirty="0">
                <a:latin typeface="Microsoft YaHei" panose="020B0503020204020204" pitchFamily="34" charset="-122"/>
                <a:ea typeface="Microsoft YaHei" panose="020B0503020204020204" pitchFamily="34" charset="-122"/>
              </a:rPr>
              <a:t>“分贝通”</a:t>
            </a:r>
          </a:p>
        </p:txBody>
      </p:sp>
      <p:pic>
        <p:nvPicPr>
          <p:cNvPr id="7" name="下载二维码" descr="下载二维码">
            <a:extLst>
              <a:ext uri="{FF2B5EF4-FFF2-40B4-BE49-F238E27FC236}">
                <a16:creationId xmlns:a16="http://schemas.microsoft.com/office/drawing/2014/main" id="{A26941D0-9413-B2B0-C6DD-8886AC14B7A4}"/>
              </a:ext>
            </a:extLst>
          </p:cNvPr>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7000"/>
                    </a14:imgEffect>
                    <a14:imgEffect>
                      <a14:saturation sat="0"/>
                    </a14:imgEffect>
                  </a14:imgLayer>
                </a14:imgProps>
              </a:ext>
            </a:extLst>
          </a:blip>
          <a:stretch>
            <a:fillRect/>
          </a:stretch>
        </p:blipFill>
        <p:spPr>
          <a:xfrm>
            <a:off x="4502806" y="2259885"/>
            <a:ext cx="2055831" cy="2055833"/>
          </a:xfrm>
          <a:prstGeom prst="rect">
            <a:avLst/>
          </a:prstGeom>
        </p:spPr>
        <p:style>
          <a:lnRef idx="0">
            <a:schemeClr val="accent3"/>
          </a:lnRef>
          <a:fillRef idx="3">
            <a:schemeClr val="accent3"/>
          </a:fillRef>
          <a:effectRef idx="3">
            <a:schemeClr val="accent3"/>
          </a:effectRef>
          <a:fontRef idx="minor">
            <a:schemeClr val="lt1"/>
          </a:fontRef>
        </p:style>
      </p:pic>
      <p:sp>
        <p:nvSpPr>
          <p:cNvPr id="9" name="文本框 8">
            <a:extLst>
              <a:ext uri="{FF2B5EF4-FFF2-40B4-BE49-F238E27FC236}">
                <a16:creationId xmlns:a16="http://schemas.microsoft.com/office/drawing/2014/main" id="{51151278-6CFF-2259-C493-7BED74089B6D}"/>
              </a:ext>
            </a:extLst>
          </p:cNvPr>
          <p:cNvSpPr txBox="1"/>
          <p:nvPr/>
        </p:nvSpPr>
        <p:spPr>
          <a:xfrm>
            <a:off x="4809997" y="4413894"/>
            <a:ext cx="1638795" cy="307777"/>
          </a:xfrm>
          <a:prstGeom prst="rect">
            <a:avLst/>
          </a:prstGeom>
          <a:noFill/>
        </p:spPr>
        <p:txBody>
          <a:bodyPr wrap="square" rtlCol="0">
            <a:spAutoFit/>
          </a:bodyPr>
          <a:lstStyle/>
          <a:p>
            <a:pPr algn="ctr"/>
            <a:r>
              <a:rPr kumimoji="1" lang="zh-CN" altLang="en-US" sz="1400" dirty="0">
                <a:latin typeface="Microsoft YaHei" panose="020B0503020204020204" pitchFamily="34" charset="-122"/>
                <a:ea typeface="Microsoft YaHei" panose="020B0503020204020204" pitchFamily="34" charset="-122"/>
              </a:rPr>
              <a:t>分贝通（</a:t>
            </a:r>
            <a:r>
              <a:rPr kumimoji="1" lang="en-US" altLang="zh-CN" sz="1400" dirty="0">
                <a:latin typeface="Microsoft YaHei" panose="020B0503020204020204" pitchFamily="34" charset="-122"/>
                <a:ea typeface="Microsoft YaHei" panose="020B0503020204020204" pitchFamily="34" charset="-122"/>
              </a:rPr>
              <a:t>APP</a:t>
            </a:r>
            <a:r>
              <a:rPr kumimoji="1" lang="zh-CN" altLang="en-US" sz="1400" dirty="0">
                <a:latin typeface="Microsoft YaHei" panose="020B0503020204020204" pitchFamily="34" charset="-122"/>
                <a:ea typeface="Microsoft YaHei" panose="020B0503020204020204" pitchFamily="34" charset="-122"/>
              </a:rPr>
              <a:t>下载）</a:t>
            </a:r>
          </a:p>
        </p:txBody>
      </p:sp>
    </p:spTree>
    <p:extLst>
      <p:ext uri="{BB962C8B-B14F-4D97-AF65-F5344CB8AC3E}">
        <p14:creationId xmlns:p14="http://schemas.microsoft.com/office/powerpoint/2010/main" val="3858813223"/>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18619-6498-6359-5231-3D8C3CDED975}"/>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8218EE41-246B-EA08-3981-48C509D31FF9}"/>
              </a:ext>
            </a:extLst>
          </p:cNvPr>
          <p:cNvPicPr>
            <a:picLocks noChangeAspect="1"/>
          </p:cNvPicPr>
          <p:nvPr/>
        </p:nvPicPr>
        <p:blipFill>
          <a:blip r:embed="rId2"/>
          <a:stretch>
            <a:fillRect/>
          </a:stretch>
        </p:blipFill>
        <p:spPr>
          <a:xfrm>
            <a:off x="359311" y="5901212"/>
            <a:ext cx="1308100" cy="469900"/>
          </a:xfrm>
          <a:prstGeom prst="rect">
            <a:avLst/>
          </a:prstGeom>
        </p:spPr>
      </p:pic>
      <p:sp>
        <p:nvSpPr>
          <p:cNvPr id="8" name="任意形状 7">
            <a:extLst>
              <a:ext uri="{FF2B5EF4-FFF2-40B4-BE49-F238E27FC236}">
                <a16:creationId xmlns:a16="http://schemas.microsoft.com/office/drawing/2014/main" id="{FDC72142-4ADC-AD26-B59E-DD98FD9768C1}"/>
              </a:ext>
            </a:extLst>
          </p:cNvPr>
          <p:cNvSpPr>
            <a:spLocks/>
          </p:cNvSpPr>
          <p:nvPr/>
        </p:nvSpPr>
        <p:spPr>
          <a:xfrm>
            <a:off x="1" y="353670"/>
            <a:ext cx="4796648" cy="628970"/>
          </a:xfrm>
          <a:custGeom>
            <a:avLst/>
            <a:gdLst>
              <a:gd name="connsiteX0" fmla="*/ 5110547 w 5110547"/>
              <a:gd name="connsiteY0" fmla="*/ 0 h 885896"/>
              <a:gd name="connsiteX1" fmla="*/ 4528777 w 5110547"/>
              <a:gd name="connsiteY1" fmla="*/ 885896 h 885896"/>
              <a:gd name="connsiteX2" fmla="*/ 0 w 5110547"/>
              <a:gd name="connsiteY2" fmla="*/ 885896 h 885896"/>
              <a:gd name="connsiteX3" fmla="*/ 0 w 5110547"/>
              <a:gd name="connsiteY3" fmla="*/ 17230 h 885896"/>
              <a:gd name="connsiteX0" fmla="*/ 4919478 w 4919478"/>
              <a:gd name="connsiteY0" fmla="*/ 0 h 904745"/>
              <a:gd name="connsiteX1" fmla="*/ 4528777 w 4919478"/>
              <a:gd name="connsiteY1" fmla="*/ 904745 h 904745"/>
              <a:gd name="connsiteX2" fmla="*/ 0 w 4919478"/>
              <a:gd name="connsiteY2" fmla="*/ 904745 h 904745"/>
              <a:gd name="connsiteX3" fmla="*/ 0 w 4919478"/>
              <a:gd name="connsiteY3" fmla="*/ 36079 h 904745"/>
              <a:gd name="connsiteX4" fmla="*/ 4919478 w 4919478"/>
              <a:gd name="connsiteY4" fmla="*/ 0 h 904745"/>
              <a:gd name="connsiteX0" fmla="*/ 4796648 w 4796648"/>
              <a:gd name="connsiteY0" fmla="*/ 1619 h 868667"/>
              <a:gd name="connsiteX1" fmla="*/ 4528777 w 4796648"/>
              <a:gd name="connsiteY1" fmla="*/ 868667 h 868667"/>
              <a:gd name="connsiteX2" fmla="*/ 0 w 4796648"/>
              <a:gd name="connsiteY2" fmla="*/ 868667 h 868667"/>
              <a:gd name="connsiteX3" fmla="*/ 0 w 4796648"/>
              <a:gd name="connsiteY3" fmla="*/ 1 h 868667"/>
              <a:gd name="connsiteX4" fmla="*/ 4796648 w 4796648"/>
              <a:gd name="connsiteY4" fmla="*/ 1619 h 86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6648" h="868667">
                <a:moveTo>
                  <a:pt x="4796648" y="1619"/>
                </a:moveTo>
                <a:lnTo>
                  <a:pt x="4528777" y="868667"/>
                </a:lnTo>
                <a:lnTo>
                  <a:pt x="0" y="868667"/>
                </a:lnTo>
                <a:lnTo>
                  <a:pt x="0" y="1"/>
                </a:lnTo>
                <a:lnTo>
                  <a:pt x="4796648" y="1619"/>
                </a:lnTo>
                <a:close/>
              </a:path>
            </a:pathLst>
          </a:custGeom>
          <a:solidFill>
            <a:srgbClr val="227CF7"/>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软件网页版网址</a:t>
            </a:r>
          </a:p>
        </p:txBody>
      </p:sp>
      <p:sp>
        <p:nvSpPr>
          <p:cNvPr id="7" name="文本框 6">
            <a:extLst>
              <a:ext uri="{FF2B5EF4-FFF2-40B4-BE49-F238E27FC236}">
                <a16:creationId xmlns:a16="http://schemas.microsoft.com/office/drawing/2014/main" id="{0C46F516-FA3C-A4FB-3448-D1AB189AE899}"/>
              </a:ext>
            </a:extLst>
          </p:cNvPr>
          <p:cNvSpPr txBox="1"/>
          <p:nvPr/>
        </p:nvSpPr>
        <p:spPr>
          <a:xfrm>
            <a:off x="340426" y="1199407"/>
            <a:ext cx="10972800" cy="1289905"/>
          </a:xfrm>
          <a:prstGeom prst="rect">
            <a:avLst/>
          </a:prstGeom>
          <a:noFill/>
        </p:spPr>
        <p:txBody>
          <a:bodyPr wrap="square" rtlCol="0">
            <a:spAutoFit/>
          </a:bodyPr>
          <a:lstStyle/>
          <a:p>
            <a:pPr>
              <a:lnSpc>
                <a:spcPct val="150000"/>
              </a:lnSpc>
            </a:pPr>
            <a:r>
              <a:rPr kumimoji="1" lang="es-419" altLang="zh-CN" dirty="0">
                <a:latin typeface="Microsoft YaHei" panose="020B0503020204020204" pitchFamily="34" charset="-122"/>
                <a:ea typeface="Microsoft YaHei" panose="020B0503020204020204" pitchFamily="34" charset="-122"/>
              </a:rPr>
              <a:t>SFA</a:t>
            </a:r>
            <a:r>
              <a:rPr kumimoji="1" lang="zh-CN" altLang="es-419" dirty="0">
                <a:latin typeface="Microsoft YaHei" panose="020B0503020204020204" pitchFamily="34" charset="-122"/>
                <a:ea typeface="Microsoft YaHei" panose="020B0503020204020204" pitchFamily="34" charset="-122"/>
              </a:rPr>
              <a:t>网址</a:t>
            </a:r>
            <a:r>
              <a:rPr kumimoji="1" lang="zh-CN" altLang="en-US" dirty="0">
                <a:latin typeface="Microsoft YaHei" panose="020B0503020204020204" pitchFamily="34" charset="-122"/>
                <a:ea typeface="Microsoft YaHei" panose="020B0503020204020204" pitchFamily="34" charset="-122"/>
              </a:rPr>
              <a:t>：</a:t>
            </a:r>
            <a:r>
              <a:rPr kumimoji="1" lang="es-419" altLang="zh-CN" dirty="0">
                <a:latin typeface="Microsoft YaHei" panose="020B0503020204020204" pitchFamily="34" charset="-122"/>
                <a:ea typeface="Microsoft YaHei" panose="020B0503020204020204" pitchFamily="34" charset="-122"/>
                <a:hlinkClick r:id="rId3"/>
              </a:rPr>
              <a:t>http://www.hotkidceo.com/ceo/map/</a:t>
            </a:r>
            <a:endParaRPr kumimoji="1" lang="es-419" altLang="zh-CN" dirty="0">
              <a:latin typeface="Microsoft YaHei" panose="020B0503020204020204" pitchFamily="34" charset="-122"/>
              <a:ea typeface="Microsoft YaHei" panose="020B0503020204020204" pitchFamily="34" charset="-122"/>
            </a:endParaRPr>
          </a:p>
          <a:p>
            <a:pPr>
              <a:lnSpc>
                <a:spcPct val="150000"/>
              </a:lnSpc>
            </a:pPr>
            <a:r>
              <a:rPr kumimoji="1" lang="zh-CN" altLang="es-419" dirty="0">
                <a:latin typeface="Microsoft YaHei" panose="020B0503020204020204" pitchFamily="34" charset="-122"/>
                <a:ea typeface="Microsoft YaHei" panose="020B0503020204020204" pitchFamily="34" charset="-122"/>
              </a:rPr>
              <a:t>爱</a:t>
            </a:r>
            <a:r>
              <a:rPr kumimoji="1" lang="zh-CN" altLang="en-US" dirty="0">
                <a:latin typeface="Microsoft YaHei" panose="020B0503020204020204" pitchFamily="34" charset="-122"/>
                <a:ea typeface="Microsoft YaHei" panose="020B0503020204020204" pitchFamily="34" charset="-122"/>
              </a:rPr>
              <a:t>旺旺网址：</a:t>
            </a:r>
            <a:r>
              <a:rPr lang="en-US" altLang="zh-CN" sz="1800" dirty="0">
                <a:effectLst/>
                <a:latin typeface="Microsoft YaHei" panose="020B0503020204020204" pitchFamily="34" charset="-122"/>
                <a:ea typeface="Microsoft YaHei" panose="020B0503020204020204" pitchFamily="34" charset="-122"/>
                <a:cs typeface="Arial" panose="020B0604020202020204" pitchFamily="34" charset="0"/>
              </a:rPr>
              <a:t> </a:t>
            </a:r>
            <a:r>
              <a:rPr lang="en-US" altLang="zh-CN" sz="1800" dirty="0">
                <a:effectLst/>
                <a:latin typeface="Microsoft YaHei" panose="020B0503020204020204" pitchFamily="34" charset="-122"/>
                <a:ea typeface="Microsoft YaHei" panose="020B0503020204020204" pitchFamily="34" charset="-122"/>
                <a:cs typeface="Arial" panose="020B0604020202020204" pitchFamily="34" charset="0"/>
                <a:hlinkClick r:id="rId4"/>
              </a:rPr>
              <a:t>https://i.want-want.com/</a:t>
            </a:r>
            <a:endParaRPr lang="en-US" altLang="zh-CN" sz="1800" dirty="0">
              <a:effectLst/>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kumimoji="1" lang="zh-CN" altLang="en-US" dirty="0">
                <a:latin typeface="Microsoft YaHei" panose="020B0503020204020204" pitchFamily="34" charset="-122"/>
                <a:ea typeface="Microsoft YaHei" panose="020B0503020204020204" pitchFamily="34" charset="-122"/>
              </a:rPr>
              <a:t>分贝通网址：</a:t>
            </a:r>
            <a:r>
              <a:rPr kumimoji="1" lang="es-419" altLang="zh-CN" dirty="0">
                <a:latin typeface="Microsoft YaHei" panose="020B0503020204020204" pitchFamily="34" charset="-122"/>
                <a:ea typeface="Microsoft YaHei" panose="020B0503020204020204" pitchFamily="34" charset="-122"/>
                <a:hlinkClick r:id="rId5"/>
              </a:rPr>
              <a:t>https://app.fenbeitong.com/</a:t>
            </a:r>
            <a:endParaRPr kumimoji="1" lang="es-419"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05871090"/>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CB31C-2E4F-AA8E-DEEF-76799BE71010}"/>
              </a:ext>
            </a:extLst>
          </p:cNvPr>
          <p:cNvSpPr>
            <a:spLocks noGrp="1"/>
          </p:cNvSpPr>
          <p:nvPr>
            <p:ph type="title"/>
          </p:nvPr>
        </p:nvSpPr>
        <p:spPr/>
        <p:txBody>
          <a:bodyPr/>
          <a:lstStyle/>
          <a:p>
            <a:endParaRPr kumimoji="1" lang="zh-CN" altLang="en-US"/>
          </a:p>
        </p:txBody>
      </p:sp>
      <p:pic>
        <p:nvPicPr>
          <p:cNvPr id="6" name="内容占位符 5">
            <a:extLst>
              <a:ext uri="{FF2B5EF4-FFF2-40B4-BE49-F238E27FC236}">
                <a16:creationId xmlns:a16="http://schemas.microsoft.com/office/drawing/2014/main" id="{217D8B9D-1B90-E335-60E5-FA19721CD76C}"/>
              </a:ext>
            </a:extLst>
          </p:cNvPr>
          <p:cNvPicPr>
            <a:picLocks noGrp="1" noChangeAspect="1"/>
          </p:cNvPicPr>
          <p:nvPr>
            <p:ph idx="1"/>
          </p:nvPr>
        </p:nvPicPr>
        <p:blipFill>
          <a:blip r:embed="rId2"/>
          <a:stretch>
            <a:fillRect/>
          </a:stretch>
        </p:blipFill>
        <p:spPr>
          <a:xfrm>
            <a:off x="0" y="0"/>
            <a:ext cx="12192000" cy="6858000"/>
          </a:xfrm>
        </p:spPr>
      </p:pic>
      <p:sp>
        <p:nvSpPr>
          <p:cNvPr id="4" name="灯片编号占位符 3">
            <a:extLst>
              <a:ext uri="{FF2B5EF4-FFF2-40B4-BE49-F238E27FC236}">
                <a16:creationId xmlns:a16="http://schemas.microsoft.com/office/drawing/2014/main" id="{6BE4D0BF-2575-BE88-4581-43ADCABADEF5}"/>
              </a:ext>
            </a:extLst>
          </p:cNvPr>
          <p:cNvSpPr>
            <a:spLocks noGrp="1"/>
          </p:cNvSpPr>
          <p:nvPr>
            <p:ph type="sldNum" sz="quarter" idx="12"/>
          </p:nvPr>
        </p:nvSpPr>
        <p:spPr/>
        <p:txBody>
          <a:bodyPr/>
          <a:lstStyle/>
          <a:p>
            <a:fld id="{A8665799-D26D-D845-9057-CC0C3DD59A89}" type="slidenum">
              <a:rPr kumimoji="1" lang="zh-CN" altLang="en-US" smtClean="0"/>
              <a:t>53</a:t>
            </a:fld>
            <a:endParaRPr kumimoji="1" lang="zh-CN" altLang="en-US"/>
          </a:p>
        </p:txBody>
      </p:sp>
      <p:grpSp>
        <p:nvGrpSpPr>
          <p:cNvPr id="3" name="组合 2">
            <a:extLst>
              <a:ext uri="{FF2B5EF4-FFF2-40B4-BE49-F238E27FC236}">
                <a16:creationId xmlns:a16="http://schemas.microsoft.com/office/drawing/2014/main" id="{EC57D40A-8B79-D329-378A-F16EA9C767B8}"/>
              </a:ext>
            </a:extLst>
          </p:cNvPr>
          <p:cNvGrpSpPr/>
          <p:nvPr/>
        </p:nvGrpSpPr>
        <p:grpSpPr>
          <a:xfrm>
            <a:off x="0" y="0"/>
            <a:ext cx="12192000" cy="6858000"/>
            <a:chOff x="0" y="0"/>
            <a:chExt cx="12192000" cy="6858000"/>
          </a:xfrm>
        </p:grpSpPr>
        <p:pic>
          <p:nvPicPr>
            <p:cNvPr id="5" name="图片 4">
              <a:extLst>
                <a:ext uri="{FF2B5EF4-FFF2-40B4-BE49-F238E27FC236}">
                  <a16:creationId xmlns:a16="http://schemas.microsoft.com/office/drawing/2014/main" id="{9DBF0E32-DA18-4F34-4592-0FA285248AF4}"/>
                </a:ext>
              </a:extLst>
            </p:cNvPr>
            <p:cNvPicPr>
              <a:picLocks noChangeAspect="1"/>
            </p:cNvPicPr>
            <p:nvPr/>
          </p:nvPicPr>
          <p:blipFill>
            <a:blip r:embed="rId3"/>
            <a:stretch>
              <a:fillRect/>
            </a:stretch>
          </p:blipFill>
          <p:spPr>
            <a:xfrm>
              <a:off x="0" y="0"/>
              <a:ext cx="12192000" cy="6858000"/>
            </a:xfrm>
            <a:prstGeom prst="rect">
              <a:avLst/>
            </a:prstGeom>
          </p:spPr>
        </p:pic>
        <p:pic>
          <p:nvPicPr>
            <p:cNvPr id="7" name="图片 6">
              <a:extLst>
                <a:ext uri="{FF2B5EF4-FFF2-40B4-BE49-F238E27FC236}">
                  <a16:creationId xmlns:a16="http://schemas.microsoft.com/office/drawing/2014/main" id="{317F5AF2-F8BE-D993-5A7B-5B28AF86A3F7}"/>
                </a:ext>
              </a:extLst>
            </p:cNvPr>
            <p:cNvPicPr>
              <a:picLocks noChangeAspect="1"/>
            </p:cNvPicPr>
            <p:nvPr/>
          </p:nvPicPr>
          <p:blipFill>
            <a:blip r:embed="rId4"/>
            <a:stretch>
              <a:fillRect/>
            </a:stretch>
          </p:blipFill>
          <p:spPr>
            <a:xfrm>
              <a:off x="822690" y="1616153"/>
              <a:ext cx="3122580" cy="4688956"/>
            </a:xfrm>
            <a:prstGeom prst="rect">
              <a:avLst/>
            </a:prstGeom>
          </p:spPr>
        </p:pic>
      </p:grpSp>
    </p:spTree>
    <p:extLst>
      <p:ext uri="{BB962C8B-B14F-4D97-AF65-F5344CB8AC3E}">
        <p14:creationId xmlns:p14="http://schemas.microsoft.com/office/powerpoint/2010/main" val="18672191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43.55070866141733,&quot;left&quot;:333.7479527559055,&quot;top&quot;:85.15,&quot;width&quot;:579.445039370078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43.55070866141733,&quot;left&quot;:333.7479527559055,&quot;top&quot;:85.15,&quot;width&quot;:579.445039370078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43.55070866141733,&quot;left&quot;:333.7479527559055,&quot;top&quot;:85.15,&quot;width&quot;:579.445039370078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43.55070866141733,&quot;left&quot;:333.7479527559055,&quot;top&quot;:85.15,&quot;width&quot;:579.445039370078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20406</TotalTime>
  <Words>3781</Words>
  <Application>Microsoft Macintosh PowerPoint</Application>
  <PresentationFormat>宽屏</PresentationFormat>
  <Paragraphs>339</Paragraphs>
  <Slides>53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53</vt:i4>
      </vt:variant>
    </vt:vector>
  </HeadingPairs>
  <TitlesOfParts>
    <vt:vector size="62" baseType="lpstr">
      <vt:lpstr>等线</vt:lpstr>
      <vt:lpstr>Microsoft YaHei</vt:lpstr>
      <vt:lpstr>Microsoft YaHei</vt:lpstr>
      <vt:lpstr>PingFang SC</vt:lpstr>
      <vt:lpstr>Arial</vt:lpstr>
      <vt:lpstr>Calibri</vt:lpstr>
      <vt:lpstr>Calibri Light</vt:lpstr>
      <vt:lpstr>Helvetica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00317595</dc:creator>
  <cp:lastModifiedBy>施洋</cp:lastModifiedBy>
  <cp:revision>65</cp:revision>
  <dcterms:created xsi:type="dcterms:W3CDTF">2021-08-23T10:13:33Z</dcterms:created>
  <dcterms:modified xsi:type="dcterms:W3CDTF">2026-09-01T07:36:40Z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2052-3.6.0.5672</vt:lpwstr>
  </property>
</Properties>
</file>